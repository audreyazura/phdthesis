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C3CA-4829-4764-92D1-E669F4AAEF22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E0713-EB7D-4347-A85F-E612B31A9C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62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3F2C792-A2F6-4858-B127-07F92E1A25D6}" type="slidenum">
              <a:rPr lang="en-GB"/>
              <a:pPr/>
              <a:t>2</a:t>
            </a:fld>
            <a:endParaRPr lang="en-GB"/>
          </a:p>
        </p:txBody>
      </p:sp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1413" y="695325"/>
            <a:ext cx="4573587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3" y="4343231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CDBA6-2B3F-43D6-95F5-A04422DDD1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4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53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42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86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2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20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71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36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52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98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35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1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41E18-922A-4229-90A8-05C5F1A6CE4D}" type="datetimeFigureOut">
              <a:rPr lang="fr-FR" smtClean="0"/>
              <a:t>12/01/2018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43496-8EBD-4D4B-B4DC-3CFEF86BE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59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pn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2.wmf"/><Relationship Id="rId1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3.wmf"/><Relationship Id="rId10" Type="http://schemas.openxmlformats.org/officeDocument/2006/relationships/image" Target="../media/image11.w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1"/>
          <p:cNvSpPr>
            <a:spLocks noChangeShapeType="1"/>
          </p:cNvSpPr>
          <p:nvPr/>
        </p:nvSpPr>
        <p:spPr bwMode="auto">
          <a:xfrm>
            <a:off x="1008521" y="567283"/>
            <a:ext cx="6477000" cy="0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10010" y="54410"/>
            <a:ext cx="77239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Spin dynamic under resonant excitation</a:t>
            </a:r>
            <a:endParaRPr lang="en-US" sz="2000" i="1" dirty="0">
              <a:latin typeface="Times New Roman" pitchFamily="18" charset="0"/>
            </a:endParaRPr>
          </a:p>
        </p:txBody>
      </p:sp>
      <p:grpSp>
        <p:nvGrpSpPr>
          <p:cNvPr id="4" name="Groupe 3"/>
          <p:cNvGrpSpPr>
            <a:grpSpLocks noChangeAspect="1"/>
          </p:cNvGrpSpPr>
          <p:nvPr/>
        </p:nvGrpSpPr>
        <p:grpSpPr>
          <a:xfrm>
            <a:off x="1" y="790297"/>
            <a:ext cx="4634301" cy="5914999"/>
            <a:chOff x="-7988497" y="-2166735"/>
            <a:chExt cx="7382402" cy="9422542"/>
          </a:xfrm>
        </p:grpSpPr>
        <p:pic>
          <p:nvPicPr>
            <p:cNvPr id="21" name="Picture 892"/>
            <p:cNvPicPr preferRelativeResize="0"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21"/>
            <a:stretch/>
          </p:blipFill>
          <p:spPr bwMode="auto">
            <a:xfrm>
              <a:off x="-7988497" y="-2166735"/>
              <a:ext cx="3532703" cy="466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21"/>
            <p:cNvSpPr/>
            <p:nvPr/>
          </p:nvSpPr>
          <p:spPr>
            <a:xfrm>
              <a:off x="-5936408" y="-1929279"/>
              <a:ext cx="924904" cy="4412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3,+2&gt;</a:t>
              </a:r>
              <a:endParaRPr lang="en-US" sz="1200" dirty="0"/>
            </a:p>
          </p:txBody>
        </p:sp>
        <p:grpSp>
          <p:nvGrpSpPr>
            <p:cNvPr id="23" name="Groupe 22"/>
            <p:cNvGrpSpPr/>
            <p:nvPr/>
          </p:nvGrpSpPr>
          <p:grpSpPr>
            <a:xfrm>
              <a:off x="-7696951" y="2764823"/>
              <a:ext cx="7090856" cy="4490984"/>
              <a:chOff x="5591722" y="36972774"/>
              <a:chExt cx="9588205" cy="5950348"/>
            </a:xfrm>
          </p:grpSpPr>
          <p:pic>
            <p:nvPicPr>
              <p:cNvPr id="24" name="Picture 22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91722" y="36972774"/>
                <a:ext cx="9588205" cy="59503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Connecteur droit 24"/>
              <p:cNvCxnSpPr/>
              <p:nvPr/>
            </p:nvCxnSpPr>
            <p:spPr>
              <a:xfrm>
                <a:off x="5612569" y="42923122"/>
                <a:ext cx="941220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/>
              <p:cNvSpPr/>
              <p:nvPr/>
            </p:nvSpPr>
            <p:spPr>
              <a:xfrm>
                <a:off x="5713794" y="37404822"/>
                <a:ext cx="509708" cy="4434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9" name="Connecteur droit avec flèche 28"/>
            <p:cNvCxnSpPr/>
            <p:nvPr/>
          </p:nvCxnSpPr>
          <p:spPr>
            <a:xfrm flipH="1">
              <a:off x="-7080698" y="1135127"/>
              <a:ext cx="469119" cy="172819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e 29"/>
          <p:cNvGrpSpPr>
            <a:grpSpLocks noChangeAspect="1"/>
          </p:cNvGrpSpPr>
          <p:nvPr/>
        </p:nvGrpSpPr>
        <p:grpSpPr>
          <a:xfrm>
            <a:off x="5024046" y="4005064"/>
            <a:ext cx="3148354" cy="2844000"/>
            <a:chOff x="9048106" y="36180686"/>
            <a:chExt cx="2602076" cy="2725599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10646379" y="36619923"/>
              <a:ext cx="1936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349637" y="36180686"/>
              <a:ext cx="267405" cy="2779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/>
            </a:p>
          </p:txBody>
        </p:sp>
        <p:cxnSp>
          <p:nvCxnSpPr>
            <p:cNvPr id="33" name="Connecteur droit avec flèche 32"/>
            <p:cNvCxnSpPr>
              <a:stCxn id="38" idx="0"/>
            </p:cNvCxnSpPr>
            <p:nvPr/>
          </p:nvCxnSpPr>
          <p:spPr>
            <a:xfrm flipV="1">
              <a:off x="10284786" y="36324702"/>
              <a:ext cx="32496" cy="23045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/>
            <p:nvPr/>
          </p:nvCxnSpPr>
          <p:spPr>
            <a:xfrm>
              <a:off x="10239947" y="38575989"/>
              <a:ext cx="11900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 flipH="1">
              <a:off x="10563572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 flipH="1">
              <a:off x="10808938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 flipH="1">
              <a:off x="11038590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10153981" y="38629286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397275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617403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862770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280354" y="38567983"/>
              <a:ext cx="369828" cy="2779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baseline="-25000" dirty="0"/>
            </a:p>
          </p:txBody>
        </p:sp>
        <p:sp>
          <p:nvSpPr>
            <p:cNvPr id="43" name="Line 17"/>
            <p:cNvSpPr>
              <a:spLocks noChangeShapeType="1"/>
            </p:cNvSpPr>
            <p:nvPr/>
          </p:nvSpPr>
          <p:spPr bwMode="auto">
            <a:xfrm>
              <a:off x="10462181" y="38436743"/>
              <a:ext cx="19365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>
              <a:off x="10935572" y="37694101"/>
              <a:ext cx="193658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5" name="ZoneTexte 44"/>
            <p:cNvSpPr txBox="1"/>
            <p:nvPr/>
          </p:nvSpPr>
          <p:spPr>
            <a:xfrm>
              <a:off x="10924946" y="36965034"/>
              <a:ext cx="346299" cy="303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en-US" sz="1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10355875" y="36965034"/>
              <a:ext cx="668544" cy="303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en-US" sz="18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Connecteur droit avec flèche 46"/>
            <p:cNvCxnSpPr/>
            <p:nvPr/>
          </p:nvCxnSpPr>
          <p:spPr>
            <a:xfrm flipV="1">
              <a:off x="10580287" y="36611392"/>
              <a:ext cx="168481" cy="1820976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/>
            <p:cNvCxnSpPr/>
            <p:nvPr/>
          </p:nvCxnSpPr>
          <p:spPr>
            <a:xfrm>
              <a:off x="10766290" y="36612734"/>
              <a:ext cx="272301" cy="1083735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Arc 48"/>
            <p:cNvSpPr/>
            <p:nvPr/>
          </p:nvSpPr>
          <p:spPr>
            <a:xfrm>
              <a:off x="10200234" y="37032695"/>
              <a:ext cx="830268" cy="1404049"/>
            </a:xfrm>
            <a:prstGeom prst="arc">
              <a:avLst>
                <a:gd name="adj1" fmla="val 21387081"/>
                <a:gd name="adj2" fmla="val 5091517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Arc 49"/>
            <p:cNvSpPr/>
            <p:nvPr/>
          </p:nvSpPr>
          <p:spPr>
            <a:xfrm>
              <a:off x="9281259" y="37340472"/>
              <a:ext cx="1654313" cy="394247"/>
            </a:xfrm>
            <a:prstGeom prst="arc">
              <a:avLst>
                <a:gd name="adj1" fmla="val 11436052"/>
                <a:gd name="adj2" fmla="val 20385928"/>
              </a:avLst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Arc 50"/>
            <p:cNvSpPr/>
            <p:nvPr/>
          </p:nvSpPr>
          <p:spPr>
            <a:xfrm rot="10800000">
              <a:off x="9048106" y="37332814"/>
              <a:ext cx="1654313" cy="394247"/>
            </a:xfrm>
            <a:prstGeom prst="arc">
              <a:avLst>
                <a:gd name="adj1" fmla="val 11436052"/>
                <a:gd name="adj2" fmla="val 20385928"/>
              </a:avLst>
            </a:prstGeom>
            <a:ln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ZoneTexte 51"/>
            <p:cNvSpPr txBox="1"/>
            <p:nvPr/>
          </p:nvSpPr>
          <p:spPr>
            <a:xfrm>
              <a:off x="10988694" y="37961141"/>
              <a:ext cx="318603" cy="353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 err="1" smtClean="0">
                  <a:latin typeface="Symbol" panose="05050102010706020507" pitchFamily="18" charset="2"/>
                </a:rPr>
                <a:t>t</a:t>
              </a:r>
              <a:r>
                <a:rPr lang="fr-FR" baseline="-25000" dirty="0" err="1" smtClean="0">
                  <a:latin typeface="Times New Roman" pitchFamily="18" charset="0"/>
                  <a:cs typeface="Times New Roman" pitchFamily="18" charset="0"/>
                </a:rPr>
                <a:t>ff</a:t>
              </a:r>
              <a:endParaRPr lang="fr-FR" sz="1800" dirty="0">
                <a:latin typeface="Symbol" panose="05050102010706020507" pitchFamily="18" charset="2"/>
              </a:endParaRPr>
            </a:p>
          </p:txBody>
        </p:sp>
        <p:sp>
          <p:nvSpPr>
            <p:cNvPr id="53" name="ZoneTexte 52"/>
            <p:cNvSpPr txBox="1"/>
            <p:nvPr/>
          </p:nvSpPr>
          <p:spPr>
            <a:xfrm>
              <a:off x="9408146" y="36965034"/>
              <a:ext cx="364685" cy="3368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800" dirty="0" smtClean="0">
                  <a:solidFill>
                    <a:srgbClr val="FFC000"/>
                  </a:solidFill>
                  <a:latin typeface="Symbol" panose="05050102010706020507" pitchFamily="18" charset="2"/>
                </a:rPr>
                <a:t>G</a:t>
              </a:r>
              <a:r>
                <a:rPr lang="fr-FR" sz="1800" baseline="-25000" dirty="0" smtClean="0">
                  <a:solidFill>
                    <a:srgbClr val="FFC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</a:t>
              </a:r>
              <a:endParaRPr lang="fr-FR" sz="1800" baseline="-25000" dirty="0">
                <a:solidFill>
                  <a:srgbClr val="FFC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9408146" y="37745117"/>
              <a:ext cx="497164" cy="303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 smtClean="0">
                  <a:solidFill>
                    <a:srgbClr val="7030A0"/>
                  </a:solidFill>
                  <a:latin typeface="Symbol" panose="05050102010706020507" pitchFamily="18" charset="2"/>
                </a:rPr>
                <a:t>G</a:t>
              </a:r>
              <a:r>
                <a:rPr lang="fr-FR" sz="1800" baseline="-25000" dirty="0" smtClean="0">
                  <a:solidFill>
                    <a:srgbClr val="7030A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out</a:t>
              </a:r>
              <a:endParaRPr lang="fr-FR" sz="1800" baseline="-25000" dirty="0">
                <a:solidFill>
                  <a:srgbClr val="7030A0"/>
                </a:solidFill>
                <a:latin typeface="Symbol" panose="05050102010706020507" pitchFamily="18" charset="2"/>
              </a:endParaRPr>
            </a:p>
          </p:txBody>
        </p:sp>
      </p:grpSp>
      <p:sp>
        <p:nvSpPr>
          <p:cNvPr id="55" name="Rectangle 54"/>
          <p:cNvSpPr/>
          <p:nvPr/>
        </p:nvSpPr>
        <p:spPr>
          <a:xfrm>
            <a:off x="2217654" y="1628800"/>
            <a:ext cx="6746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6666FF"/>
              </a:buClr>
            </a:pPr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  <a:sym typeface="Symbol" pitchFamily="18" charset="2"/>
              </a:rPr>
              <a:t>Dark time dependence</a:t>
            </a:r>
            <a:r>
              <a:rPr lang="en-US" sz="1600" dirty="0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</a:rPr>
              <a:t> of the amplitude of the pumping transient (ΔI/I, inset) gives </a:t>
            </a:r>
            <a:r>
              <a:rPr lang="en-US" sz="1600" b="1" dirty="0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</a:rPr>
              <a:t>an estimation of 75 ns for the h-</a:t>
            </a:r>
            <a:r>
              <a:rPr lang="en-US" sz="1600" b="1" dirty="0" err="1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</a:rPr>
              <a:t>Mn</a:t>
            </a:r>
            <a:r>
              <a:rPr lang="en-US" sz="1600" b="1" dirty="0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</a:rPr>
              <a:t> relaxation time</a:t>
            </a:r>
            <a:r>
              <a:rPr lang="en-US" sz="1600" b="1" dirty="0" smtClean="0">
                <a:latin typeface="Times New Roman" pitchFamily="18" charset="0"/>
                <a:ea typeface="Verdana" panose="020B0604030504040204" pitchFamily="34" charset="0"/>
                <a:cs typeface="Times New Roman" pitchFamily="18" charset="0"/>
              </a:rPr>
              <a:t>.</a:t>
            </a:r>
            <a:endParaRPr lang="en-US" sz="1600" b="1" dirty="0">
              <a:latin typeface="Times New Roman" pitchFamily="18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1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385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1333440" y="567420"/>
            <a:ext cx="6477120" cy="1441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710640" y="54726"/>
            <a:ext cx="7722720" cy="4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>
              <a:lnSpc>
                <a:spcPct val="100000"/>
              </a:lnSpc>
              <a:tabLst>
                <a:tab pos="426935" algn="l"/>
                <a:tab pos="853868" algn="l"/>
                <a:tab pos="1280803" algn="l"/>
                <a:tab pos="1707737" algn="l"/>
                <a:tab pos="2134671" algn="l"/>
                <a:tab pos="2561605" algn="l"/>
                <a:tab pos="2988540" algn="l"/>
                <a:tab pos="3415473" algn="l"/>
                <a:tab pos="3842408" algn="l"/>
                <a:tab pos="4269342" algn="l"/>
                <a:tab pos="4696276" algn="l"/>
                <a:tab pos="5123210" algn="l"/>
                <a:tab pos="5550144" algn="l"/>
                <a:tab pos="5977078" algn="l"/>
                <a:tab pos="6404013" algn="l"/>
                <a:tab pos="6830946" algn="l"/>
                <a:tab pos="7257881" algn="l"/>
                <a:tab pos="7684815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6" charset="0"/>
              </a:rPr>
              <a:t>Coherent dynamics under </a:t>
            </a:r>
            <a:r>
              <a:rPr lang="en-GB" sz="2400" i="1" dirty="0" smtClean="0">
                <a:solidFill>
                  <a:srgbClr val="000000"/>
                </a:solidFill>
                <a:latin typeface="Times New Roman" pitchFamily="16" charset="0"/>
              </a:rPr>
              <a:t>magnetic field</a:t>
            </a:r>
            <a:endParaRPr lang="en-GB" sz="2400" i="1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698" y="1232769"/>
            <a:ext cx="9133080" cy="4611364"/>
            <a:chOff x="27890" y="1237091"/>
            <a:chExt cx="9133080" cy="4611364"/>
          </a:xfrm>
        </p:grpSpPr>
        <p:pic>
          <p:nvPicPr>
            <p:cNvPr id="22529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9968" y="1455994"/>
              <a:ext cx="2232000" cy="4392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53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968" y="1455994"/>
              <a:ext cx="2208960" cy="4392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531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5167" y="1455993"/>
              <a:ext cx="2187360" cy="43881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8551967" y="4439987"/>
              <a:ext cx="576000" cy="378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0"/>
                </a:spcBef>
                <a:tabLst>
                  <a:tab pos="426935" algn="l"/>
                  <a:tab pos="853868" algn="l"/>
                  <a:tab pos="1280803" algn="l"/>
                  <a:tab pos="1707737" algn="l"/>
                  <a:tab pos="2134671" algn="l"/>
                </a:tabLst>
              </a:pPr>
              <a:r>
                <a:rPr lang="en-GB" sz="1900" b="1" dirty="0">
                  <a:solidFill>
                    <a:srgbClr val="0033CC"/>
                  </a:solidFill>
                  <a:latin typeface="Times New Roman" pitchFamily="16" charset="0"/>
                </a:rPr>
                <a:t>B</a:t>
              </a:r>
              <a:r>
                <a:rPr lang="en-GB" sz="1900" b="1" baseline="-25000" dirty="0">
                  <a:solidFill>
                    <a:srgbClr val="0033CC"/>
                  </a:solidFill>
                  <a:latin typeface="Times New Roman" pitchFamily="16" charset="0"/>
                </a:rPr>
                <a:t>┴</a:t>
              </a:r>
            </a:p>
          </p:txBody>
        </p:sp>
        <p:sp>
          <p:nvSpPr>
            <p:cNvPr id="22537" name="Rectangle 9"/>
            <p:cNvSpPr>
              <a:spLocks noChangeArrowheads="1"/>
            </p:cNvSpPr>
            <p:nvPr/>
          </p:nvSpPr>
          <p:spPr bwMode="auto">
            <a:xfrm>
              <a:off x="8551967" y="1960047"/>
              <a:ext cx="576000" cy="378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0"/>
                </a:spcBef>
                <a:tabLst>
                  <a:tab pos="426935" algn="l"/>
                </a:tabLst>
              </a:pPr>
              <a:r>
                <a:rPr lang="en-GB" sz="1900" b="1" dirty="0">
                  <a:solidFill>
                    <a:srgbClr val="FF0000"/>
                  </a:solidFill>
                  <a:latin typeface="Times New Roman" pitchFamily="16" charset="0"/>
                </a:rPr>
                <a:t>B</a:t>
              </a:r>
              <a:r>
                <a:rPr lang="en-GB" sz="1900" b="1" baseline="-25000" dirty="0">
                  <a:solidFill>
                    <a:srgbClr val="FF0000"/>
                  </a:solidFill>
                  <a:latin typeface="Times New Roman" pitchFamily="16" charset="0"/>
                </a:rPr>
                <a:t>//</a:t>
              </a:r>
            </a:p>
          </p:txBody>
        </p:sp>
        <p:sp>
          <p:nvSpPr>
            <p:cNvPr id="22538" name="Rectangle 10"/>
            <p:cNvSpPr>
              <a:spLocks noChangeArrowheads="1"/>
            </p:cNvSpPr>
            <p:nvPr/>
          </p:nvSpPr>
          <p:spPr bwMode="auto">
            <a:xfrm>
              <a:off x="8551967" y="3112168"/>
              <a:ext cx="609003" cy="378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0"/>
                </a:spcBef>
                <a:tabLst>
                  <a:tab pos="426935" algn="l"/>
                </a:tabLst>
              </a:pPr>
              <a:r>
                <a:rPr lang="en-GB" sz="1900" b="1" dirty="0">
                  <a:solidFill>
                    <a:srgbClr val="000000"/>
                  </a:solidFill>
                  <a:latin typeface="Times New Roman" pitchFamily="16" charset="0"/>
                </a:rPr>
                <a:t>B=0</a:t>
              </a:r>
            </a:p>
          </p:txBody>
        </p:sp>
        <p:pic>
          <p:nvPicPr>
            <p:cNvPr id="22546" name="Picture 1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7727" y="1237091"/>
              <a:ext cx="432000" cy="279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547" name="Picture 1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4688" y="1237091"/>
              <a:ext cx="444960" cy="279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548" name="Picture 20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288" y="1237091"/>
              <a:ext cx="444960" cy="279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27890" y="1838108"/>
              <a:ext cx="2447277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rgbClr val="6666FF"/>
                </a:buClr>
              </a:pPr>
              <a:r>
                <a:rPr lang="en-US" sz="1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Magnetic field parallel to growth axis (B</a:t>
              </a:r>
              <a:r>
                <a:rPr lang="en-US" sz="1600" b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// </a:t>
              </a:r>
              <a:r>
                <a:rPr lang="en-US" sz="1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):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tune splitting of levels and block the strain induced dynamics</a:t>
              </a:r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dirty="0" smtClean="0"/>
            </a:p>
            <a:p>
              <a:pPr algn="ctr"/>
              <a:endParaRPr lang="en-US" sz="1200" dirty="0" smtClean="0"/>
            </a:p>
            <a:p>
              <a:pPr algn="ctr"/>
              <a:endParaRPr lang="en-US" sz="1200" dirty="0" smtClean="0"/>
            </a:p>
            <a:p>
              <a:pPr algn="ctr"/>
              <a:endParaRPr lang="en-US" sz="1200" dirty="0" smtClean="0"/>
            </a:p>
            <a:p>
              <a:pPr algn="ctr"/>
              <a:r>
                <a:rPr lang="en-US" sz="1600" b="1" dirty="0" smtClean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plane magnetic field (B</a:t>
              </a:r>
              <a:r>
                <a:rPr lang="en-US" sz="1600" b="1" baseline="-25000" dirty="0" smtClean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┴ </a:t>
              </a:r>
              <a:r>
                <a:rPr lang="en-US" sz="1600" b="1" dirty="0" smtClean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):</a:t>
              </a:r>
              <a:r>
                <a:rPr lang="en-US" sz="1600" dirty="0" smtClean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induces a coherent precession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 rot="10800000">
            <a:off x="2415384" y="3297222"/>
            <a:ext cx="356380" cy="718658"/>
          </a:xfrm>
          <a:prstGeom prst="rect">
            <a:avLst/>
          </a:prstGeom>
          <a:solidFill>
            <a:schemeClr val="bg1"/>
          </a:solidFill>
        </p:spPr>
        <p:txBody>
          <a:bodyPr vert="eaVert" wrap="none" rtlCol="0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Polar. 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3252788" y="1731072"/>
            <a:ext cx="379807" cy="11375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1" name="Rounded Rectangle 20"/>
          <p:cNvSpPr/>
          <p:nvPr/>
        </p:nvSpPr>
        <p:spPr bwMode="auto">
          <a:xfrm>
            <a:off x="3282503" y="2248971"/>
            <a:ext cx="379807" cy="99909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3282503" y="2906663"/>
            <a:ext cx="349695" cy="99909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3" name="Rounded Rectangle 22"/>
          <p:cNvSpPr/>
          <p:nvPr/>
        </p:nvSpPr>
        <p:spPr bwMode="auto">
          <a:xfrm>
            <a:off x="3297558" y="3645741"/>
            <a:ext cx="349695" cy="99909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3325816" y="4365103"/>
            <a:ext cx="349695" cy="99909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3328423" y="4968577"/>
            <a:ext cx="364527" cy="14401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79100" y="1719631"/>
            <a:ext cx="643125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59063" y="2492622"/>
            <a:ext cx="683200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=0.09T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69086" y="3179497"/>
            <a:ext cx="683200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=0.05T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30192" y="4134945"/>
            <a:ext cx="484428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B=0T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13344" y="4653136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=0.13T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28008" y="5229200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=0.23T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186070" y="2348880"/>
            <a:ext cx="294030" cy="10387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5162481" y="2728071"/>
            <a:ext cx="294030" cy="10387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Rounded Rectangle 33"/>
          <p:cNvSpPr/>
          <p:nvPr/>
        </p:nvSpPr>
        <p:spPr bwMode="auto">
          <a:xfrm>
            <a:off x="5148064" y="3814522"/>
            <a:ext cx="432048" cy="91440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5162481" y="4862840"/>
            <a:ext cx="417631" cy="91440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2173" y="2217302"/>
            <a:ext cx="643125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67282" y="2728071"/>
            <a:ext cx="484428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B=0T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7290" y="3768469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=0.23T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88840" y="4836555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=0.42T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7164288" y="2462554"/>
            <a:ext cx="347472" cy="112153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7164288" y="3078518"/>
            <a:ext cx="274320" cy="112153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7210800" y="3509551"/>
            <a:ext cx="385536" cy="112153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7178163" y="4556660"/>
            <a:ext cx="411480" cy="9647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46518" y="2348880"/>
            <a:ext cx="643125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25866" y="3006572"/>
            <a:ext cx="484428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B=0T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24075" y="3905962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=0.23T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94018" y="4527691"/>
            <a:ext cx="688009" cy="23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=0.42T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2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5336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498" name="Picture 6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987" y="1412778"/>
            <a:ext cx="2191445" cy="4417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497" name="Picture 6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771" y="1412777"/>
            <a:ext cx="2191445" cy="4417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089149"/>
              </p:ext>
            </p:extLst>
          </p:nvPr>
        </p:nvGraphicFramePr>
        <p:xfrm>
          <a:off x="3269754" y="1202212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5" imgW="393480" imgH="253800" progId="Equation.3">
                  <p:embed/>
                </p:oleObj>
              </mc:Choice>
              <mc:Fallback>
                <p:oleObj name="Équation" r:id="rId5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754" y="1202212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809347"/>
              </p:ext>
            </p:extLst>
          </p:nvPr>
        </p:nvGraphicFramePr>
        <p:xfrm>
          <a:off x="5271691" y="1197201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Équation" r:id="rId7" imgW="406080" imgH="253800" progId="Equation.3">
                  <p:embed/>
                </p:oleObj>
              </mc:Choice>
              <mc:Fallback>
                <p:oleObj name="Équation" r:id="rId7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1691" y="1197201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405614"/>
              </p:ext>
            </p:extLst>
          </p:nvPr>
        </p:nvGraphicFramePr>
        <p:xfrm>
          <a:off x="7215907" y="1196755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Équation" r:id="rId9" imgW="406080" imgH="253800" progId="Equation.3">
                  <p:embed/>
                </p:oleObj>
              </mc:Choice>
              <mc:Fallback>
                <p:oleObj name="Équation" r:id="rId9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907" y="1196755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41"/>
          <p:cNvSpPr>
            <a:spLocks noChangeShapeType="1"/>
          </p:cNvSpPr>
          <p:nvPr/>
        </p:nvSpPr>
        <p:spPr bwMode="auto">
          <a:xfrm>
            <a:off x="1333500" y="567283"/>
            <a:ext cx="6477000" cy="0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5785" tIns="47892" rIns="95785" bIns="47892" anchor="ctr"/>
          <a:lstStyle/>
          <a:p>
            <a:endParaRPr 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8388424" y="4397044"/>
            <a:ext cx="2304256" cy="39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2100" b="1" dirty="0">
                <a:solidFill>
                  <a:srgbClr val="0033CC"/>
                </a:solidFill>
                <a:latin typeface="Times New Roman" pitchFamily="18" charset="0"/>
              </a:rPr>
              <a:t>B</a:t>
            </a:r>
            <a:r>
              <a:rPr lang="en-US" sz="2100" b="1" baseline="-25000" dirty="0">
                <a:solidFill>
                  <a:srgbClr val="0033CC"/>
                </a:solidFill>
                <a:latin typeface="Times New Roman" pitchFamily="18" charset="0"/>
              </a:rPr>
              <a:t>┴</a:t>
            </a:r>
            <a:endParaRPr lang="en-US" sz="2100" b="1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8388425" y="1916833"/>
            <a:ext cx="576065" cy="39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sz="2100" b="1" baseline="-25000" dirty="0">
                <a:solidFill>
                  <a:srgbClr val="FF0000"/>
                </a:solidFill>
                <a:latin typeface="Times New Roman" pitchFamily="18" charset="0"/>
              </a:rPr>
              <a:t>//</a:t>
            </a:r>
            <a:endParaRPr lang="en-US" sz="14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8388425" y="3068961"/>
            <a:ext cx="720079" cy="39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2100" b="1" dirty="0">
                <a:latin typeface="Times New Roman" pitchFamily="18" charset="0"/>
              </a:rPr>
              <a:t>B=0</a:t>
            </a:r>
          </a:p>
        </p:txBody>
      </p:sp>
      <p:pic>
        <p:nvPicPr>
          <p:cNvPr id="16" name="Picture 104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" y="857609"/>
            <a:ext cx="2144001" cy="389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39551" y="4469050"/>
            <a:ext cx="576065" cy="35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b="1" baseline="-25000" dirty="0">
                <a:solidFill>
                  <a:srgbClr val="FF0000"/>
                </a:solidFill>
                <a:latin typeface="Times New Roman" pitchFamily="18" charset="0"/>
              </a:rPr>
              <a:t>//</a:t>
            </a:r>
            <a:endParaRPr lang="en-US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303388" y="4483746"/>
            <a:ext cx="820341" cy="35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b="1" dirty="0">
                <a:solidFill>
                  <a:srgbClr val="0033CC"/>
                </a:solidFill>
                <a:latin typeface="Times New Roman" pitchFamily="18" charset="0"/>
              </a:rPr>
              <a:t>B</a:t>
            </a:r>
            <a:r>
              <a:rPr lang="en-US" b="1" baseline="-25000" dirty="0">
                <a:solidFill>
                  <a:srgbClr val="0033CC"/>
                </a:solidFill>
                <a:latin typeface="Times New Roman" pitchFamily="18" charset="0"/>
              </a:rPr>
              <a:t>┴</a:t>
            </a:r>
            <a:endParaRPr lang="en-US" b="1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168787"/>
              </p:ext>
            </p:extLst>
          </p:nvPr>
        </p:nvGraphicFramePr>
        <p:xfrm>
          <a:off x="1937383" y="2896276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Équation" r:id="rId12" imgW="393480" imgH="253800" progId="Equation.3">
                  <p:embed/>
                </p:oleObj>
              </mc:Choice>
              <mc:Fallback>
                <p:oleObj name="Équation" r:id="rId12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383" y="2896276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04348"/>
              </p:ext>
            </p:extLst>
          </p:nvPr>
        </p:nvGraphicFramePr>
        <p:xfrm>
          <a:off x="1930240" y="3343598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Équation" r:id="rId14" imgW="406080" imgH="253800" progId="Equation.3">
                  <p:embed/>
                </p:oleObj>
              </mc:Choice>
              <mc:Fallback>
                <p:oleObj name="Équation" r:id="rId14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240" y="3343598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716181"/>
              </p:ext>
            </p:extLst>
          </p:nvPr>
        </p:nvGraphicFramePr>
        <p:xfrm>
          <a:off x="1930240" y="2034369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Équation" r:id="rId16" imgW="406080" imgH="253800" progId="Equation.3">
                  <p:embed/>
                </p:oleObj>
              </mc:Choice>
              <mc:Fallback>
                <p:oleObj name="Équation" r:id="rId16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240" y="2034369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710010" y="54408"/>
            <a:ext cx="7723981" cy="466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85" tIns="47892" rIns="95785" bIns="47892">
            <a:spAutoFit/>
          </a:bodyPr>
          <a:lstStyle/>
          <a:p>
            <a:pPr algn="ctr"/>
            <a:r>
              <a:rPr lang="en-US" sz="2400" i="1" dirty="0">
                <a:latin typeface="Times New Roman" pitchFamily="18" charset="0"/>
              </a:rPr>
              <a:t>Coherent dynamics under </a:t>
            </a:r>
            <a:r>
              <a:rPr lang="en-US" sz="2400" i="1" dirty="0" smtClean="0">
                <a:latin typeface="Times New Roman" pitchFamily="18" charset="0"/>
              </a:rPr>
              <a:t>magnetic field</a:t>
            </a:r>
            <a:endParaRPr lang="en-US" sz="2000" i="1" dirty="0">
              <a:latin typeface="Times New Roman" pitchFamily="18" charset="0"/>
            </a:endParaRPr>
          </a:p>
        </p:txBody>
      </p:sp>
      <p:pic>
        <p:nvPicPr>
          <p:cNvPr id="166496" name="Picture 608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537" y="1412777"/>
            <a:ext cx="2200463" cy="4417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35496" y="4838797"/>
            <a:ext cx="2315287" cy="36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>
              <a:lnSpc>
                <a:spcPct val="100000"/>
              </a:lnSpc>
              <a:buClr>
                <a:srgbClr val="6666FF"/>
              </a:buClr>
              <a:buSzPct val="75000"/>
              <a:tabLst>
                <a:tab pos="426935" algn="l"/>
                <a:tab pos="853868" algn="l"/>
                <a:tab pos="1280803" algn="l"/>
                <a:tab pos="1707737" algn="l"/>
                <a:tab pos="2134671" algn="l"/>
              </a:tabLst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GB" dirty="0" smtClean="0">
                <a:solidFill>
                  <a:srgbClr val="000000"/>
                </a:solidFill>
                <a:latin typeface="Times New Roman" pitchFamily="16" charset="0"/>
              </a:rPr>
              <a:t>e-</a:t>
            </a:r>
            <a:r>
              <a:rPr lang="en-GB" dirty="0" err="1" smtClean="0">
                <a:solidFill>
                  <a:srgbClr val="000000"/>
                </a:solidFill>
                <a:latin typeface="Times New Roman" pitchFamily="16" charset="0"/>
              </a:rPr>
              <a:t>Mn</a:t>
            </a:r>
            <a:r>
              <a:rPr lang="en-GB" dirty="0" smtClean="0">
                <a:solidFill>
                  <a:srgbClr val="000000"/>
                </a:solidFill>
                <a:latin typeface="Times New Roman" pitchFamily="16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Times New Roman" pitchFamily="16" charset="0"/>
              </a:rPr>
              <a:t>energy levels</a:t>
            </a: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3069698" y="6074519"/>
            <a:ext cx="5894792" cy="624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>
              <a:lnSpc>
                <a:spcPct val="100000"/>
              </a:lnSpc>
              <a:buClr>
                <a:srgbClr val="6666FF"/>
              </a:buClr>
              <a:buSzPct val="75000"/>
              <a:tabLst>
                <a:tab pos="426935" algn="l"/>
                <a:tab pos="853868" algn="l"/>
                <a:tab pos="1280803" algn="l"/>
                <a:tab pos="1707737" algn="l"/>
                <a:tab pos="2134671" algn="l"/>
              </a:tabLst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Symbol" pitchFamily="18" charset="2"/>
              </a:rPr>
              <a:t>Model</a:t>
            </a:r>
            <a:r>
              <a:rPr lang="en-US" sz="1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Symbol" pitchFamily="18" charset="2"/>
              </a:rPr>
              <a:t>: coherent dynamics controlled by local strain</a:t>
            </a:r>
            <a:endParaRPr lang="en-US" sz="16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205170" indent="-205170">
              <a:lnSpc>
                <a:spcPct val="100000"/>
              </a:lnSpc>
              <a:buClr>
                <a:srgbClr val="6666FF"/>
              </a:buClr>
              <a:buSzPct val="75000"/>
              <a:buFont typeface="Wingdings" charset="2"/>
              <a:buChar char=""/>
              <a:tabLst>
                <a:tab pos="426935" algn="l"/>
                <a:tab pos="853868" algn="l"/>
                <a:tab pos="1280803" algn="l"/>
                <a:tab pos="1707737" algn="l"/>
                <a:tab pos="2134671" algn="l"/>
              </a:tabLst>
            </a:pPr>
            <a:endParaRPr lang="en-GB" sz="19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252574"/>
            <a:ext cx="2843808" cy="493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400" i="1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Lafuente-Sampietro</a:t>
            </a:r>
            <a:r>
              <a:rPr lang="en-US" sz="14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et al., </a:t>
            </a:r>
            <a:r>
              <a:rPr lang="pt-BR" sz="14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Phys. Rev. B 92, </a:t>
            </a:r>
            <a:r>
              <a:rPr lang="pt-BR" sz="1400" i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081305(R) (2015)</a:t>
            </a:r>
            <a:endParaRPr lang="en-US" sz="1400" i="1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3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238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7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62" y="1406485"/>
            <a:ext cx="3269045" cy="545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Text Box 5"/>
          <p:cNvSpPr txBox="1">
            <a:spLocks noChangeArrowheads="1"/>
          </p:cNvSpPr>
          <p:nvPr/>
        </p:nvSpPr>
        <p:spPr bwMode="auto">
          <a:xfrm>
            <a:off x="592381" y="12233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Magneto-optical properties: model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2711" y="6287791"/>
            <a:ext cx="26901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400" i="1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Lafuente-Sampietro</a:t>
            </a:r>
            <a:r>
              <a:rPr lang="en-US" sz="14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et al., </a:t>
            </a:r>
            <a:r>
              <a:rPr lang="en-US" sz="1400" i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Phys. Rev. B 93, 161301 (R)  </a:t>
            </a:r>
            <a:r>
              <a:rPr lang="en-US" sz="14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i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2016)</a:t>
            </a:r>
            <a:endParaRPr lang="en-US" sz="1400" i="1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" name="ZoneTexte 35"/>
          <p:cNvSpPr txBox="1">
            <a:spLocks noChangeArrowheads="1"/>
          </p:cNvSpPr>
          <p:nvPr/>
        </p:nvSpPr>
        <p:spPr bwMode="auto">
          <a:xfrm>
            <a:off x="-21678" y="2152015"/>
            <a:ext cx="2937494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Modeling with a spin effective Hamiltonian including:</a:t>
            </a:r>
          </a:p>
          <a:p>
            <a:pPr eaLnBrk="1" hangingPunct="1"/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285750" indent="-285750" eaLnBrk="1" hangingPunct="1">
              <a:buFontTx/>
              <a:buChar char="-"/>
            </a:pPr>
            <a:r>
              <a:rPr lang="fr-FR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Zeeman </a:t>
            </a:r>
            <a:r>
              <a:rPr lang="fr-FR" alt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energy</a:t>
            </a:r>
            <a:r>
              <a:rPr lang="fr-FR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(e, h, Cr)</a:t>
            </a:r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285750" indent="-285750" eaLnBrk="1" hangingPunct="1">
              <a:buFontTx/>
              <a:buChar char="-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Carrier-Cr exchange</a:t>
            </a:r>
          </a:p>
          <a:p>
            <a:pPr marL="285750" indent="-285750" eaLnBrk="1" hangingPunct="1">
              <a:buFontTx/>
              <a:buChar char="-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e-h exchange interaction and </a:t>
            </a:r>
            <a:r>
              <a:rPr lang="en-US" alt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hh-lh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mixing in a low symmetry QD.</a:t>
            </a:r>
          </a:p>
          <a:p>
            <a:pPr marL="285750" indent="-285750" eaLnBrk="1" hangingPunct="1">
              <a:buFontTx/>
              <a:buChar char="-"/>
            </a:pP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Effective spin temperature</a:t>
            </a:r>
          </a:p>
          <a:p>
            <a:pPr marL="285750" indent="-285750" eaLnBrk="1" hangingPunct="1"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Magnetic anisotropy D</a:t>
            </a:r>
            <a:r>
              <a:rPr lang="en-US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0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/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pic>
        <p:nvPicPr>
          <p:cNvPr id="19353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83"/>
          <a:stretch/>
        </p:blipFill>
        <p:spPr bwMode="auto">
          <a:xfrm>
            <a:off x="2392100" y="476672"/>
            <a:ext cx="3260020" cy="108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8" name="Ellipse 227"/>
          <p:cNvSpPr/>
          <p:nvPr/>
        </p:nvSpPr>
        <p:spPr>
          <a:xfrm>
            <a:off x="4001223" y="3825378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9" name="Ellipse 228"/>
          <p:cNvSpPr/>
          <p:nvPr/>
        </p:nvSpPr>
        <p:spPr>
          <a:xfrm>
            <a:off x="4022110" y="2472088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0" name="Ellipse 229"/>
          <p:cNvSpPr/>
          <p:nvPr/>
        </p:nvSpPr>
        <p:spPr>
          <a:xfrm>
            <a:off x="4001223" y="5227066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4964512" y="1628800"/>
            <a:ext cx="42511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000" b="1" dirty="0" smtClean="0">
                <a:solidFill>
                  <a:srgbClr val="FF0000"/>
                </a:solidFill>
              </a:rPr>
              <a:t>-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2" name="ZoneTexte 231"/>
          <p:cNvSpPr txBox="1"/>
          <p:nvPr/>
        </p:nvSpPr>
        <p:spPr>
          <a:xfrm>
            <a:off x="4366205" y="3680657"/>
            <a:ext cx="347512" cy="234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ZoneTexte 232"/>
          <p:cNvSpPr txBox="1"/>
          <p:nvPr/>
        </p:nvSpPr>
        <p:spPr>
          <a:xfrm>
            <a:off x="4296832" y="2428018"/>
            <a:ext cx="347512" cy="234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ZoneTexte 233"/>
          <p:cNvSpPr txBox="1"/>
          <p:nvPr/>
        </p:nvSpPr>
        <p:spPr>
          <a:xfrm>
            <a:off x="3708201" y="5241950"/>
            <a:ext cx="347512" cy="234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ZoneTexte 234"/>
          <p:cNvSpPr txBox="1"/>
          <p:nvPr/>
        </p:nvSpPr>
        <p:spPr>
          <a:xfrm>
            <a:off x="3276081" y="3404608"/>
            <a:ext cx="347512" cy="234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3131840" y="5909210"/>
            <a:ext cx="489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000" b="1" dirty="0" smtClean="0">
                <a:solidFill>
                  <a:srgbClr val="FF0000"/>
                </a:solidFill>
              </a:rPr>
              <a:t>+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7" name="Ellipse 236"/>
          <p:cNvSpPr/>
          <p:nvPr/>
        </p:nvSpPr>
        <p:spPr>
          <a:xfrm>
            <a:off x="3626869" y="3284984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3" name="Line 78"/>
          <p:cNvSpPr>
            <a:spLocks noChangeShapeType="1"/>
          </p:cNvSpPr>
          <p:nvPr/>
        </p:nvSpPr>
        <p:spPr bwMode="auto">
          <a:xfrm>
            <a:off x="1332001" y="548698"/>
            <a:ext cx="6477120" cy="1440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8" name="Ellipse 87"/>
          <p:cNvSpPr/>
          <p:nvPr/>
        </p:nvSpPr>
        <p:spPr>
          <a:xfrm>
            <a:off x="4221234" y="4913510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4493372" y="4851066"/>
            <a:ext cx="301943" cy="2350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3489327" y="1685951"/>
            <a:ext cx="289942" cy="23924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3131840" y="1797230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5482788" y="569061"/>
            <a:ext cx="3553708" cy="6165223"/>
            <a:chOff x="5482788" y="569061"/>
            <a:chExt cx="3553708" cy="6165223"/>
          </a:xfrm>
        </p:grpSpPr>
        <p:sp>
          <p:nvSpPr>
            <p:cNvPr id="133" name="Rectangle 132"/>
            <p:cNvSpPr/>
            <p:nvPr/>
          </p:nvSpPr>
          <p:spPr>
            <a:xfrm>
              <a:off x="6778932" y="5661248"/>
              <a:ext cx="331545" cy="277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2000" dirty="0" smtClean="0">
                  <a:solidFill>
                    <a:srgbClr val="0070C0"/>
                  </a:solidFill>
                  <a:latin typeface="Symbol" panose="05050102010706020507" pitchFamily="18" charset="2"/>
                </a:rPr>
                <a:t>s</a:t>
              </a:r>
              <a:r>
                <a:rPr lang="fr-FR" sz="2000" dirty="0" smtClean="0">
                  <a:solidFill>
                    <a:srgbClr val="0070C0"/>
                  </a:solidFill>
                </a:rPr>
                <a:t>+</a:t>
              </a:r>
              <a:endParaRPr lang="en-US" sz="2000" dirty="0">
                <a:solidFill>
                  <a:srgbClr val="0070C0"/>
                </a:solidFill>
              </a:endParaRPr>
            </a:p>
          </p:txBody>
        </p:sp>
        <p:sp>
          <p:nvSpPr>
            <p:cNvPr id="134" name="ZoneTexte 133"/>
            <p:cNvSpPr txBox="1"/>
            <p:nvPr/>
          </p:nvSpPr>
          <p:spPr>
            <a:xfrm>
              <a:off x="8259918" y="6491433"/>
              <a:ext cx="271203" cy="235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fr-FR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0" name="Connecteur droit 139"/>
            <p:cNvCxnSpPr/>
            <p:nvPr/>
          </p:nvCxnSpPr>
          <p:spPr>
            <a:xfrm>
              <a:off x="6325681" y="2276872"/>
              <a:ext cx="157384" cy="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Connecteur droit 140"/>
            <p:cNvCxnSpPr/>
            <p:nvPr/>
          </p:nvCxnSpPr>
          <p:spPr>
            <a:xfrm>
              <a:off x="6463804" y="6283467"/>
              <a:ext cx="161858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Rectangle 144"/>
            <p:cNvSpPr/>
            <p:nvPr/>
          </p:nvSpPr>
          <p:spPr>
            <a:xfrm>
              <a:off x="8129083" y="6165304"/>
              <a:ext cx="51328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/>
                <a:t>S</a:t>
              </a:r>
              <a:r>
                <a:rPr lang="fr-FR" sz="1200" baseline="-25000" dirty="0" err="1" smtClean="0"/>
                <a:t>z</a:t>
              </a:r>
              <a:r>
                <a:rPr lang="fr-FR" sz="1200" dirty="0" smtClean="0"/>
                <a:t>=0</a:t>
              </a:r>
              <a:endParaRPr lang="en-US" sz="1200" dirty="0"/>
            </a:p>
          </p:txBody>
        </p:sp>
        <p:cxnSp>
          <p:nvCxnSpPr>
            <p:cNvPr id="146" name="Connecteur droit 145"/>
            <p:cNvCxnSpPr/>
            <p:nvPr/>
          </p:nvCxnSpPr>
          <p:spPr>
            <a:xfrm>
              <a:off x="6339367" y="2717295"/>
              <a:ext cx="157384" cy="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Connecteur droit 150"/>
            <p:cNvCxnSpPr/>
            <p:nvPr/>
          </p:nvCxnSpPr>
          <p:spPr>
            <a:xfrm>
              <a:off x="6328200" y="3284984"/>
              <a:ext cx="14944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Connecteur droit 151"/>
            <p:cNvCxnSpPr/>
            <p:nvPr/>
          </p:nvCxnSpPr>
          <p:spPr>
            <a:xfrm>
              <a:off x="6324609" y="2132856"/>
              <a:ext cx="14944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cteur droit 152"/>
            <p:cNvCxnSpPr/>
            <p:nvPr/>
          </p:nvCxnSpPr>
          <p:spPr>
            <a:xfrm>
              <a:off x="6341451" y="1685951"/>
              <a:ext cx="14944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9" name="Groupe 198"/>
            <p:cNvGrpSpPr/>
            <p:nvPr/>
          </p:nvGrpSpPr>
          <p:grpSpPr>
            <a:xfrm>
              <a:off x="6321742" y="4293096"/>
              <a:ext cx="2382948" cy="1284648"/>
              <a:chOff x="1018466" y="4468501"/>
              <a:chExt cx="2382948" cy="1284648"/>
            </a:xfrm>
          </p:grpSpPr>
          <p:sp>
            <p:nvSpPr>
              <p:cNvPr id="137" name="Rectangle 136"/>
              <p:cNvSpPr/>
              <p:nvPr/>
            </p:nvSpPr>
            <p:spPr>
              <a:xfrm>
                <a:off x="2798364" y="4468501"/>
                <a:ext cx="60305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/>
                  <a:t>S</a:t>
                </a:r>
                <a:r>
                  <a:rPr lang="fr-FR" sz="1200" baseline="-25000" dirty="0" err="1"/>
                  <a:t>z</a:t>
                </a:r>
                <a:r>
                  <a:rPr lang="fr-FR" sz="1200" dirty="0" smtClean="0"/>
                  <a:t>=+1</a:t>
                </a:r>
                <a:endParaRPr lang="en-US" sz="1200" dirty="0"/>
              </a:p>
            </p:txBody>
          </p:sp>
          <p:cxnSp>
            <p:nvCxnSpPr>
              <p:cNvPr id="142" name="Connecteur droit 141"/>
              <p:cNvCxnSpPr/>
              <p:nvPr/>
            </p:nvCxnSpPr>
            <p:spPr>
              <a:xfrm flipV="1">
                <a:off x="1166994" y="4646725"/>
                <a:ext cx="1603133" cy="45635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Connecteur droit 142"/>
              <p:cNvCxnSpPr/>
              <p:nvPr/>
            </p:nvCxnSpPr>
            <p:spPr>
              <a:xfrm>
                <a:off x="1166994" y="5103074"/>
                <a:ext cx="1613507" cy="49368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4" name="Rectangle 143"/>
              <p:cNvSpPr/>
              <p:nvPr/>
            </p:nvSpPr>
            <p:spPr>
              <a:xfrm>
                <a:off x="2798364" y="5476150"/>
                <a:ext cx="56457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/>
                  <a:t>S</a:t>
                </a:r>
                <a:r>
                  <a:rPr lang="fr-FR" sz="1200" baseline="-25000" dirty="0" err="1" smtClean="0"/>
                  <a:t>z</a:t>
                </a:r>
                <a:r>
                  <a:rPr lang="fr-FR" sz="1200" dirty="0" smtClean="0"/>
                  <a:t>=-1</a:t>
                </a:r>
                <a:endParaRPr lang="en-US" sz="1200" dirty="0"/>
              </a:p>
            </p:txBody>
          </p:sp>
          <p:cxnSp>
            <p:nvCxnSpPr>
              <p:cNvPr id="155" name="Connecteur droit 154"/>
              <p:cNvCxnSpPr/>
              <p:nvPr/>
            </p:nvCxnSpPr>
            <p:spPr>
              <a:xfrm>
                <a:off x="1018466" y="5102442"/>
                <a:ext cx="149449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Connecteur droit 155"/>
            <p:cNvCxnSpPr/>
            <p:nvPr/>
          </p:nvCxnSpPr>
          <p:spPr>
            <a:xfrm>
              <a:off x="6318360" y="6283674"/>
              <a:ext cx="14944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1" name="Groupe 190"/>
            <p:cNvGrpSpPr/>
            <p:nvPr/>
          </p:nvGrpSpPr>
          <p:grpSpPr>
            <a:xfrm>
              <a:off x="6474058" y="1585889"/>
              <a:ext cx="2497953" cy="1008111"/>
              <a:chOff x="1095683" y="847634"/>
              <a:chExt cx="2497953" cy="1008111"/>
            </a:xfrm>
          </p:grpSpPr>
          <p:cxnSp>
            <p:nvCxnSpPr>
              <p:cNvPr id="135" name="Connecteur droit 134"/>
              <p:cNvCxnSpPr/>
              <p:nvPr/>
            </p:nvCxnSpPr>
            <p:spPr>
              <a:xfrm flipV="1">
                <a:off x="1095683" y="1020001"/>
                <a:ext cx="1583015" cy="38677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Connecteur droit 147"/>
              <p:cNvCxnSpPr/>
              <p:nvPr/>
            </p:nvCxnSpPr>
            <p:spPr>
              <a:xfrm>
                <a:off x="1111330" y="1406140"/>
                <a:ext cx="1583698" cy="291733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Rectangle 159"/>
              <p:cNvSpPr/>
              <p:nvPr/>
            </p:nvSpPr>
            <p:spPr>
              <a:xfrm>
                <a:off x="2661905" y="1578746"/>
                <a:ext cx="9156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>
                    <a:solidFill>
                      <a:srgbClr val="0070C0"/>
                    </a:solidFill>
                  </a:rPr>
                  <a:t>IS</a:t>
                </a:r>
                <a:r>
                  <a:rPr lang="fr-FR" sz="1200" baseline="-25000" dirty="0" err="1" smtClean="0">
                    <a:solidFill>
                      <a:srgbClr val="0070C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0070C0"/>
                    </a:solidFill>
                  </a:rPr>
                  <a:t>=-1,+1&gt;</a:t>
                </a:r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2678001" y="847634"/>
                <a:ext cx="9156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>
                    <a:solidFill>
                      <a:srgbClr val="FF0000"/>
                    </a:solidFill>
                  </a:rPr>
                  <a:t>IS</a:t>
                </a:r>
                <a:r>
                  <a:rPr lang="fr-FR" sz="1200" baseline="-25000" dirty="0" err="1" smtClean="0">
                    <a:solidFill>
                      <a:srgbClr val="FF000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FF0000"/>
                    </a:solidFill>
                  </a:rPr>
                  <a:t>=+1,-1&gt;</a:t>
                </a:r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38" name="Connecteur droit 137"/>
            <p:cNvCxnSpPr/>
            <p:nvPr/>
          </p:nvCxnSpPr>
          <p:spPr>
            <a:xfrm>
              <a:off x="6485584" y="3861048"/>
              <a:ext cx="1616056" cy="206676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Connecteur droit 138"/>
            <p:cNvCxnSpPr/>
            <p:nvPr/>
          </p:nvCxnSpPr>
          <p:spPr>
            <a:xfrm flipV="1">
              <a:off x="6501843" y="3678832"/>
              <a:ext cx="1580545" cy="182216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Connecteur droit 153"/>
            <p:cNvCxnSpPr/>
            <p:nvPr/>
          </p:nvCxnSpPr>
          <p:spPr>
            <a:xfrm>
              <a:off x="6328200" y="3861048"/>
              <a:ext cx="157384" cy="0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8057073" y="2835311"/>
              <a:ext cx="8643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solidFill>
                    <a:srgbClr val="0070C0"/>
                  </a:solidFill>
                </a:rPr>
                <a:t>IS</a:t>
              </a:r>
              <a:r>
                <a:rPr lang="fr-FR" sz="1200" baseline="-25000" dirty="0" err="1" smtClean="0">
                  <a:solidFill>
                    <a:srgbClr val="0070C0"/>
                  </a:solidFill>
                </a:rPr>
                <a:t>z</a:t>
              </a:r>
              <a:r>
                <a:rPr lang="fr-FR" sz="1200" dirty="0" smtClean="0">
                  <a:solidFill>
                    <a:srgbClr val="0070C0"/>
                  </a:solidFill>
                </a:rPr>
                <a:t>=0,+1&gt;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  <p:grpSp>
          <p:nvGrpSpPr>
            <p:cNvPr id="192" name="Groupe 191"/>
            <p:cNvGrpSpPr/>
            <p:nvPr/>
          </p:nvGrpSpPr>
          <p:grpSpPr>
            <a:xfrm>
              <a:off x="6481282" y="569061"/>
              <a:ext cx="2555214" cy="2333852"/>
              <a:chOff x="1082348" y="695014"/>
              <a:chExt cx="2555214" cy="2333852"/>
            </a:xfrm>
          </p:grpSpPr>
          <p:cxnSp>
            <p:nvCxnSpPr>
              <p:cNvPr id="136" name="Connecteur droit 135"/>
              <p:cNvCxnSpPr/>
              <p:nvPr/>
            </p:nvCxnSpPr>
            <p:spPr>
              <a:xfrm flipV="1">
                <a:off x="1095683" y="833514"/>
                <a:ext cx="1628417" cy="973931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Connecteur droit 146"/>
              <p:cNvCxnSpPr/>
              <p:nvPr/>
            </p:nvCxnSpPr>
            <p:spPr>
              <a:xfrm>
                <a:off x="1082348" y="1812276"/>
                <a:ext cx="1615968" cy="107746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9" name="Rectangle 158"/>
              <p:cNvSpPr/>
              <p:nvPr/>
            </p:nvSpPr>
            <p:spPr>
              <a:xfrm>
                <a:off x="2683455" y="695014"/>
                <a:ext cx="95410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>
                    <a:solidFill>
                      <a:srgbClr val="0070C0"/>
                    </a:solidFill>
                  </a:rPr>
                  <a:t>I</a:t>
                </a:r>
                <a:r>
                  <a:rPr lang="fr-FR" sz="1200" dirty="0" err="1" smtClean="0">
                    <a:solidFill>
                      <a:srgbClr val="0070C0"/>
                    </a:solidFill>
                  </a:rPr>
                  <a:t>S</a:t>
                </a:r>
                <a:r>
                  <a:rPr lang="fr-FR" sz="1200" baseline="-25000" dirty="0" err="1" smtClean="0">
                    <a:solidFill>
                      <a:srgbClr val="0070C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0070C0"/>
                    </a:solidFill>
                  </a:rPr>
                  <a:t>=+1,+1&gt;</a:t>
                </a:r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2657442" y="2751867"/>
                <a:ext cx="87716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>
                    <a:solidFill>
                      <a:srgbClr val="FF0000"/>
                    </a:solidFill>
                  </a:rPr>
                  <a:t>IS</a:t>
                </a:r>
                <a:r>
                  <a:rPr lang="fr-FR" sz="1200" baseline="-25000" dirty="0" err="1" smtClean="0">
                    <a:solidFill>
                      <a:srgbClr val="FF000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FF0000"/>
                    </a:solidFill>
                  </a:rPr>
                  <a:t>=-1,-1&gt;</a:t>
                </a:r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64" name="Rectangle 163"/>
            <p:cNvSpPr/>
            <p:nvPr/>
          </p:nvSpPr>
          <p:spPr>
            <a:xfrm>
              <a:off x="8059534" y="3368025"/>
              <a:ext cx="8258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solidFill>
                    <a:srgbClr val="FF0000"/>
                  </a:solidFill>
                </a:rPr>
                <a:t>IS</a:t>
              </a:r>
              <a:r>
                <a:rPr lang="fr-FR" sz="1200" baseline="-25000" dirty="0" err="1" smtClean="0">
                  <a:solidFill>
                    <a:srgbClr val="FF0000"/>
                  </a:solidFill>
                </a:rPr>
                <a:t>z</a:t>
              </a:r>
              <a:r>
                <a:rPr lang="fr-FR" sz="1200" dirty="0" smtClean="0">
                  <a:solidFill>
                    <a:srgbClr val="FF0000"/>
                  </a:solidFill>
                </a:rPr>
                <a:t>=0,-1&gt;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65" name="Connecteur droit 164"/>
            <p:cNvCxnSpPr/>
            <p:nvPr/>
          </p:nvCxnSpPr>
          <p:spPr>
            <a:xfrm>
              <a:off x="6470762" y="3284984"/>
              <a:ext cx="1638799" cy="308022"/>
            </a:xfrm>
            <a:prstGeom prst="line">
              <a:avLst/>
            </a:prstGeom>
            <a:ln w="28575">
              <a:solidFill>
                <a:srgbClr val="FF000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Connecteur droit 165"/>
            <p:cNvCxnSpPr/>
            <p:nvPr/>
          </p:nvCxnSpPr>
          <p:spPr>
            <a:xfrm flipV="1">
              <a:off x="6476842" y="2980392"/>
              <a:ext cx="1652241" cy="304592"/>
            </a:xfrm>
            <a:prstGeom prst="line">
              <a:avLst/>
            </a:prstGeom>
            <a:ln w="28575">
              <a:solidFill>
                <a:srgbClr val="0070C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Ellipse 167"/>
            <p:cNvSpPr/>
            <p:nvPr/>
          </p:nvSpPr>
          <p:spPr>
            <a:xfrm>
              <a:off x="7330413" y="2196387"/>
              <a:ext cx="251922" cy="23974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69" name="Ellipse 168"/>
            <p:cNvSpPr/>
            <p:nvPr/>
          </p:nvSpPr>
          <p:spPr>
            <a:xfrm>
              <a:off x="6736874" y="1966507"/>
              <a:ext cx="251922" cy="23974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0" name="Ellipse 169"/>
            <p:cNvSpPr/>
            <p:nvPr/>
          </p:nvSpPr>
          <p:spPr>
            <a:xfrm>
              <a:off x="6363744" y="3174735"/>
              <a:ext cx="251922" cy="23974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1" name="Ellipse 170"/>
            <p:cNvSpPr/>
            <p:nvPr/>
          </p:nvSpPr>
          <p:spPr>
            <a:xfrm>
              <a:off x="7679138" y="2921937"/>
              <a:ext cx="251922" cy="23974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grpSp>
          <p:nvGrpSpPr>
            <p:cNvPr id="193" name="Groupe 192"/>
            <p:cNvGrpSpPr/>
            <p:nvPr/>
          </p:nvGrpSpPr>
          <p:grpSpPr>
            <a:xfrm>
              <a:off x="6469651" y="2132856"/>
              <a:ext cx="2502359" cy="1161749"/>
              <a:chOff x="1082348" y="1392536"/>
              <a:chExt cx="2502359" cy="1161749"/>
            </a:xfrm>
          </p:grpSpPr>
          <p:cxnSp>
            <p:nvCxnSpPr>
              <p:cNvPr id="149" name="Connecteur droit 148"/>
              <p:cNvCxnSpPr/>
              <p:nvPr/>
            </p:nvCxnSpPr>
            <p:spPr>
              <a:xfrm flipV="1">
                <a:off x="1082348" y="1553317"/>
                <a:ext cx="1623377" cy="417699"/>
              </a:xfrm>
              <a:prstGeom prst="line">
                <a:avLst/>
              </a:prstGeom>
              <a:ln w="19050">
                <a:solidFill>
                  <a:srgbClr val="00B050"/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Connecteur droit 149"/>
              <p:cNvCxnSpPr/>
              <p:nvPr/>
            </p:nvCxnSpPr>
            <p:spPr>
              <a:xfrm>
                <a:off x="1113921" y="1974726"/>
                <a:ext cx="1627859" cy="417642"/>
              </a:xfrm>
              <a:prstGeom prst="line">
                <a:avLst/>
              </a:prstGeom>
              <a:ln w="19050">
                <a:solidFill>
                  <a:srgbClr val="00B050"/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7" name="Rectangle 166"/>
              <p:cNvSpPr/>
              <p:nvPr/>
            </p:nvSpPr>
            <p:spPr>
              <a:xfrm>
                <a:off x="2669072" y="2277286"/>
                <a:ext cx="9156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>
                    <a:solidFill>
                      <a:srgbClr val="00B050"/>
                    </a:solidFill>
                  </a:rPr>
                  <a:t>IS</a:t>
                </a:r>
                <a:r>
                  <a:rPr lang="fr-FR" sz="1200" baseline="-25000" dirty="0" err="1" smtClean="0">
                    <a:solidFill>
                      <a:srgbClr val="00B05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00B050"/>
                    </a:solidFill>
                  </a:rPr>
                  <a:t>=-1,+2&gt;</a:t>
                </a:r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2656654" y="1392536"/>
                <a:ext cx="9156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err="1" smtClean="0">
                    <a:solidFill>
                      <a:srgbClr val="00B050"/>
                    </a:solidFill>
                  </a:rPr>
                  <a:t>IS</a:t>
                </a:r>
                <a:r>
                  <a:rPr lang="fr-FR" sz="1200" baseline="-25000" dirty="0" err="1" smtClean="0">
                    <a:solidFill>
                      <a:srgbClr val="00B050"/>
                    </a:solidFill>
                  </a:rPr>
                  <a:t>z</a:t>
                </a:r>
                <a:r>
                  <a:rPr lang="fr-FR" sz="1200" dirty="0" smtClean="0">
                    <a:solidFill>
                      <a:srgbClr val="00B050"/>
                    </a:solidFill>
                  </a:rPr>
                  <a:t>=+1,-2&gt;</a:t>
                </a:r>
                <a:endParaRPr lang="en-US" sz="1200" dirty="0">
                  <a:solidFill>
                    <a:srgbClr val="00B050"/>
                  </a:solidFill>
                </a:endParaRPr>
              </a:p>
            </p:txBody>
          </p:sp>
        </p:grpSp>
        <p:cxnSp>
          <p:nvCxnSpPr>
            <p:cNvPr id="157" name="Connecteur droit 156"/>
            <p:cNvCxnSpPr/>
            <p:nvPr/>
          </p:nvCxnSpPr>
          <p:spPr>
            <a:xfrm flipV="1">
              <a:off x="6481093" y="1552950"/>
              <a:ext cx="1568894" cy="723923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Connecteur droit 157"/>
            <p:cNvCxnSpPr/>
            <p:nvPr/>
          </p:nvCxnSpPr>
          <p:spPr>
            <a:xfrm>
              <a:off x="6494978" y="2266963"/>
              <a:ext cx="1587410" cy="713429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Rectangle 172"/>
            <p:cNvSpPr/>
            <p:nvPr/>
          </p:nvSpPr>
          <p:spPr>
            <a:xfrm>
              <a:off x="8059919" y="1351279"/>
              <a:ext cx="9541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solidFill>
                    <a:srgbClr val="00B050"/>
                  </a:solidFill>
                </a:rPr>
                <a:t>IS</a:t>
              </a:r>
              <a:r>
                <a:rPr lang="fr-FR" sz="1200" baseline="-25000" dirty="0" err="1" smtClean="0">
                  <a:solidFill>
                    <a:srgbClr val="00B050"/>
                  </a:solidFill>
                </a:rPr>
                <a:t>z</a:t>
              </a:r>
              <a:r>
                <a:rPr lang="fr-FR" sz="1200" dirty="0" smtClean="0">
                  <a:solidFill>
                    <a:srgbClr val="00B050"/>
                  </a:solidFill>
                </a:rPr>
                <a:t>=+1,+2&gt;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062009" y="3584882"/>
              <a:ext cx="8643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err="1" smtClean="0">
                  <a:solidFill>
                    <a:srgbClr val="00B050"/>
                  </a:solidFill>
                </a:rPr>
                <a:t>IS</a:t>
              </a:r>
              <a:r>
                <a:rPr lang="fr-FR" sz="1200" baseline="-25000" dirty="0" err="1" smtClean="0">
                  <a:solidFill>
                    <a:srgbClr val="00B050"/>
                  </a:solidFill>
                </a:rPr>
                <a:t>z</a:t>
              </a:r>
              <a:r>
                <a:rPr lang="fr-FR" sz="1200" dirty="0" smtClean="0">
                  <a:solidFill>
                    <a:srgbClr val="00B050"/>
                  </a:solidFill>
                </a:rPr>
                <a:t>=0,+2&gt;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cxnSp>
          <p:nvCxnSpPr>
            <p:cNvPr id="175" name="Connecteur droit avec flèche 174"/>
            <p:cNvCxnSpPr/>
            <p:nvPr/>
          </p:nvCxnSpPr>
          <p:spPr>
            <a:xfrm flipH="1">
              <a:off x="7210980" y="3186246"/>
              <a:ext cx="6394" cy="3046798"/>
            </a:xfrm>
            <a:prstGeom prst="straightConnector1">
              <a:avLst/>
            </a:prstGeom>
            <a:ln>
              <a:solidFill>
                <a:srgbClr val="0033CC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6" name="Connecteur droit avec flèche 175"/>
            <p:cNvCxnSpPr/>
            <p:nvPr/>
          </p:nvCxnSpPr>
          <p:spPr>
            <a:xfrm flipH="1">
              <a:off x="7330413" y="3469088"/>
              <a:ext cx="1" cy="276395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ectangle 176"/>
            <p:cNvSpPr/>
            <p:nvPr/>
          </p:nvSpPr>
          <p:spPr>
            <a:xfrm>
              <a:off x="7346777" y="5647230"/>
              <a:ext cx="296251" cy="277751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fr-FR" sz="2000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s</a:t>
              </a:r>
              <a:r>
                <a:rPr lang="fr-FR" sz="2000" dirty="0" smtClean="0">
                  <a:solidFill>
                    <a:srgbClr val="FF0000"/>
                  </a:solidFill>
                </a:rPr>
                <a:t>-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178" name="ZoneTexte 177"/>
            <p:cNvSpPr txBox="1"/>
            <p:nvPr/>
          </p:nvSpPr>
          <p:spPr>
            <a:xfrm>
              <a:off x="6495895" y="2852936"/>
              <a:ext cx="4523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endPara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ZoneTexte 178"/>
            <p:cNvSpPr txBox="1"/>
            <p:nvPr/>
          </p:nvSpPr>
          <p:spPr>
            <a:xfrm>
              <a:off x="7393855" y="1926274"/>
              <a:ext cx="411244" cy="235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(2,3)</a:t>
              </a:r>
              <a:endPara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ZoneTexte 179"/>
            <p:cNvSpPr txBox="1"/>
            <p:nvPr/>
          </p:nvSpPr>
          <p:spPr>
            <a:xfrm>
              <a:off x="6404981" y="1772816"/>
              <a:ext cx="301943" cy="235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endPara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ZoneTexte 180"/>
            <p:cNvSpPr txBox="1"/>
            <p:nvPr/>
          </p:nvSpPr>
          <p:spPr>
            <a:xfrm>
              <a:off x="7584320" y="3101976"/>
              <a:ext cx="301943" cy="235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endPara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ZoneTexte 181"/>
            <p:cNvSpPr txBox="1"/>
            <p:nvPr/>
          </p:nvSpPr>
          <p:spPr>
            <a:xfrm>
              <a:off x="6312170" y="6499265"/>
              <a:ext cx="204028" cy="235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Line 10"/>
            <p:cNvSpPr>
              <a:spLocks noChangeShapeType="1"/>
            </p:cNvSpPr>
            <p:nvPr/>
          </p:nvSpPr>
          <p:spPr bwMode="auto">
            <a:xfrm flipV="1">
              <a:off x="6452700" y="4508970"/>
              <a:ext cx="11104" cy="2032451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84" name="Forme libre 11"/>
            <p:cNvSpPr>
              <a:spLocks/>
            </p:cNvSpPr>
            <p:nvPr/>
          </p:nvSpPr>
          <p:spPr bwMode="auto">
            <a:xfrm>
              <a:off x="6378864" y="4485799"/>
              <a:ext cx="161072" cy="112287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5" name="Line 10"/>
            <p:cNvSpPr>
              <a:spLocks noChangeShapeType="1"/>
            </p:cNvSpPr>
            <p:nvPr/>
          </p:nvSpPr>
          <p:spPr bwMode="auto">
            <a:xfrm flipV="1">
              <a:off x="6471773" y="1064822"/>
              <a:ext cx="22584" cy="3390248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86" name="Forme libre 11"/>
            <p:cNvSpPr>
              <a:spLocks/>
            </p:cNvSpPr>
            <p:nvPr/>
          </p:nvSpPr>
          <p:spPr bwMode="auto">
            <a:xfrm>
              <a:off x="6378864" y="4391983"/>
              <a:ext cx="161072" cy="112287"/>
            </a:xfrm>
            <a:custGeom>
              <a:avLst/>
              <a:gdLst>
                <a:gd name="T0" fmla="*/ 0 w 283029"/>
                <a:gd name="T1" fmla="*/ 68942 h 174171"/>
                <a:gd name="T2" fmla="*/ 108857 w 283029"/>
                <a:gd name="T3" fmla="*/ 14514 h 174171"/>
                <a:gd name="T4" fmla="*/ 206829 w 283029"/>
                <a:gd name="T5" fmla="*/ 156028 h 174171"/>
                <a:gd name="T6" fmla="*/ 283029 w 283029"/>
                <a:gd name="T7" fmla="*/ 123371 h 174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3029" h="174171">
                  <a:moveTo>
                    <a:pt x="0" y="68942"/>
                  </a:moveTo>
                  <a:cubicBezTo>
                    <a:pt x="37193" y="34471"/>
                    <a:pt x="74386" y="0"/>
                    <a:pt x="108857" y="14514"/>
                  </a:cubicBezTo>
                  <a:cubicBezTo>
                    <a:pt x="143328" y="29028"/>
                    <a:pt x="177800" y="137885"/>
                    <a:pt x="206829" y="156028"/>
                  </a:cubicBezTo>
                  <a:cubicBezTo>
                    <a:pt x="235858" y="174171"/>
                    <a:pt x="259443" y="148771"/>
                    <a:pt x="283029" y="12337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6516907" y="957802"/>
              <a:ext cx="219967" cy="2350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8" name="Connecteur droit avec flèche 187"/>
            <p:cNvCxnSpPr/>
            <p:nvPr/>
          </p:nvCxnSpPr>
          <p:spPr>
            <a:xfrm flipH="1">
              <a:off x="6228184" y="4942378"/>
              <a:ext cx="20468" cy="1337989"/>
            </a:xfrm>
            <a:prstGeom prst="straightConnector1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Rectangle 188"/>
            <p:cNvSpPr/>
            <p:nvPr/>
          </p:nvSpPr>
          <p:spPr>
            <a:xfrm>
              <a:off x="5868144" y="5505926"/>
              <a:ext cx="284865" cy="23501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Line 10"/>
            <p:cNvSpPr>
              <a:spLocks noChangeShapeType="1"/>
            </p:cNvSpPr>
            <p:nvPr/>
          </p:nvSpPr>
          <p:spPr bwMode="auto">
            <a:xfrm flipV="1">
              <a:off x="6378589" y="6499265"/>
              <a:ext cx="2016930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31" name="Rectangle 13"/>
            <p:cNvSpPr>
              <a:spLocks noChangeArrowheads="1"/>
            </p:cNvSpPr>
            <p:nvPr/>
          </p:nvSpPr>
          <p:spPr bwMode="auto">
            <a:xfrm rot="16200000">
              <a:off x="5148403" y="2625946"/>
              <a:ext cx="982080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sz="1400" dirty="0" smtClean="0">
                  <a:solidFill>
                    <a:srgbClr val="000000"/>
                  </a:solidFill>
                  <a:latin typeface="Times New Roman" pitchFamily="16" charset="0"/>
                </a:rPr>
                <a:t>X-Cr</a:t>
              </a:r>
              <a:endParaRPr lang="en-GB" sz="1400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  <p:sp>
          <p:nvSpPr>
            <p:cNvPr id="132" name="Rectangle 73"/>
            <p:cNvSpPr>
              <a:spLocks noChangeArrowheads="1"/>
            </p:cNvSpPr>
            <p:nvPr/>
          </p:nvSpPr>
          <p:spPr bwMode="auto">
            <a:xfrm rot="16200000">
              <a:off x="5142652" y="5497329"/>
              <a:ext cx="982080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Times New Roman" pitchFamily="16" charset="0"/>
                </a:rPr>
                <a:t>Cr</a:t>
              </a:r>
            </a:p>
          </p:txBody>
        </p:sp>
        <p:sp>
          <p:nvSpPr>
            <p:cNvPr id="216" name="Ellipse 215"/>
            <p:cNvSpPr/>
            <p:nvPr/>
          </p:nvSpPr>
          <p:spPr>
            <a:xfrm>
              <a:off x="7895162" y="3506524"/>
              <a:ext cx="251922" cy="23974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17" name="ZoneTexte 216"/>
            <p:cNvSpPr txBox="1"/>
            <p:nvPr/>
          </p:nvSpPr>
          <p:spPr>
            <a:xfrm>
              <a:off x="7718502" y="3691771"/>
              <a:ext cx="425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(6)</a:t>
              </a:r>
              <a:endPara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ccolade ouvrante 63"/>
            <p:cNvSpPr/>
            <p:nvPr/>
          </p:nvSpPr>
          <p:spPr>
            <a:xfrm>
              <a:off x="5800019" y="4913510"/>
              <a:ext cx="189992" cy="1419852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Connecteur droit avec flèche 92"/>
            <p:cNvCxnSpPr/>
            <p:nvPr/>
          </p:nvCxnSpPr>
          <p:spPr>
            <a:xfrm flipH="1">
              <a:off x="6251496" y="1914911"/>
              <a:ext cx="20468" cy="1337989"/>
            </a:xfrm>
            <a:prstGeom prst="straightConnector1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Rectangle 93"/>
            <p:cNvSpPr/>
            <p:nvPr/>
          </p:nvSpPr>
          <p:spPr>
            <a:xfrm>
              <a:off x="5868144" y="2473901"/>
              <a:ext cx="284865" cy="23501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ccolade ouvrante 62"/>
            <p:cNvSpPr/>
            <p:nvPr/>
          </p:nvSpPr>
          <p:spPr>
            <a:xfrm>
              <a:off x="5782626" y="1666073"/>
              <a:ext cx="189992" cy="2159305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4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773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8"/>
          <p:cNvSpPr>
            <a:spLocks noChangeShapeType="1"/>
          </p:cNvSpPr>
          <p:nvPr/>
        </p:nvSpPr>
        <p:spPr bwMode="auto">
          <a:xfrm>
            <a:off x="1332001" y="548698"/>
            <a:ext cx="6477120" cy="1440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845812"/>
            <a:ext cx="2569690" cy="149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63"/>
          <a:stretch/>
        </p:blipFill>
        <p:spPr bwMode="auto">
          <a:xfrm>
            <a:off x="107504" y="839938"/>
            <a:ext cx="2342416" cy="151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" t="1679" r="7753"/>
          <a:stretch/>
        </p:blipFill>
        <p:spPr bwMode="auto">
          <a:xfrm>
            <a:off x="2527845" y="2002470"/>
            <a:ext cx="2142088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7" r="7671"/>
          <a:stretch/>
        </p:blipFill>
        <p:spPr bwMode="auto">
          <a:xfrm>
            <a:off x="215328" y="1997707"/>
            <a:ext cx="2260451" cy="467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418395" y="5017939"/>
            <a:ext cx="14401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7544" y="6013032"/>
            <a:ext cx="45719" cy="224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/>
          <p:cNvSpPr/>
          <p:nvPr/>
        </p:nvSpPr>
        <p:spPr>
          <a:xfrm>
            <a:off x="3270533" y="3577779"/>
            <a:ext cx="501068" cy="39604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/>
          <p:cNvSpPr/>
          <p:nvPr/>
        </p:nvSpPr>
        <p:spPr>
          <a:xfrm>
            <a:off x="1737489" y="4346034"/>
            <a:ext cx="501068" cy="39604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ZoneTexte 21"/>
          <p:cNvSpPr txBox="1"/>
          <p:nvPr/>
        </p:nvSpPr>
        <p:spPr>
          <a:xfrm>
            <a:off x="1835696" y="19936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QD3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4019950" y="19936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QD3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278712" y="605335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1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-Cr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521067" y="605335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X-Cr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827584" y="5867980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+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972017" y="5867980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+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1988023" y="2704719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4169029" y="2704391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 Box 51"/>
          <p:cNvSpPr txBox="1">
            <a:spLocks noChangeArrowheads="1"/>
          </p:cNvSpPr>
          <p:nvPr/>
        </p:nvSpPr>
        <p:spPr bwMode="auto">
          <a:xfrm rot="16200000">
            <a:off x="4962917" y="928520"/>
            <a:ext cx="7088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en-US" sz="1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-Cr</a:t>
            </a:r>
            <a:endParaRPr lang="fr-F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Box 52"/>
          <p:cNvSpPr txBox="1">
            <a:spLocks noChangeArrowheads="1"/>
          </p:cNvSpPr>
          <p:nvPr/>
        </p:nvSpPr>
        <p:spPr bwMode="auto">
          <a:xfrm rot="16200000">
            <a:off x="5021411" y="2959715"/>
            <a:ext cx="6399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X-Cr</a:t>
            </a:r>
            <a:endParaRPr lang="fr-F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53"/>
          <p:cNvSpPr txBox="1">
            <a:spLocks noChangeArrowheads="1"/>
          </p:cNvSpPr>
          <p:nvPr/>
        </p:nvSpPr>
        <p:spPr bwMode="auto">
          <a:xfrm rot="16200000">
            <a:off x="5127070" y="5121329"/>
            <a:ext cx="42351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endParaRPr lang="fr-F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67"/>
          <p:cNvSpPr>
            <a:spLocks noChangeShapeType="1"/>
          </p:cNvSpPr>
          <p:nvPr/>
        </p:nvSpPr>
        <p:spPr bwMode="auto">
          <a:xfrm>
            <a:off x="8378700" y="1179239"/>
            <a:ext cx="27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Line 68"/>
          <p:cNvSpPr>
            <a:spLocks noChangeShapeType="1"/>
          </p:cNvSpPr>
          <p:nvPr/>
        </p:nvSpPr>
        <p:spPr bwMode="auto">
          <a:xfrm>
            <a:off x="8364413" y="1545952"/>
            <a:ext cx="284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70"/>
          <p:cNvSpPr>
            <a:spLocks noChangeShapeType="1"/>
          </p:cNvSpPr>
          <p:nvPr/>
        </p:nvSpPr>
        <p:spPr bwMode="auto">
          <a:xfrm>
            <a:off x="8364413" y="3051100"/>
            <a:ext cx="265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71"/>
          <p:cNvSpPr>
            <a:spLocks noChangeShapeType="1"/>
          </p:cNvSpPr>
          <p:nvPr/>
        </p:nvSpPr>
        <p:spPr bwMode="auto">
          <a:xfrm>
            <a:off x="8359650" y="3376538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72"/>
          <p:cNvSpPr>
            <a:spLocks noChangeShapeType="1"/>
          </p:cNvSpPr>
          <p:nvPr/>
        </p:nvSpPr>
        <p:spPr bwMode="auto">
          <a:xfrm>
            <a:off x="8499350" y="1096689"/>
            <a:ext cx="0" cy="2047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73"/>
          <p:cNvSpPr>
            <a:spLocks noChangeShapeType="1"/>
          </p:cNvSpPr>
          <p:nvPr/>
        </p:nvSpPr>
        <p:spPr bwMode="auto">
          <a:xfrm flipV="1">
            <a:off x="8575550" y="1096689"/>
            <a:ext cx="0" cy="2047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74"/>
          <p:cNvSpPr>
            <a:spLocks noChangeShapeType="1"/>
          </p:cNvSpPr>
          <p:nvPr/>
        </p:nvSpPr>
        <p:spPr bwMode="auto">
          <a:xfrm>
            <a:off x="8485063" y="1463402"/>
            <a:ext cx="0" cy="204787"/>
          </a:xfrm>
          <a:prstGeom prst="line">
            <a:avLst/>
          </a:prstGeom>
          <a:noFill/>
          <a:ln w="38100" cmpd="dbl">
            <a:solidFill>
              <a:srgbClr val="0066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75"/>
          <p:cNvSpPr>
            <a:spLocks noChangeShapeType="1"/>
          </p:cNvSpPr>
          <p:nvPr/>
        </p:nvSpPr>
        <p:spPr bwMode="auto">
          <a:xfrm rot="10800000">
            <a:off x="8499350" y="2935213"/>
            <a:ext cx="0" cy="2047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Freeform 77"/>
          <p:cNvSpPr>
            <a:spLocks/>
          </p:cNvSpPr>
          <p:nvPr/>
        </p:nvSpPr>
        <p:spPr bwMode="auto">
          <a:xfrm>
            <a:off x="8015163" y="847452"/>
            <a:ext cx="949325" cy="465137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78"/>
          <p:cNvSpPr>
            <a:spLocks/>
          </p:cNvSpPr>
          <p:nvPr/>
        </p:nvSpPr>
        <p:spPr bwMode="auto">
          <a:xfrm flipV="1">
            <a:off x="7994525" y="1423714"/>
            <a:ext cx="947738" cy="260350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79"/>
          <p:cNvSpPr>
            <a:spLocks/>
          </p:cNvSpPr>
          <p:nvPr/>
        </p:nvSpPr>
        <p:spPr bwMode="auto">
          <a:xfrm>
            <a:off x="8000875" y="2719313"/>
            <a:ext cx="949325" cy="463550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80"/>
          <p:cNvSpPr>
            <a:spLocks/>
          </p:cNvSpPr>
          <p:nvPr/>
        </p:nvSpPr>
        <p:spPr bwMode="auto">
          <a:xfrm flipV="1">
            <a:off x="7994525" y="3311450"/>
            <a:ext cx="949325" cy="261938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81"/>
          <p:cNvSpPr>
            <a:spLocks noChangeShapeType="1"/>
          </p:cNvSpPr>
          <p:nvPr/>
        </p:nvSpPr>
        <p:spPr bwMode="auto">
          <a:xfrm>
            <a:off x="8820472" y="991914"/>
            <a:ext cx="9525" cy="477838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83"/>
          <p:cNvSpPr>
            <a:spLocks noChangeShapeType="1"/>
          </p:cNvSpPr>
          <p:nvPr/>
        </p:nvSpPr>
        <p:spPr bwMode="auto">
          <a:xfrm>
            <a:off x="8820472" y="2854250"/>
            <a:ext cx="0" cy="54451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89"/>
          <p:cNvSpPr>
            <a:spLocks noChangeShapeType="1"/>
          </p:cNvSpPr>
          <p:nvPr/>
        </p:nvSpPr>
        <p:spPr bwMode="auto">
          <a:xfrm>
            <a:off x="8358063" y="5282976"/>
            <a:ext cx="265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90"/>
          <p:cNvSpPr>
            <a:spLocks noChangeShapeType="1"/>
          </p:cNvSpPr>
          <p:nvPr/>
        </p:nvSpPr>
        <p:spPr bwMode="auto">
          <a:xfrm>
            <a:off x="8353300" y="5608414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Freeform 92"/>
          <p:cNvSpPr>
            <a:spLocks/>
          </p:cNvSpPr>
          <p:nvPr/>
        </p:nvSpPr>
        <p:spPr bwMode="auto">
          <a:xfrm>
            <a:off x="7994525" y="4951189"/>
            <a:ext cx="949325" cy="463550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93"/>
          <p:cNvSpPr>
            <a:spLocks/>
          </p:cNvSpPr>
          <p:nvPr/>
        </p:nvSpPr>
        <p:spPr bwMode="auto">
          <a:xfrm flipV="1">
            <a:off x="7988175" y="5543326"/>
            <a:ext cx="949325" cy="261938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94"/>
          <p:cNvSpPr>
            <a:spLocks noChangeShapeType="1"/>
          </p:cNvSpPr>
          <p:nvPr/>
        </p:nvSpPr>
        <p:spPr bwMode="auto">
          <a:xfrm flipH="1">
            <a:off x="8820472" y="5095651"/>
            <a:ext cx="0" cy="57626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95"/>
          <p:cNvSpPr>
            <a:spLocks noChangeShapeType="1"/>
          </p:cNvSpPr>
          <p:nvPr/>
        </p:nvSpPr>
        <p:spPr bwMode="auto">
          <a:xfrm rot="10800000">
            <a:off x="8570788" y="1423714"/>
            <a:ext cx="0" cy="204788"/>
          </a:xfrm>
          <a:prstGeom prst="line">
            <a:avLst/>
          </a:prstGeom>
          <a:noFill/>
          <a:ln w="38100" cmpd="dbl">
            <a:solidFill>
              <a:srgbClr val="0066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96"/>
          <p:cNvSpPr>
            <a:spLocks noChangeShapeType="1"/>
          </p:cNvSpPr>
          <p:nvPr/>
        </p:nvSpPr>
        <p:spPr bwMode="auto">
          <a:xfrm>
            <a:off x="8499350" y="3295575"/>
            <a:ext cx="0" cy="204788"/>
          </a:xfrm>
          <a:prstGeom prst="line">
            <a:avLst/>
          </a:prstGeom>
          <a:noFill/>
          <a:ln w="38100" cmpd="dbl">
            <a:solidFill>
              <a:srgbClr val="0066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ZoneTexte 35"/>
          <p:cNvSpPr txBox="1">
            <a:spLocks noChangeArrowheads="1"/>
          </p:cNvSpPr>
          <p:nvPr/>
        </p:nvSpPr>
        <p:spPr bwMode="auto">
          <a:xfrm>
            <a:off x="5100424" y="6057514"/>
            <a:ext cx="40435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With two excitons in the QD, the exchange interaction with the Cr spin vanishes: mirror symmetry in the optical transitions.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468312" y="25578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Magneto-optical properties</a:t>
            </a: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</a:rPr>
              <a:t>of Cr-doped QDs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677194" y="6005618"/>
            <a:ext cx="45719" cy="224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630735" y="4998654"/>
            <a:ext cx="14401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4" name="Groupe 143"/>
          <p:cNvGrpSpPr/>
          <p:nvPr/>
        </p:nvGrpSpPr>
        <p:grpSpPr>
          <a:xfrm>
            <a:off x="5637602" y="856512"/>
            <a:ext cx="2102750" cy="5126344"/>
            <a:chOff x="6804248" y="1340768"/>
            <a:chExt cx="2102750" cy="5126344"/>
          </a:xfrm>
        </p:grpSpPr>
        <p:sp>
          <p:nvSpPr>
            <p:cNvPr id="145" name="Line 2"/>
            <p:cNvSpPr>
              <a:spLocks noChangeShapeType="1"/>
            </p:cNvSpPr>
            <p:nvPr/>
          </p:nvSpPr>
          <p:spPr bwMode="auto">
            <a:xfrm>
              <a:off x="8094507" y="5554950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46" name="Line 4"/>
            <p:cNvSpPr>
              <a:spLocks noChangeShapeType="1"/>
            </p:cNvSpPr>
            <p:nvPr/>
          </p:nvSpPr>
          <p:spPr bwMode="auto">
            <a:xfrm>
              <a:off x="7050911" y="5554950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47" name="Rectangle 11"/>
            <p:cNvSpPr>
              <a:spLocks noChangeArrowheads="1"/>
            </p:cNvSpPr>
            <p:nvPr/>
          </p:nvSpPr>
          <p:spPr bwMode="auto">
            <a:xfrm>
              <a:off x="8172400" y="4560973"/>
              <a:ext cx="734598" cy="269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500" dirty="0">
                  <a:solidFill>
                    <a:srgbClr val="FF0000"/>
                  </a:solidFill>
                  <a:latin typeface="Symbol" charset="2"/>
                </a:rPr>
                <a:t>  s-</a:t>
              </a:r>
            </a:p>
          </p:txBody>
        </p:sp>
        <p:sp>
          <p:nvSpPr>
            <p:cNvPr id="148" name="AutoShape 12"/>
            <p:cNvSpPr>
              <a:spLocks/>
            </p:cNvSpPr>
            <p:nvPr/>
          </p:nvSpPr>
          <p:spPr bwMode="auto">
            <a:xfrm>
              <a:off x="8286427" y="4883085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sp>
          <p:nvSpPr>
            <p:cNvPr id="149" name="Line 52"/>
            <p:cNvSpPr>
              <a:spLocks noChangeShapeType="1"/>
            </p:cNvSpPr>
            <p:nvPr/>
          </p:nvSpPr>
          <p:spPr bwMode="auto">
            <a:xfrm>
              <a:off x="8082238" y="3192901"/>
              <a:ext cx="162882" cy="0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0" name="Line 53"/>
            <p:cNvSpPr>
              <a:spLocks noChangeShapeType="1"/>
            </p:cNvSpPr>
            <p:nvPr/>
          </p:nvSpPr>
          <p:spPr bwMode="auto">
            <a:xfrm>
              <a:off x="7580542" y="3970838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1" name="Line 54"/>
            <p:cNvSpPr>
              <a:spLocks noChangeShapeType="1"/>
            </p:cNvSpPr>
            <p:nvPr/>
          </p:nvSpPr>
          <p:spPr bwMode="auto">
            <a:xfrm>
              <a:off x="7089824" y="3525984"/>
              <a:ext cx="159810" cy="1222"/>
            </a:xfrm>
            <a:prstGeom prst="line">
              <a:avLst/>
            </a:prstGeom>
            <a:noFill/>
            <a:ln w="25560" cap="flat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2" name="Line 58"/>
            <p:cNvSpPr>
              <a:spLocks noChangeShapeType="1"/>
            </p:cNvSpPr>
            <p:nvPr/>
          </p:nvSpPr>
          <p:spPr bwMode="auto">
            <a:xfrm>
              <a:off x="7091155" y="3196332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3" name="Line 59"/>
            <p:cNvSpPr>
              <a:spLocks noChangeShapeType="1"/>
            </p:cNvSpPr>
            <p:nvPr/>
          </p:nvSpPr>
          <p:spPr bwMode="auto">
            <a:xfrm>
              <a:off x="7581874" y="3839750"/>
              <a:ext cx="158478" cy="0"/>
            </a:xfrm>
            <a:prstGeom prst="line">
              <a:avLst/>
            </a:prstGeom>
            <a:noFill/>
            <a:ln w="25560" cap="flat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4" name="Line 60"/>
            <p:cNvSpPr>
              <a:spLocks noChangeShapeType="1"/>
            </p:cNvSpPr>
            <p:nvPr/>
          </p:nvSpPr>
          <p:spPr bwMode="auto">
            <a:xfrm>
              <a:off x="8086642" y="3527206"/>
              <a:ext cx="158478" cy="0"/>
            </a:xfrm>
            <a:prstGeom prst="line">
              <a:avLst/>
            </a:prstGeom>
            <a:noFill/>
            <a:ln w="2556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5" name="Line 67"/>
            <p:cNvSpPr>
              <a:spLocks noChangeShapeType="1"/>
            </p:cNvSpPr>
            <p:nvPr/>
          </p:nvSpPr>
          <p:spPr bwMode="auto">
            <a:xfrm>
              <a:off x="7373341" y="3201034"/>
              <a:ext cx="627035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6" name="Rectangle 71"/>
            <p:cNvSpPr>
              <a:spLocks noChangeArrowheads="1"/>
            </p:cNvSpPr>
            <p:nvPr/>
          </p:nvSpPr>
          <p:spPr bwMode="auto">
            <a:xfrm>
              <a:off x="6818766" y="2852936"/>
              <a:ext cx="493325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1600" dirty="0" smtClean="0">
                  <a:solidFill>
                    <a:srgbClr val="FF0000"/>
                  </a:solidFill>
                  <a:latin typeface="Calibri" charset="0"/>
                </a:rPr>
                <a:t>I-1&gt;</a:t>
              </a:r>
              <a:endParaRPr lang="en-GB" sz="1600" dirty="0">
                <a:solidFill>
                  <a:srgbClr val="FF0000"/>
                </a:solidFill>
                <a:latin typeface="Calibri" charset="0"/>
              </a:endParaRPr>
            </a:p>
          </p:txBody>
        </p:sp>
        <p:sp>
          <p:nvSpPr>
            <p:cNvPr id="157" name="Rectangle 72"/>
            <p:cNvSpPr>
              <a:spLocks noChangeArrowheads="1"/>
            </p:cNvSpPr>
            <p:nvPr/>
          </p:nvSpPr>
          <p:spPr bwMode="auto">
            <a:xfrm>
              <a:off x="8205545" y="2845198"/>
              <a:ext cx="533401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1600" dirty="0">
                  <a:solidFill>
                    <a:srgbClr val="0033CC"/>
                  </a:solidFill>
                  <a:latin typeface="Calibri" charset="0"/>
                </a:rPr>
                <a:t>I+1&gt;</a:t>
              </a:r>
            </a:p>
          </p:txBody>
        </p:sp>
        <p:sp>
          <p:nvSpPr>
            <p:cNvPr id="158" name="Line 3"/>
            <p:cNvSpPr>
              <a:spLocks noChangeShapeType="1"/>
            </p:cNvSpPr>
            <p:nvPr/>
          </p:nvSpPr>
          <p:spPr bwMode="auto">
            <a:xfrm>
              <a:off x="7567557" y="6090581"/>
              <a:ext cx="172795" cy="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8000592" y="6165305"/>
              <a:ext cx="637595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</a:t>
              </a:r>
              <a:r>
                <a:rPr lang="en-GB" sz="1400" i="1" dirty="0">
                  <a:latin typeface="Times New Roman" pitchFamily="16" charset="0"/>
                </a:rPr>
                <a:t>+</a:t>
              </a:r>
              <a:r>
                <a:rPr lang="en-GB" sz="1400" dirty="0" smtClean="0">
                  <a:latin typeface="Times New Roman" pitchFamily="16" charset="0"/>
                </a:rPr>
                <a:t>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160" name="Rectangle 11"/>
            <p:cNvSpPr>
              <a:spLocks noChangeArrowheads="1"/>
            </p:cNvSpPr>
            <p:nvPr/>
          </p:nvSpPr>
          <p:spPr bwMode="auto">
            <a:xfrm>
              <a:off x="8128090" y="3957591"/>
              <a:ext cx="764390" cy="317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500" dirty="0">
                  <a:solidFill>
                    <a:srgbClr val="FF0000"/>
                  </a:solidFill>
                  <a:latin typeface="Symbol" charset="2"/>
                </a:rPr>
                <a:t>  </a:t>
              </a:r>
              <a:r>
                <a:rPr lang="en-GB" sz="1500" dirty="0" smtClean="0">
                  <a:solidFill>
                    <a:srgbClr val="0033CC"/>
                  </a:solidFill>
                  <a:latin typeface="Symbol" charset="2"/>
                </a:rPr>
                <a:t>s+</a:t>
              </a:r>
              <a:endParaRPr lang="en-GB" sz="1500" dirty="0">
                <a:solidFill>
                  <a:srgbClr val="0033CC"/>
                </a:solidFill>
                <a:latin typeface="Symbol" charset="2"/>
              </a:endParaRPr>
            </a:p>
          </p:txBody>
        </p:sp>
        <p:sp>
          <p:nvSpPr>
            <p:cNvPr id="161" name="Rectangle 24"/>
            <p:cNvSpPr>
              <a:spLocks noChangeArrowheads="1"/>
            </p:cNvSpPr>
            <p:nvPr/>
          </p:nvSpPr>
          <p:spPr bwMode="auto">
            <a:xfrm>
              <a:off x="7451287" y="6165305"/>
              <a:ext cx="476995" cy="256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>
                  <a:latin typeface="Times New Roman" pitchFamily="16" charset="0"/>
                </a:rPr>
                <a:t>S</a:t>
              </a:r>
              <a:r>
                <a:rPr lang="en-GB" sz="1400" baseline="-25000" dirty="0" err="1">
                  <a:latin typeface="Times New Roman" pitchFamily="16" charset="0"/>
                </a:rPr>
                <a:t>z</a:t>
              </a:r>
              <a:r>
                <a:rPr lang="en-GB" sz="1400" dirty="0">
                  <a:latin typeface="Times New Roman" pitchFamily="16" charset="0"/>
                </a:rPr>
                <a:t>=0</a:t>
              </a:r>
            </a:p>
          </p:txBody>
        </p:sp>
        <p:cxnSp>
          <p:nvCxnSpPr>
            <p:cNvPr id="162" name="Connecteur droit avec flèche 161"/>
            <p:cNvCxnSpPr/>
            <p:nvPr/>
          </p:nvCxnSpPr>
          <p:spPr>
            <a:xfrm flipH="1">
              <a:off x="8109666" y="3248025"/>
              <a:ext cx="15159" cy="22368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3" name="Connecteur droit avec flèche 162"/>
            <p:cNvCxnSpPr/>
            <p:nvPr/>
          </p:nvCxnSpPr>
          <p:spPr>
            <a:xfrm flipH="1">
              <a:off x="8205545" y="3600450"/>
              <a:ext cx="14530" cy="188444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4" name="Rectangle 25"/>
            <p:cNvSpPr>
              <a:spLocks noChangeArrowheads="1"/>
            </p:cNvSpPr>
            <p:nvPr/>
          </p:nvSpPr>
          <p:spPr bwMode="auto">
            <a:xfrm>
              <a:off x="6804248" y="6165304"/>
              <a:ext cx="575079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=-1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8174412" y="4234819"/>
              <a:ext cx="220956" cy="130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AutoShape 12"/>
            <p:cNvSpPr>
              <a:spLocks/>
            </p:cNvSpPr>
            <p:nvPr/>
          </p:nvSpPr>
          <p:spPr bwMode="auto">
            <a:xfrm>
              <a:off x="8152990" y="4234819"/>
              <a:ext cx="484757" cy="125929"/>
            </a:xfrm>
            <a:custGeom>
              <a:avLst/>
              <a:gdLst>
                <a:gd name="G0" fmla="*/ 0 1604 1"/>
                <a:gd name="G1" fmla="*/ G0 1 62639"/>
                <a:gd name="G2" fmla="*/ 17013 454 1"/>
                <a:gd name="G3" fmla="*/ G2 1 27677"/>
                <a:gd name="G4" fmla="*/ 42863 1604 1"/>
                <a:gd name="G5" fmla="*/ G4 1 62639"/>
                <a:gd name="G6" fmla="*/ 11112 454 1"/>
                <a:gd name="G7" fmla="*/ G6 1 27677"/>
                <a:gd name="G8" fmla="*/ 48764 1604 1"/>
                <a:gd name="G9" fmla="*/ G8 1 62639"/>
                <a:gd name="G10" fmla="*/ 18152 454 1"/>
                <a:gd name="G11" fmla="*/ G10 1 27677"/>
                <a:gd name="G12" fmla="*/ 54666 1604 1"/>
                <a:gd name="G13" fmla="*/ G12 1 62639"/>
                <a:gd name="G14" fmla="*/ 20637 454 1"/>
                <a:gd name="G15" fmla="*/ G14 1 27677"/>
                <a:gd name="G16" fmla="*/ 60567 1604 1"/>
                <a:gd name="G17" fmla="*/ G16 1 62639"/>
                <a:gd name="G18" fmla="*/ 22915 454 1"/>
                <a:gd name="G19" fmla="*/ G18 1 27677"/>
                <a:gd name="G20" fmla="*/ 933 1604 1"/>
                <a:gd name="G21" fmla="*/ G20 1 62639"/>
                <a:gd name="G22" fmla="*/ 20637 454 1"/>
                <a:gd name="G23" fmla="*/ G22 1 27677"/>
                <a:gd name="G24" fmla="*/ 11597 1604 1"/>
                <a:gd name="G25" fmla="*/ G24 1 62639"/>
                <a:gd name="G26" fmla="*/ 27677 454 1"/>
                <a:gd name="G27" fmla="*/ G26 1 27677"/>
                <a:gd name="G28" fmla="*/ 17498 1604 1"/>
                <a:gd name="G29" fmla="*/ G28 1 62639"/>
                <a:gd name="G30" fmla="*/ 20637 454 1"/>
                <a:gd name="G31" fmla="*/ G30 1 27677"/>
                <a:gd name="G32" fmla="*/ 9112 1604 1"/>
                <a:gd name="G33" fmla="*/ G32 1 62639"/>
                <a:gd name="G34" fmla="*/ 21776 454 1"/>
                <a:gd name="G35" fmla="*/ G34 1 27677"/>
                <a:gd name="G36" fmla="*/ 42450 1604 1"/>
                <a:gd name="G37" fmla="*/ G36 1 62639"/>
                <a:gd name="G38" fmla="*/ 21776 454 1"/>
                <a:gd name="G39" fmla="*/ G38 1 27677"/>
                <a:gd name="G40" fmla="*/ 10251 1604 1"/>
                <a:gd name="G41" fmla="*/ G40 1 62639"/>
                <a:gd name="G42" fmla="*/ 21776 454 1"/>
                <a:gd name="G43" fmla="*/ G42 1 27677"/>
                <a:gd name="G44" fmla="*/ 62639 1604 1"/>
                <a:gd name="G45" fmla="*/ G44 1 62639"/>
                <a:gd name="G46" fmla="*/ 21776 454 1"/>
                <a:gd name="G47" fmla="*/ G46 1 27677"/>
                <a:gd name="G48" fmla="*/ 62639 1604 1"/>
                <a:gd name="G49" fmla="*/ G48 1 62639"/>
                <a:gd name="G50" fmla="*/ 21776 454 1"/>
                <a:gd name="G51" fmla="*/ G50 1 27677"/>
                <a:gd name="G52" fmla="*/ 62639 1604 1"/>
                <a:gd name="G53" fmla="*/ G52 1 62639"/>
                <a:gd name="G54" fmla="*/ 21776 454 1"/>
                <a:gd name="G55" fmla="*/ G54 1 27677"/>
                <a:gd name="G56" fmla="+- 1604 0 0"/>
                <a:gd name="G57" fmla="+- 454 0 0"/>
              </a:gdLst>
              <a:ahLst/>
              <a:cxnLst>
                <a:cxn ang="0">
                  <a:pos x="r" y="vc"/>
                </a:cxn>
                <a:cxn ang="5400000">
                  <a:pos x="hc" y="b"/>
                </a:cxn>
                <a:cxn ang="10800000">
                  <a:pos x="l" y="vc"/>
                </a:cxn>
                <a:cxn ang="16200000">
                  <a:pos x="hc" y="t"/>
                </a:cxn>
              </a:cxnLst>
              <a:rect l="0" t="0" r="0" b="0"/>
              <a:pathLst>
                <a:path>
                  <a:moveTo>
                    <a:pt x="0" y="82549"/>
                  </a:moveTo>
                  <a:cubicBezTo>
                    <a:pt x="11906" y="41274"/>
                    <a:pt x="23813" y="0"/>
                    <a:pt x="42863" y="11112"/>
                  </a:cubicBezTo>
                  <a:cubicBezTo>
                    <a:pt x="61913" y="22224"/>
                    <a:pt x="90487" y="147636"/>
                    <a:pt x="114300" y="149224"/>
                  </a:cubicBezTo>
                  <a:cubicBezTo>
                    <a:pt x="138113" y="150812"/>
                    <a:pt x="161926" y="19843"/>
                    <a:pt x="185738" y="20637"/>
                  </a:cubicBezTo>
                  <a:cubicBezTo>
                    <a:pt x="209550" y="21431"/>
                    <a:pt x="233363" y="153987"/>
                    <a:pt x="257175" y="153987"/>
                  </a:cubicBezTo>
                  <a:cubicBezTo>
                    <a:pt x="280987" y="153987"/>
                    <a:pt x="304007" y="19843"/>
                    <a:pt x="328613" y="20637"/>
                  </a:cubicBezTo>
                  <a:cubicBezTo>
                    <a:pt x="353219" y="21431"/>
                    <a:pt x="380207" y="158749"/>
                    <a:pt x="404813" y="158749"/>
                  </a:cubicBezTo>
                  <a:cubicBezTo>
                    <a:pt x="429419" y="158749"/>
                    <a:pt x="454819" y="32543"/>
                    <a:pt x="476250" y="20637"/>
                  </a:cubicBezTo>
                  <a:cubicBezTo>
                    <a:pt x="497681" y="8731"/>
                    <a:pt x="518319" y="76199"/>
                    <a:pt x="533400" y="87312"/>
                  </a:cubicBezTo>
                  <a:cubicBezTo>
                    <a:pt x="548481" y="98425"/>
                    <a:pt x="566738" y="87312"/>
                    <a:pt x="566738" y="87312"/>
                  </a:cubicBezTo>
                  <a:lnTo>
                    <a:pt x="600075" y="87312"/>
                  </a:lnTo>
                  <a:lnTo>
                    <a:pt x="652463" y="87312"/>
                  </a:lnTo>
                </a:path>
              </a:pathLst>
            </a:custGeom>
            <a:noFill/>
            <a:ln w="9360" cap="flat">
              <a:solidFill>
                <a:srgbClr val="0066CC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6895" tIns="43448" rIns="86895" bIns="43448" anchor="ctr"/>
            <a:lstStyle/>
            <a:p>
              <a:endParaRPr lang="fr-FR"/>
            </a:p>
          </p:txBody>
        </p:sp>
        <p:cxnSp>
          <p:nvCxnSpPr>
            <p:cNvPr id="167" name="Connecteur droit avec flèche 166"/>
            <p:cNvCxnSpPr/>
            <p:nvPr/>
          </p:nvCxnSpPr>
          <p:spPr>
            <a:xfrm>
              <a:off x="7718681" y="3990975"/>
              <a:ext cx="6094" cy="203835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8" name="Connecteur droit avec flèche 167"/>
            <p:cNvCxnSpPr/>
            <p:nvPr/>
          </p:nvCxnSpPr>
          <p:spPr>
            <a:xfrm flipH="1">
              <a:off x="7618355" y="3867150"/>
              <a:ext cx="11170" cy="21599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eur droit avec flèche 168"/>
            <p:cNvCxnSpPr/>
            <p:nvPr/>
          </p:nvCxnSpPr>
          <p:spPr>
            <a:xfrm flipH="1">
              <a:off x="8232539" y="1367236"/>
              <a:ext cx="1" cy="211443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0" name="Rectangle 11"/>
            <p:cNvSpPr>
              <a:spLocks noChangeArrowheads="1"/>
            </p:cNvSpPr>
            <p:nvPr/>
          </p:nvSpPr>
          <p:spPr bwMode="auto">
            <a:xfrm>
              <a:off x="7546812" y="4414799"/>
              <a:ext cx="504056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600" dirty="0">
                  <a:solidFill>
                    <a:srgbClr val="00B050"/>
                  </a:solidFill>
                  <a:latin typeface="Symbol" charset="2"/>
                </a:rPr>
                <a:t>  </a:t>
              </a:r>
              <a:r>
                <a:rPr lang="en-GB" sz="1600" dirty="0" err="1" smtClean="0">
                  <a:solidFill>
                    <a:srgbClr val="00B050"/>
                  </a:solidFill>
                  <a:latin typeface="Symbol" charset="2"/>
                </a:rPr>
                <a:t>p</a:t>
              </a:r>
              <a:r>
                <a:rPr lang="en-GB" sz="1600" baseline="-25000" dirty="0" err="1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GB" sz="16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Rectangle 11"/>
            <p:cNvSpPr>
              <a:spLocks noChangeArrowheads="1"/>
            </p:cNvSpPr>
            <p:nvPr/>
          </p:nvSpPr>
          <p:spPr bwMode="auto">
            <a:xfrm>
              <a:off x="7161778" y="4404778"/>
              <a:ext cx="504056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spcBef>
                  <a:spcPts val="760"/>
                </a:spcBef>
                <a:tabLst>
                  <a:tab pos="426935" algn="l"/>
                  <a:tab pos="853868" algn="l"/>
                </a:tabLst>
              </a:pPr>
              <a:r>
                <a:rPr lang="en-GB" sz="1600" dirty="0">
                  <a:solidFill>
                    <a:srgbClr val="00B050"/>
                  </a:solidFill>
                  <a:latin typeface="Symbol" charset="2"/>
                </a:rPr>
                <a:t>  </a:t>
              </a:r>
              <a:r>
                <a:rPr lang="en-GB" sz="1600" dirty="0" err="1" smtClean="0">
                  <a:latin typeface="Symbol" charset="2"/>
                </a:rPr>
                <a:t>p</a:t>
              </a:r>
              <a:r>
                <a:rPr lang="en-GB" sz="16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GB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Line 2"/>
            <p:cNvSpPr>
              <a:spLocks noChangeShapeType="1"/>
            </p:cNvSpPr>
            <p:nvPr/>
          </p:nvSpPr>
          <p:spPr bwMode="auto">
            <a:xfrm>
              <a:off x="8100392" y="1340768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73" name="Line 4"/>
            <p:cNvSpPr>
              <a:spLocks noChangeShapeType="1"/>
            </p:cNvSpPr>
            <p:nvPr/>
          </p:nvSpPr>
          <p:spPr bwMode="auto">
            <a:xfrm>
              <a:off x="7113010" y="1340768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74" name="Line 3"/>
            <p:cNvSpPr>
              <a:spLocks noChangeShapeType="1"/>
            </p:cNvSpPr>
            <p:nvPr/>
          </p:nvSpPr>
          <p:spPr bwMode="auto">
            <a:xfrm>
              <a:off x="7600460" y="1876399"/>
              <a:ext cx="172795" cy="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cxnSp>
          <p:nvCxnSpPr>
            <p:cNvPr id="175" name="Connecteur droit avec flèche 174"/>
            <p:cNvCxnSpPr/>
            <p:nvPr/>
          </p:nvCxnSpPr>
          <p:spPr>
            <a:xfrm>
              <a:off x="8124824" y="1412776"/>
              <a:ext cx="1" cy="175477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6" name="Connecteur droit avec flèche 175"/>
            <p:cNvCxnSpPr/>
            <p:nvPr/>
          </p:nvCxnSpPr>
          <p:spPr>
            <a:xfrm flipH="1">
              <a:off x="7626366" y="1916832"/>
              <a:ext cx="3290" cy="192291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eur droit avec flèche 176"/>
            <p:cNvCxnSpPr/>
            <p:nvPr/>
          </p:nvCxnSpPr>
          <p:spPr>
            <a:xfrm>
              <a:off x="7716053" y="1916832"/>
              <a:ext cx="8722" cy="203835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8" name="Accolade ouvrante 177"/>
          <p:cNvSpPr/>
          <p:nvPr/>
        </p:nvSpPr>
        <p:spPr>
          <a:xfrm>
            <a:off x="5508104" y="791699"/>
            <a:ext cx="106717" cy="7542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Accolade ouvrante 178"/>
          <p:cNvSpPr/>
          <p:nvPr/>
        </p:nvSpPr>
        <p:spPr>
          <a:xfrm>
            <a:off x="5510648" y="2673973"/>
            <a:ext cx="126954" cy="89941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Accolade ouvrante 179"/>
          <p:cNvSpPr/>
          <p:nvPr/>
        </p:nvSpPr>
        <p:spPr>
          <a:xfrm>
            <a:off x="5520766" y="4951189"/>
            <a:ext cx="106717" cy="7542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5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291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8"/>
          <p:cNvSpPr>
            <a:spLocks noChangeShapeType="1"/>
          </p:cNvSpPr>
          <p:nvPr/>
        </p:nvSpPr>
        <p:spPr bwMode="auto">
          <a:xfrm>
            <a:off x="1043969" y="548698"/>
            <a:ext cx="6477120" cy="1440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68312" y="25578"/>
            <a:ext cx="8217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A material issue: Hole-Cr exchange interaction in </a:t>
            </a:r>
            <a:r>
              <a:rPr lang="en-US" sz="2400" i="1" dirty="0" err="1" smtClean="0">
                <a:latin typeface="Times New Roman" pitchFamily="18" charset="0"/>
              </a:rPr>
              <a:t>CdTe</a:t>
            </a:r>
            <a:r>
              <a:rPr lang="en-US" sz="2400" i="1" dirty="0" smtClean="0">
                <a:latin typeface="Times New Roman" pitchFamily="18" charset="0"/>
              </a:rPr>
              <a:t> QDs</a:t>
            </a:r>
            <a:endParaRPr lang="en-US" sz="2400" i="1" baseline="30000" dirty="0">
              <a:latin typeface="Times New Roman" pitchFamily="18" charset="0"/>
            </a:endParaRPr>
          </a:p>
        </p:txBody>
      </p:sp>
      <p:pic>
        <p:nvPicPr>
          <p:cNvPr id="1904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789040"/>
            <a:ext cx="2141935" cy="300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644921"/>
            <a:ext cx="2134828" cy="300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70"/>
          <p:cNvSpPr>
            <a:spLocks noChangeShapeType="1"/>
          </p:cNvSpPr>
          <p:nvPr/>
        </p:nvSpPr>
        <p:spPr bwMode="auto">
          <a:xfrm>
            <a:off x="5805984" y="1375231"/>
            <a:ext cx="265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71"/>
          <p:cNvSpPr>
            <a:spLocks noChangeShapeType="1"/>
          </p:cNvSpPr>
          <p:nvPr/>
        </p:nvSpPr>
        <p:spPr bwMode="auto">
          <a:xfrm>
            <a:off x="5801221" y="1700669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75"/>
          <p:cNvSpPr>
            <a:spLocks noChangeShapeType="1"/>
          </p:cNvSpPr>
          <p:nvPr/>
        </p:nvSpPr>
        <p:spPr bwMode="auto">
          <a:xfrm rot="10800000">
            <a:off x="5940921" y="1259344"/>
            <a:ext cx="0" cy="2047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79"/>
          <p:cNvSpPr>
            <a:spLocks/>
          </p:cNvSpPr>
          <p:nvPr/>
        </p:nvSpPr>
        <p:spPr bwMode="auto">
          <a:xfrm>
            <a:off x="5442446" y="1043444"/>
            <a:ext cx="949325" cy="463550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80"/>
          <p:cNvSpPr>
            <a:spLocks/>
          </p:cNvSpPr>
          <p:nvPr/>
        </p:nvSpPr>
        <p:spPr bwMode="auto">
          <a:xfrm flipV="1">
            <a:off x="5436096" y="1635581"/>
            <a:ext cx="949325" cy="261938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3"/>
          <p:cNvSpPr>
            <a:spLocks noChangeShapeType="1"/>
          </p:cNvSpPr>
          <p:nvPr/>
        </p:nvSpPr>
        <p:spPr bwMode="auto">
          <a:xfrm>
            <a:off x="6228184" y="1234736"/>
            <a:ext cx="0" cy="54451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6"/>
          <p:cNvSpPr>
            <a:spLocks noChangeShapeType="1"/>
          </p:cNvSpPr>
          <p:nvPr/>
        </p:nvSpPr>
        <p:spPr bwMode="auto">
          <a:xfrm>
            <a:off x="5940921" y="1619706"/>
            <a:ext cx="0" cy="204788"/>
          </a:xfrm>
          <a:prstGeom prst="line">
            <a:avLst/>
          </a:prstGeom>
          <a:noFill/>
          <a:ln w="38100" cmpd="dbl">
            <a:solidFill>
              <a:srgbClr val="0066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" name="Groupe 9"/>
          <p:cNvGrpSpPr/>
          <p:nvPr/>
        </p:nvGrpSpPr>
        <p:grpSpPr>
          <a:xfrm>
            <a:off x="251520" y="998265"/>
            <a:ext cx="3096344" cy="5688632"/>
            <a:chOff x="539552" y="998265"/>
            <a:chExt cx="3096344" cy="5688632"/>
          </a:xfrm>
        </p:grpSpPr>
        <p:pic>
          <p:nvPicPr>
            <p:cNvPr id="19046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998265"/>
              <a:ext cx="3022194" cy="5688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Connecteur droit 4"/>
            <p:cNvCxnSpPr/>
            <p:nvPr/>
          </p:nvCxnSpPr>
          <p:spPr>
            <a:xfrm>
              <a:off x="1021206" y="1988840"/>
              <a:ext cx="2614690" cy="1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>
              <a:off x="1051992" y="5373216"/>
              <a:ext cx="2583904" cy="1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1053615" y="2780928"/>
              <a:ext cx="394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s</a:t>
              </a:r>
              <a:r>
                <a:rPr lang="fr-FR" dirty="0" smtClean="0">
                  <a:solidFill>
                    <a:srgbClr val="FF0000"/>
                  </a:solidFill>
                </a:rPr>
                <a:t>-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1043608" y="4053452"/>
              <a:ext cx="458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s</a:t>
              </a:r>
              <a:r>
                <a:rPr lang="fr-FR" dirty="0" smtClean="0">
                  <a:solidFill>
                    <a:srgbClr val="FF0000"/>
                  </a:solidFill>
                </a:rPr>
                <a:t>+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83568" y="1124744"/>
              <a:ext cx="144016" cy="359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5576" y="2276996"/>
              <a:ext cx="144016" cy="359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228184" y="1379364"/>
            <a:ext cx="57507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i="1" dirty="0" smtClean="0">
                <a:latin typeface="Times New Roman" pitchFamily="16" charset="0"/>
              </a:rPr>
              <a:t>-</a:t>
            </a:r>
            <a:r>
              <a:rPr lang="en-GB" sz="1400" dirty="0">
                <a:latin typeface="Times New Roman" pitchFamily="16" charset="0"/>
              </a:rPr>
              <a:t>1</a:t>
            </a:r>
          </a:p>
        </p:txBody>
      </p:sp>
      <p:sp>
        <p:nvSpPr>
          <p:cNvPr id="33" name="Line 70"/>
          <p:cNvSpPr>
            <a:spLocks noChangeShapeType="1"/>
          </p:cNvSpPr>
          <p:nvPr/>
        </p:nvSpPr>
        <p:spPr bwMode="auto">
          <a:xfrm>
            <a:off x="5877992" y="5536956"/>
            <a:ext cx="265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71"/>
          <p:cNvSpPr>
            <a:spLocks noChangeShapeType="1"/>
          </p:cNvSpPr>
          <p:nvPr/>
        </p:nvSpPr>
        <p:spPr bwMode="auto">
          <a:xfrm>
            <a:off x="5873229" y="5862394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rot="10800000">
            <a:off x="6012929" y="5421069"/>
            <a:ext cx="0" cy="2047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Freeform 79"/>
          <p:cNvSpPr>
            <a:spLocks/>
          </p:cNvSpPr>
          <p:nvPr/>
        </p:nvSpPr>
        <p:spPr bwMode="auto">
          <a:xfrm>
            <a:off x="5514454" y="5205169"/>
            <a:ext cx="949325" cy="463550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Freeform 80"/>
          <p:cNvSpPr>
            <a:spLocks/>
          </p:cNvSpPr>
          <p:nvPr/>
        </p:nvSpPr>
        <p:spPr bwMode="auto">
          <a:xfrm flipV="1">
            <a:off x="5508104" y="5797306"/>
            <a:ext cx="949325" cy="261938"/>
          </a:xfrm>
          <a:custGeom>
            <a:avLst/>
            <a:gdLst>
              <a:gd name="T0" fmla="*/ 0 w 1242"/>
              <a:gd name="T1" fmla="*/ 0 h 366"/>
              <a:gd name="T2" fmla="*/ 474 w 1242"/>
              <a:gd name="T3" fmla="*/ 0 h 366"/>
              <a:gd name="T4" fmla="*/ 474 w 1242"/>
              <a:gd name="T5" fmla="*/ 366 h 366"/>
              <a:gd name="T6" fmla="*/ 840 w 1242"/>
              <a:gd name="T7" fmla="*/ 366 h 366"/>
              <a:gd name="T8" fmla="*/ 840 w 1242"/>
              <a:gd name="T9" fmla="*/ 6 h 366"/>
              <a:gd name="T10" fmla="*/ 1242 w 1242"/>
              <a:gd name="T11" fmla="*/ 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2" h="366">
                <a:moveTo>
                  <a:pt x="0" y="0"/>
                </a:moveTo>
                <a:lnTo>
                  <a:pt x="474" y="0"/>
                </a:lnTo>
                <a:lnTo>
                  <a:pt x="474" y="366"/>
                </a:lnTo>
                <a:lnTo>
                  <a:pt x="840" y="366"/>
                </a:lnTo>
                <a:lnTo>
                  <a:pt x="840" y="6"/>
                </a:lnTo>
                <a:lnTo>
                  <a:pt x="1242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83"/>
          <p:cNvSpPr>
            <a:spLocks noChangeShapeType="1"/>
          </p:cNvSpPr>
          <p:nvPr/>
        </p:nvSpPr>
        <p:spPr bwMode="auto">
          <a:xfrm>
            <a:off x="6300192" y="5396461"/>
            <a:ext cx="0" cy="544513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96"/>
          <p:cNvSpPr>
            <a:spLocks noChangeShapeType="1"/>
          </p:cNvSpPr>
          <p:nvPr/>
        </p:nvSpPr>
        <p:spPr bwMode="auto">
          <a:xfrm>
            <a:off x="6012929" y="5781431"/>
            <a:ext cx="0" cy="204788"/>
          </a:xfrm>
          <a:prstGeom prst="line">
            <a:avLst/>
          </a:prstGeom>
          <a:noFill/>
          <a:ln w="38100" cmpd="dbl">
            <a:solidFill>
              <a:srgbClr val="0066CC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300192" y="5541089"/>
            <a:ext cx="57507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i="1" dirty="0" smtClean="0">
                <a:latin typeface="Times New Roman" pitchFamily="16" charset="0"/>
              </a:rPr>
              <a:t>-</a:t>
            </a:r>
            <a:r>
              <a:rPr lang="en-GB" sz="1400" dirty="0">
                <a:latin typeface="Times New Roman" pitchFamily="16" charset="0"/>
              </a:rPr>
              <a:t>1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5780187" y="1835532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5796136" y="598723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dirty="0" smtClean="0">
                <a:solidFill>
                  <a:srgbClr val="FF0000"/>
                </a:solidFill>
              </a:rPr>
              <a:t>+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AutoShape 3771"/>
          <p:cNvSpPr>
            <a:spLocks noChangeArrowheads="1"/>
          </p:cNvSpPr>
          <p:nvPr/>
        </p:nvSpPr>
        <p:spPr bwMode="auto">
          <a:xfrm>
            <a:off x="5363879" y="779645"/>
            <a:ext cx="1440369" cy="1425219"/>
          </a:xfrm>
          <a:prstGeom prst="flowChartAlternateProcess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0794" tIns="50397" rIns="100794" bIns="50397" anchor="ctr"/>
          <a:lstStyle/>
          <a:p>
            <a:endParaRPr lang="fr-FR"/>
          </a:p>
        </p:txBody>
      </p:sp>
      <p:sp>
        <p:nvSpPr>
          <p:cNvPr id="44" name="AutoShape 3771"/>
          <p:cNvSpPr>
            <a:spLocks noChangeArrowheads="1"/>
          </p:cNvSpPr>
          <p:nvPr/>
        </p:nvSpPr>
        <p:spPr bwMode="auto">
          <a:xfrm>
            <a:off x="5384849" y="4956109"/>
            <a:ext cx="1440369" cy="1425219"/>
          </a:xfrm>
          <a:prstGeom prst="flowChartAlternateProcess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0794" tIns="50397" rIns="100794" bIns="50397" anchor="ctr"/>
          <a:lstStyle/>
          <a:p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 flipH="1">
            <a:off x="4716016" y="1689770"/>
            <a:ext cx="6478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H="1">
            <a:off x="4788024" y="4581128"/>
            <a:ext cx="9409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28974" y="4581128"/>
            <a:ext cx="0" cy="3277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7164288" y="1762795"/>
            <a:ext cx="10081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V="1">
            <a:off x="7164288" y="836712"/>
            <a:ext cx="1008112" cy="4079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164288" y="1244641"/>
            <a:ext cx="1008112" cy="2194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Line 10"/>
          <p:cNvSpPr>
            <a:spLocks noChangeShapeType="1"/>
          </p:cNvSpPr>
          <p:nvPr/>
        </p:nvSpPr>
        <p:spPr bwMode="auto">
          <a:xfrm flipV="1">
            <a:off x="7020272" y="1994891"/>
            <a:ext cx="1440160" cy="0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V="1">
            <a:off x="7162725" y="581872"/>
            <a:ext cx="0" cy="1563100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4" name="Rectangle 63"/>
          <p:cNvSpPr/>
          <p:nvPr/>
        </p:nvSpPr>
        <p:spPr>
          <a:xfrm>
            <a:off x="8172400" y="1619706"/>
            <a:ext cx="5132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err="1" smtClean="0"/>
              <a:t>S</a:t>
            </a:r>
            <a:r>
              <a:rPr lang="fr-FR" sz="1200" baseline="-25000" dirty="0" err="1" smtClean="0"/>
              <a:t>z</a:t>
            </a:r>
            <a:r>
              <a:rPr lang="fr-FR" sz="1200" dirty="0" smtClean="0"/>
              <a:t>=0</a:t>
            </a:r>
            <a:endParaRPr lang="en-US" sz="1200" dirty="0"/>
          </a:p>
        </p:txBody>
      </p:sp>
      <p:sp>
        <p:nvSpPr>
          <p:cNvPr id="65" name="Rectangle 64"/>
          <p:cNvSpPr/>
          <p:nvPr/>
        </p:nvSpPr>
        <p:spPr>
          <a:xfrm>
            <a:off x="8172400" y="1335929"/>
            <a:ext cx="5645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err="1" smtClean="0"/>
              <a:t>S</a:t>
            </a:r>
            <a:r>
              <a:rPr lang="fr-FR" sz="1200" baseline="-25000" dirty="0" err="1" smtClean="0"/>
              <a:t>z</a:t>
            </a:r>
            <a:r>
              <a:rPr lang="fr-FR" sz="1200" dirty="0" smtClean="0"/>
              <a:t>=-1</a:t>
            </a:r>
            <a:endParaRPr lang="en-US" sz="1200" dirty="0"/>
          </a:p>
        </p:txBody>
      </p:sp>
      <p:sp>
        <p:nvSpPr>
          <p:cNvPr id="66" name="Rectangle 65"/>
          <p:cNvSpPr/>
          <p:nvPr/>
        </p:nvSpPr>
        <p:spPr>
          <a:xfrm>
            <a:off x="8189639" y="692696"/>
            <a:ext cx="6030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err="1"/>
              <a:t>S</a:t>
            </a:r>
            <a:r>
              <a:rPr lang="fr-FR" sz="1200" baseline="-25000" dirty="0" err="1"/>
              <a:t>z</a:t>
            </a:r>
            <a:r>
              <a:rPr lang="fr-FR" sz="1200" dirty="0" smtClean="0"/>
              <a:t>=+1</a:t>
            </a:r>
            <a:endParaRPr lang="en-US" sz="1200" dirty="0"/>
          </a:p>
        </p:txBody>
      </p:sp>
      <p:sp>
        <p:nvSpPr>
          <p:cNvPr id="67" name="Rectangle 66"/>
          <p:cNvSpPr/>
          <p:nvPr/>
        </p:nvSpPr>
        <p:spPr>
          <a:xfrm>
            <a:off x="7160345" y="476672"/>
            <a:ext cx="219967" cy="2350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ZoneTexte 67"/>
          <p:cNvSpPr txBox="1"/>
          <p:nvPr/>
        </p:nvSpPr>
        <p:spPr>
          <a:xfrm>
            <a:off x="8333245" y="1969845"/>
            <a:ext cx="271203" cy="2350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427984" y="1202561"/>
            <a:ext cx="529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258712" y="4221088"/>
            <a:ext cx="5309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1214356" y="878484"/>
            <a:ext cx="276223" cy="14824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33CC"/>
              </a:solidFill>
            </a:endParaRPr>
          </a:p>
        </p:txBody>
      </p:sp>
      <p:sp>
        <p:nvSpPr>
          <p:cNvPr id="73" name="Ellipse 72"/>
          <p:cNvSpPr/>
          <p:nvPr/>
        </p:nvSpPr>
        <p:spPr>
          <a:xfrm>
            <a:off x="2555776" y="5056084"/>
            <a:ext cx="276223" cy="14824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33CC"/>
              </a:solidFill>
            </a:endParaRPr>
          </a:p>
        </p:txBody>
      </p:sp>
      <p:sp>
        <p:nvSpPr>
          <p:cNvPr id="74" name="ZoneTexte 35"/>
          <p:cNvSpPr txBox="1">
            <a:spLocks noChangeArrowheads="1"/>
          </p:cNvSpPr>
          <p:nvPr/>
        </p:nvSpPr>
        <p:spPr bwMode="auto">
          <a:xfrm>
            <a:off x="5400330" y="2340169"/>
            <a:ext cx="36666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 The e-Cr exchange interaction is weak and ferromagnetic.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ZoneTexte 35"/>
          <p:cNvSpPr txBox="1">
            <a:spLocks noChangeArrowheads="1"/>
          </p:cNvSpPr>
          <p:nvPr/>
        </p:nvSpPr>
        <p:spPr bwMode="auto">
          <a:xfrm>
            <a:off x="5437006" y="2852936"/>
            <a:ext cx="36666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 Polarization under magnetic shows that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h-Cr exchange is antiferromagnetic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ZoneTexte 35"/>
          <p:cNvSpPr txBox="1">
            <a:spLocks noChangeArrowheads="1"/>
          </p:cNvSpPr>
          <p:nvPr/>
        </p:nvSpPr>
        <p:spPr bwMode="auto">
          <a:xfrm>
            <a:off x="5436096" y="3356992"/>
            <a:ext cx="36666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 A material issue: h-Cr is found to be ferromagnetic in all the bulk II-VI compounds?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ZoneTexte 35"/>
          <p:cNvSpPr txBox="1">
            <a:spLocks noChangeArrowheads="1"/>
          </p:cNvSpPr>
          <p:nvPr/>
        </p:nvSpPr>
        <p:spPr bwMode="auto">
          <a:xfrm>
            <a:off x="5899252" y="4149080"/>
            <a:ext cx="32034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- But Cr is a tricky system where the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3d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orbitals are close to the top of the valence band… influence of</a:t>
            </a:r>
          </a:p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               strain on the Cr</a:t>
            </a:r>
            <a:r>
              <a:rPr lang="en-US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2+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to Cr</a:t>
            </a:r>
            <a:r>
              <a:rPr lang="en-US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3+</a:t>
            </a:r>
          </a:p>
          <a:p>
            <a:pPr eaLnBrk="1" hangingPunct="1"/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              transition?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716016" y="5816297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=+1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644008" y="4751041"/>
            <a:ext cx="4796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851920" y="2460157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=+1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211960" y="739984"/>
            <a:ext cx="4796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12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3714962" y="912897"/>
            <a:ext cx="352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Symbol" panose="05050102010706020507" pitchFamily="18" charset="2"/>
              </a:rPr>
              <a:t>s</a:t>
            </a:r>
            <a:r>
              <a:rPr lang="fr-FR" sz="1400" dirty="0" smtClean="0"/>
              <a:t>-</a:t>
            </a:r>
            <a:endParaRPr lang="en-US" sz="1400" dirty="0"/>
          </a:p>
        </p:txBody>
      </p:sp>
      <p:sp>
        <p:nvSpPr>
          <p:cNvPr id="60" name="ZoneTexte 59"/>
          <p:cNvSpPr txBox="1"/>
          <p:nvPr/>
        </p:nvSpPr>
        <p:spPr>
          <a:xfrm>
            <a:off x="3707904" y="4104168"/>
            <a:ext cx="397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Symbol" panose="05050102010706020507" pitchFamily="18" charset="2"/>
              </a:rPr>
              <a:t>s</a:t>
            </a:r>
            <a:r>
              <a:rPr lang="fr-FR" sz="1400" dirty="0" smtClean="0"/>
              <a:t>+</a:t>
            </a:r>
            <a:endParaRPr lang="en-US" sz="1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6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58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34" y="692696"/>
            <a:ext cx="2646011" cy="500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9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/>
          <a:stretch/>
        </p:blipFill>
        <p:spPr bwMode="auto">
          <a:xfrm>
            <a:off x="3181350" y="1205706"/>
            <a:ext cx="2269604" cy="43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92381" y="12233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Magneto-optical properties: model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10" name="Line 78"/>
          <p:cNvSpPr>
            <a:spLocks noChangeShapeType="1"/>
          </p:cNvSpPr>
          <p:nvPr/>
        </p:nvSpPr>
        <p:spPr bwMode="auto">
          <a:xfrm>
            <a:off x="1332001" y="548698"/>
            <a:ext cx="6477120" cy="1440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" name="ZoneTexte 35"/>
          <p:cNvSpPr txBox="1">
            <a:spLocks noChangeArrowheads="1"/>
          </p:cNvSpPr>
          <p:nvPr/>
        </p:nvSpPr>
        <p:spPr bwMode="auto">
          <a:xfrm>
            <a:off x="463052" y="5933167"/>
            <a:ext cx="50450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thermalization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(below 50K) explains why the ±2 Cr spin states are not observed.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thermalization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under B is qualitatively reproduced. 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35"/>
          <p:cNvSpPr txBox="1">
            <a:spLocks noChangeArrowheads="1"/>
          </p:cNvSpPr>
          <p:nvPr/>
        </p:nvSpPr>
        <p:spPr bwMode="auto">
          <a:xfrm>
            <a:off x="6228184" y="5933167"/>
            <a:ext cx="28083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Not possible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to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probe the spin states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±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 at higher temperature with these QDs.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070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88" y="1203052"/>
            <a:ext cx="2808312" cy="44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907704" y="1321023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=2,2 </a:t>
            </a:r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877451" y="1556792"/>
            <a:ext cx="822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=20K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7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305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432" y="576783"/>
            <a:ext cx="3921846" cy="63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35"/>
          <p:cNvSpPr txBox="1">
            <a:spLocks noChangeArrowheads="1"/>
          </p:cNvSpPr>
          <p:nvPr/>
        </p:nvSpPr>
        <p:spPr bwMode="auto">
          <a:xfrm>
            <a:off x="6156001" y="3678123"/>
            <a:ext cx="28084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Two different relaxations times linked to two different relaxation processes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2796" y="12233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Dynamics of Cr under optical excitation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7" name="Line 78"/>
          <p:cNvSpPr>
            <a:spLocks noChangeShapeType="1"/>
          </p:cNvSpPr>
          <p:nvPr/>
        </p:nvSpPr>
        <p:spPr bwMode="auto">
          <a:xfrm>
            <a:off x="1350535" y="547989"/>
            <a:ext cx="5916738" cy="1286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" name="ZoneTexte 35"/>
          <p:cNvSpPr txBox="1">
            <a:spLocks noChangeArrowheads="1"/>
          </p:cNvSpPr>
          <p:nvPr/>
        </p:nvSpPr>
        <p:spPr bwMode="auto">
          <a:xfrm>
            <a:off x="3507120" y="620688"/>
            <a:ext cx="31692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Resonant pumping transient after: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000" y="4374000"/>
            <a:ext cx="2700000" cy="227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/>
          <a:stretch/>
        </p:blipFill>
        <p:spPr bwMode="auto">
          <a:xfrm>
            <a:off x="3507120" y="1572609"/>
            <a:ext cx="2700000" cy="2288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ZoneTexte 35"/>
          <p:cNvSpPr txBox="1">
            <a:spLocks noChangeArrowheads="1"/>
          </p:cNvSpPr>
          <p:nvPr/>
        </p:nvSpPr>
        <p:spPr bwMode="auto">
          <a:xfrm>
            <a:off x="3884342" y="1218238"/>
            <a:ext cx="23438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 non-resonant excitation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ZoneTexte 35"/>
          <p:cNvSpPr txBox="1">
            <a:spLocks noChangeArrowheads="1"/>
          </p:cNvSpPr>
          <p:nvPr/>
        </p:nvSpPr>
        <p:spPr bwMode="auto">
          <a:xfrm>
            <a:off x="3851920" y="4026550"/>
            <a:ext cx="23438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 resonant excitation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ZoneTexte 35"/>
          <p:cNvSpPr txBox="1">
            <a:spLocks noChangeArrowheads="1"/>
          </p:cNvSpPr>
          <p:nvPr/>
        </p:nvSpPr>
        <p:spPr bwMode="auto">
          <a:xfrm>
            <a:off x="3923928" y="4458598"/>
            <a:ext cx="10644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400" dirty="0" smtClean="0">
                <a:latin typeface="Symbol" panose="05050102010706020507" pitchFamily="18" charset="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en-US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Cr,2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≈ 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 ns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ZoneTexte 35"/>
          <p:cNvSpPr txBox="1">
            <a:spLocks noChangeArrowheads="1"/>
          </p:cNvSpPr>
          <p:nvPr/>
        </p:nvSpPr>
        <p:spPr bwMode="auto">
          <a:xfrm>
            <a:off x="4355976" y="1772816"/>
            <a:ext cx="10519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400" dirty="0" smtClean="0">
                <a:latin typeface="Symbol" panose="05050102010706020507" pitchFamily="18" charset="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en-US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Cr,1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≈ 20 ns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8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32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2796" y="12233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Dynamics of Cr under optical excitation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7" name="Line 78"/>
          <p:cNvSpPr>
            <a:spLocks noChangeShapeType="1"/>
          </p:cNvSpPr>
          <p:nvPr/>
        </p:nvSpPr>
        <p:spPr bwMode="auto">
          <a:xfrm>
            <a:off x="1350535" y="547989"/>
            <a:ext cx="5916738" cy="1286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2" name="ZoneTexte 35"/>
          <p:cNvSpPr txBox="1">
            <a:spLocks noChangeArrowheads="1"/>
          </p:cNvSpPr>
          <p:nvPr/>
        </p:nvSpPr>
        <p:spPr bwMode="auto">
          <a:xfrm>
            <a:off x="72794" y="1074222"/>
            <a:ext cx="55793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Heating with a non-resonant probe in-between pump pulses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611560" y="1646067"/>
            <a:ext cx="3240360" cy="3007069"/>
            <a:chOff x="611560" y="1540960"/>
            <a:chExt cx="3240360" cy="3007069"/>
          </a:xfrm>
        </p:grpSpPr>
        <p:sp>
          <p:nvSpPr>
            <p:cNvPr id="63" name="Line 39"/>
            <p:cNvSpPr>
              <a:spLocks noChangeShapeType="1"/>
            </p:cNvSpPr>
            <p:nvPr/>
          </p:nvSpPr>
          <p:spPr bwMode="auto">
            <a:xfrm flipV="1">
              <a:off x="1005119" y="2476840"/>
              <a:ext cx="2381621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1" name="Line 2"/>
            <p:cNvSpPr>
              <a:spLocks noChangeShapeType="1"/>
            </p:cNvSpPr>
            <p:nvPr/>
          </p:nvSpPr>
          <p:spPr bwMode="auto">
            <a:xfrm>
              <a:off x="3275856" y="2474795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3" name="Line 4"/>
            <p:cNvSpPr>
              <a:spLocks noChangeShapeType="1"/>
            </p:cNvSpPr>
            <p:nvPr/>
          </p:nvSpPr>
          <p:spPr bwMode="auto">
            <a:xfrm>
              <a:off x="1570746" y="2474795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777887" y="1540960"/>
              <a:ext cx="432819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Times New Roman" pitchFamily="16" charset="0"/>
                </a:rPr>
                <a:t>E</a:t>
              </a:r>
            </a:p>
          </p:txBody>
        </p:sp>
        <p:sp>
          <p:nvSpPr>
            <p:cNvPr id="42" name="Line 3"/>
            <p:cNvSpPr>
              <a:spLocks noChangeShapeType="1"/>
            </p:cNvSpPr>
            <p:nvPr/>
          </p:nvSpPr>
          <p:spPr bwMode="auto">
            <a:xfrm>
              <a:off x="2423437" y="3109185"/>
              <a:ext cx="172795" cy="235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H="1" flipV="1">
              <a:off x="1078579" y="1873544"/>
              <a:ext cx="0" cy="1368152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51" name="Rectangle 25"/>
            <p:cNvSpPr>
              <a:spLocks noChangeArrowheads="1"/>
            </p:cNvSpPr>
            <p:nvPr/>
          </p:nvSpPr>
          <p:spPr bwMode="auto">
            <a:xfrm>
              <a:off x="1354722" y="3199201"/>
              <a:ext cx="575079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=-1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2258600" y="3199201"/>
              <a:ext cx="520577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>
                  <a:latin typeface="Times New Roman" pitchFamily="16" charset="0"/>
                </a:rPr>
                <a:t>S</a:t>
              </a:r>
              <a:r>
                <a:rPr lang="en-GB" sz="1400" baseline="-25000" dirty="0" err="1">
                  <a:latin typeface="Times New Roman" pitchFamily="16" charset="0"/>
                </a:rPr>
                <a:t>z</a:t>
              </a:r>
              <a:r>
                <a:rPr lang="en-GB" sz="1400" dirty="0">
                  <a:latin typeface="Times New Roman" pitchFamily="16" charset="0"/>
                </a:rPr>
                <a:t>=0</a:t>
              </a:r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611560" y="2305593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716103" y="2954155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39"/>
            <p:cNvSpPr>
              <a:spLocks noChangeShapeType="1"/>
            </p:cNvSpPr>
            <p:nvPr/>
          </p:nvSpPr>
          <p:spPr bwMode="auto">
            <a:xfrm flipV="1">
              <a:off x="997343" y="3108043"/>
              <a:ext cx="1611044" cy="7304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>
              <a:off x="3082914" y="3199201"/>
              <a:ext cx="616757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=+1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73" name="Freeform 88"/>
            <p:cNvSpPr>
              <a:spLocks/>
            </p:cNvSpPr>
            <p:nvPr/>
          </p:nvSpPr>
          <p:spPr bwMode="auto">
            <a:xfrm rot="2533154" flipH="1">
              <a:off x="1720345" y="2569816"/>
              <a:ext cx="960577" cy="244062"/>
            </a:xfrm>
            <a:custGeom>
              <a:avLst/>
              <a:gdLst>
                <a:gd name="T0" fmla="*/ 0 w 590"/>
                <a:gd name="T1" fmla="*/ 90 h 90"/>
                <a:gd name="T2" fmla="*/ 272 w 590"/>
                <a:gd name="T3" fmla="*/ 0 h 90"/>
                <a:gd name="T4" fmla="*/ 590 w 590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0" h="90">
                  <a:moveTo>
                    <a:pt x="0" y="90"/>
                  </a:moveTo>
                  <a:cubicBezTo>
                    <a:pt x="87" y="45"/>
                    <a:pt x="174" y="0"/>
                    <a:pt x="272" y="0"/>
                  </a:cubicBezTo>
                  <a:cubicBezTo>
                    <a:pt x="370" y="0"/>
                    <a:pt x="537" y="75"/>
                    <a:pt x="590" y="9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88"/>
            <p:cNvSpPr>
              <a:spLocks/>
            </p:cNvSpPr>
            <p:nvPr/>
          </p:nvSpPr>
          <p:spPr bwMode="auto">
            <a:xfrm rot="19080000">
              <a:off x="2356988" y="2582359"/>
              <a:ext cx="960577" cy="244062"/>
            </a:xfrm>
            <a:custGeom>
              <a:avLst/>
              <a:gdLst>
                <a:gd name="T0" fmla="*/ 0 w 590"/>
                <a:gd name="T1" fmla="*/ 90 h 90"/>
                <a:gd name="T2" fmla="*/ 272 w 590"/>
                <a:gd name="T3" fmla="*/ 0 h 90"/>
                <a:gd name="T4" fmla="*/ 590 w 590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0" h="90">
                  <a:moveTo>
                    <a:pt x="0" y="90"/>
                  </a:moveTo>
                  <a:cubicBezTo>
                    <a:pt x="87" y="45"/>
                    <a:pt x="174" y="0"/>
                    <a:pt x="272" y="0"/>
                  </a:cubicBezTo>
                  <a:cubicBezTo>
                    <a:pt x="370" y="0"/>
                    <a:pt x="537" y="75"/>
                    <a:pt x="590" y="9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ZoneTexte 35"/>
            <p:cNvSpPr txBox="1">
              <a:spLocks noChangeArrowheads="1"/>
            </p:cNvSpPr>
            <p:nvPr/>
          </p:nvSpPr>
          <p:spPr bwMode="auto">
            <a:xfrm>
              <a:off x="883622" y="3717032"/>
              <a:ext cx="296829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Webdings" pitchFamily="18" charset="2"/>
                  <a:sym typeface="Symbol" pitchFamily="18" charset="2"/>
                </a:rPr>
                <a:t>=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The probe pulse </a:t>
              </a:r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create a non-equilibrium state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, populating the states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= ±1</a:t>
              </a:r>
              <a:endPara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Groupe 90"/>
          <p:cNvGrpSpPr/>
          <p:nvPr/>
        </p:nvGrpSpPr>
        <p:grpSpPr>
          <a:xfrm>
            <a:off x="4716016" y="1646067"/>
            <a:ext cx="3240360" cy="3007069"/>
            <a:chOff x="611560" y="1540960"/>
            <a:chExt cx="3240360" cy="3007069"/>
          </a:xfrm>
        </p:grpSpPr>
        <p:sp>
          <p:nvSpPr>
            <p:cNvPr id="92" name="Line 39"/>
            <p:cNvSpPr>
              <a:spLocks noChangeShapeType="1"/>
            </p:cNvSpPr>
            <p:nvPr/>
          </p:nvSpPr>
          <p:spPr bwMode="auto">
            <a:xfrm flipV="1">
              <a:off x="1005119" y="2476840"/>
              <a:ext cx="2381621" cy="0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3" name="Line 2"/>
            <p:cNvSpPr>
              <a:spLocks noChangeShapeType="1"/>
            </p:cNvSpPr>
            <p:nvPr/>
          </p:nvSpPr>
          <p:spPr bwMode="auto">
            <a:xfrm>
              <a:off x="3275856" y="2474795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4" name="Line 4"/>
            <p:cNvSpPr>
              <a:spLocks noChangeShapeType="1"/>
            </p:cNvSpPr>
            <p:nvPr/>
          </p:nvSpPr>
          <p:spPr bwMode="auto">
            <a:xfrm>
              <a:off x="1570746" y="2474795"/>
              <a:ext cx="159810" cy="1222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5" name="Rectangle 6"/>
            <p:cNvSpPr>
              <a:spLocks noChangeArrowheads="1"/>
            </p:cNvSpPr>
            <p:nvPr/>
          </p:nvSpPr>
          <p:spPr bwMode="auto">
            <a:xfrm>
              <a:off x="777887" y="1540960"/>
              <a:ext cx="432819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hangingPunct="1">
                <a:lnSpc>
                  <a:spcPct val="100000"/>
                </a:lnSpc>
                <a:tabLst>
                  <a:tab pos="426935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Times New Roman" pitchFamily="16" charset="0"/>
                </a:rPr>
                <a:t>E</a:t>
              </a:r>
            </a:p>
          </p:txBody>
        </p:sp>
        <p:sp>
          <p:nvSpPr>
            <p:cNvPr id="96" name="Line 3"/>
            <p:cNvSpPr>
              <a:spLocks noChangeShapeType="1"/>
            </p:cNvSpPr>
            <p:nvPr/>
          </p:nvSpPr>
          <p:spPr bwMode="auto">
            <a:xfrm>
              <a:off x="2423437" y="3109185"/>
              <a:ext cx="172795" cy="2350"/>
            </a:xfrm>
            <a:prstGeom prst="line">
              <a:avLst/>
            </a:prstGeom>
            <a:noFill/>
            <a:ln w="2844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7" name="Line 10"/>
            <p:cNvSpPr>
              <a:spLocks noChangeShapeType="1"/>
            </p:cNvSpPr>
            <p:nvPr/>
          </p:nvSpPr>
          <p:spPr bwMode="auto">
            <a:xfrm flipH="1" flipV="1">
              <a:off x="1078579" y="1873544"/>
              <a:ext cx="0" cy="1368152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98" name="Rectangle 25"/>
            <p:cNvSpPr>
              <a:spLocks noChangeArrowheads="1"/>
            </p:cNvSpPr>
            <p:nvPr/>
          </p:nvSpPr>
          <p:spPr bwMode="auto">
            <a:xfrm>
              <a:off x="1354722" y="3199201"/>
              <a:ext cx="575079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=-1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99" name="Rectangle 24"/>
            <p:cNvSpPr>
              <a:spLocks noChangeArrowheads="1"/>
            </p:cNvSpPr>
            <p:nvPr/>
          </p:nvSpPr>
          <p:spPr bwMode="auto">
            <a:xfrm>
              <a:off x="2258600" y="3199201"/>
              <a:ext cx="520577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>
                  <a:latin typeface="Times New Roman" pitchFamily="16" charset="0"/>
                </a:rPr>
                <a:t>S</a:t>
              </a:r>
              <a:r>
                <a:rPr lang="en-GB" sz="1400" baseline="-25000" dirty="0" err="1">
                  <a:latin typeface="Times New Roman" pitchFamily="16" charset="0"/>
                </a:rPr>
                <a:t>z</a:t>
              </a:r>
              <a:r>
                <a:rPr lang="en-GB" sz="1400" dirty="0">
                  <a:latin typeface="Times New Roman" pitchFamily="16" charset="0"/>
                </a:rPr>
                <a:t>=0</a:t>
              </a:r>
            </a:p>
          </p:txBody>
        </p:sp>
        <p:sp>
          <p:nvSpPr>
            <p:cNvPr id="100" name="ZoneTexte 99"/>
            <p:cNvSpPr txBox="1"/>
            <p:nvPr/>
          </p:nvSpPr>
          <p:spPr>
            <a:xfrm>
              <a:off x="611560" y="2305593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ZoneTexte 100"/>
            <p:cNvSpPr txBox="1"/>
            <p:nvPr/>
          </p:nvSpPr>
          <p:spPr>
            <a:xfrm>
              <a:off x="716103" y="2954155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Line 39"/>
            <p:cNvSpPr>
              <a:spLocks noChangeShapeType="1"/>
            </p:cNvSpPr>
            <p:nvPr/>
          </p:nvSpPr>
          <p:spPr bwMode="auto">
            <a:xfrm flipV="1">
              <a:off x="997343" y="3108043"/>
              <a:ext cx="1611044" cy="7304"/>
            </a:xfrm>
            <a:prstGeom prst="line">
              <a:avLst/>
            </a:prstGeom>
            <a:noFill/>
            <a:ln w="936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6895" tIns="43448" rIns="86895" bIns="43448"/>
            <a:lstStyle/>
            <a:p>
              <a:endParaRPr lang="fr-FR"/>
            </a:p>
          </p:txBody>
        </p:sp>
        <p:sp>
          <p:nvSpPr>
            <p:cNvPr id="103" name="Rectangle 25"/>
            <p:cNvSpPr>
              <a:spLocks noChangeArrowheads="1"/>
            </p:cNvSpPr>
            <p:nvPr/>
          </p:nvSpPr>
          <p:spPr bwMode="auto">
            <a:xfrm>
              <a:off x="3082914" y="3199201"/>
              <a:ext cx="616757" cy="301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5527" tIns="42764" rIns="85527" bIns="42764">
              <a:spAutoFit/>
            </a:bodyPr>
            <a:lstStyle/>
            <a:p>
              <a:r>
                <a:rPr lang="en-GB" sz="1400" dirty="0" err="1" smtClean="0">
                  <a:latin typeface="Times New Roman" pitchFamily="16" charset="0"/>
                </a:rPr>
                <a:t>S</a:t>
              </a:r>
              <a:r>
                <a:rPr lang="en-GB" sz="1400" baseline="-25000" dirty="0" err="1" smtClean="0">
                  <a:latin typeface="Times New Roman" pitchFamily="16" charset="0"/>
                </a:rPr>
                <a:t>z</a:t>
              </a:r>
              <a:r>
                <a:rPr lang="en-GB" sz="1400" dirty="0" smtClean="0">
                  <a:latin typeface="Times New Roman" pitchFamily="16" charset="0"/>
                </a:rPr>
                <a:t>=+1</a:t>
              </a:r>
              <a:endParaRPr lang="en-GB" sz="1400" dirty="0">
                <a:latin typeface="Times New Roman" pitchFamily="16" charset="0"/>
              </a:endParaRPr>
            </a:p>
          </p:txBody>
        </p:sp>
        <p:sp>
          <p:nvSpPr>
            <p:cNvPr id="104" name="Freeform 88"/>
            <p:cNvSpPr>
              <a:spLocks/>
            </p:cNvSpPr>
            <p:nvPr/>
          </p:nvSpPr>
          <p:spPr bwMode="auto">
            <a:xfrm rot="2533154" flipH="1">
              <a:off x="1720345" y="2569816"/>
              <a:ext cx="960577" cy="244062"/>
            </a:xfrm>
            <a:custGeom>
              <a:avLst/>
              <a:gdLst>
                <a:gd name="T0" fmla="*/ 0 w 590"/>
                <a:gd name="T1" fmla="*/ 90 h 90"/>
                <a:gd name="T2" fmla="*/ 272 w 590"/>
                <a:gd name="T3" fmla="*/ 0 h 90"/>
                <a:gd name="T4" fmla="*/ 590 w 590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0" h="90">
                  <a:moveTo>
                    <a:pt x="0" y="90"/>
                  </a:moveTo>
                  <a:cubicBezTo>
                    <a:pt x="87" y="45"/>
                    <a:pt x="174" y="0"/>
                    <a:pt x="272" y="0"/>
                  </a:cubicBezTo>
                  <a:cubicBezTo>
                    <a:pt x="370" y="0"/>
                    <a:pt x="537" y="75"/>
                    <a:pt x="590" y="90"/>
                  </a:cubicBezTo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88"/>
            <p:cNvSpPr>
              <a:spLocks/>
            </p:cNvSpPr>
            <p:nvPr/>
          </p:nvSpPr>
          <p:spPr bwMode="auto">
            <a:xfrm rot="19080000">
              <a:off x="2356988" y="2582359"/>
              <a:ext cx="960577" cy="244062"/>
            </a:xfrm>
            <a:custGeom>
              <a:avLst/>
              <a:gdLst>
                <a:gd name="T0" fmla="*/ 0 w 590"/>
                <a:gd name="T1" fmla="*/ 90 h 90"/>
                <a:gd name="T2" fmla="*/ 272 w 590"/>
                <a:gd name="T3" fmla="*/ 0 h 90"/>
                <a:gd name="T4" fmla="*/ 590 w 590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0" h="90">
                  <a:moveTo>
                    <a:pt x="0" y="90"/>
                  </a:moveTo>
                  <a:cubicBezTo>
                    <a:pt x="87" y="45"/>
                    <a:pt x="174" y="0"/>
                    <a:pt x="272" y="0"/>
                  </a:cubicBezTo>
                  <a:cubicBezTo>
                    <a:pt x="370" y="0"/>
                    <a:pt x="537" y="75"/>
                    <a:pt x="590" y="90"/>
                  </a:cubicBezTo>
                </a:path>
              </a:pathLst>
            </a:custGeom>
            <a:noFill/>
            <a:ln w="9525">
              <a:solidFill>
                <a:srgbClr val="0099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ZoneTexte 35"/>
            <p:cNvSpPr txBox="1">
              <a:spLocks noChangeArrowheads="1"/>
            </p:cNvSpPr>
            <p:nvPr/>
          </p:nvSpPr>
          <p:spPr bwMode="auto">
            <a:xfrm>
              <a:off x="883622" y="3717032"/>
              <a:ext cx="296829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Webdings" pitchFamily="18" charset="2"/>
                  <a:sym typeface="Symbol" pitchFamily="18" charset="2"/>
                </a:rPr>
                <a:t>= 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During the dark time, </a:t>
              </a:r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the non-equilibrium state relaxes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, repopulating </a:t>
              </a:r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= 0</a:t>
              </a:r>
              <a:endPara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ZoneTexte 106"/>
          <p:cNvSpPr txBox="1"/>
          <p:nvPr/>
        </p:nvSpPr>
        <p:spPr>
          <a:xfrm>
            <a:off x="5895403" y="2776887"/>
            <a:ext cx="5488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Cr,1</a:t>
            </a:r>
            <a:endParaRPr lang="en-US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ZoneTexte 35"/>
          <p:cNvSpPr txBox="1">
            <a:spLocks noChangeArrowheads="1"/>
          </p:cNvSpPr>
          <p:nvPr/>
        </p:nvSpPr>
        <p:spPr bwMode="auto">
          <a:xfrm>
            <a:off x="611560" y="5229200"/>
            <a:ext cx="792088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±1 can relax toward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via a 1 phonon mechanism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with a characteristic time </a:t>
            </a:r>
            <a:r>
              <a:rPr lang="fr-FR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Cr,1</a:t>
            </a:r>
            <a:endParaRPr lang="en-US" b="1" dirty="0" smtClean="0">
              <a:latin typeface="Webdings" pitchFamily="18" charset="2"/>
              <a:sym typeface="Symbol" pitchFamily="18" charset="2"/>
            </a:endParaRPr>
          </a:p>
          <a:p>
            <a:pPr eaLnBrk="1" hangingPunct="1"/>
            <a:endParaRPr lang="en-US" sz="1600" dirty="0">
              <a:solidFill>
                <a:schemeClr val="accent2">
                  <a:lumMod val="75000"/>
                </a:schemeClr>
              </a:solidFill>
              <a:latin typeface="Webdings" pitchFamily="18" charset="2"/>
              <a:sym typeface="Symbol" pitchFamily="18" charset="2"/>
            </a:endParaRPr>
          </a:p>
          <a:p>
            <a:pPr eaLnBrk="1" hangingPunct="1"/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pumping transient after a heating pulse probe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transfer from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±1 to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AutoShape 12"/>
          <p:cNvSpPr>
            <a:spLocks/>
          </p:cNvSpPr>
          <p:nvPr/>
        </p:nvSpPr>
        <p:spPr bwMode="auto">
          <a:xfrm>
            <a:off x="7020272" y="2958043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9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84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2796" y="12233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50000">
                      <a:srgbClr val="79AFFF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i="1" dirty="0" smtClean="0">
                <a:latin typeface="Times New Roman" pitchFamily="18" charset="0"/>
              </a:rPr>
              <a:t>Dynamics of Cr under optical excitation</a:t>
            </a:r>
            <a:endParaRPr lang="en-US" sz="2400" i="1" baseline="30000" dirty="0">
              <a:latin typeface="Times New Roman" pitchFamily="18" charset="0"/>
            </a:endParaRPr>
          </a:p>
        </p:txBody>
      </p:sp>
      <p:sp>
        <p:nvSpPr>
          <p:cNvPr id="7" name="Line 78"/>
          <p:cNvSpPr>
            <a:spLocks noChangeShapeType="1"/>
          </p:cNvSpPr>
          <p:nvPr/>
        </p:nvSpPr>
        <p:spPr bwMode="auto">
          <a:xfrm>
            <a:off x="1350535" y="547989"/>
            <a:ext cx="5916738" cy="1286"/>
          </a:xfrm>
          <a:prstGeom prst="line">
            <a:avLst/>
          </a:prstGeom>
          <a:noFill/>
          <a:ln w="1260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2" name="ZoneTexte 35"/>
          <p:cNvSpPr txBox="1">
            <a:spLocks noChangeArrowheads="1"/>
          </p:cNvSpPr>
          <p:nvPr/>
        </p:nvSpPr>
        <p:spPr bwMode="auto">
          <a:xfrm>
            <a:off x="72794" y="858198"/>
            <a:ext cx="55793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Relaxation in the dark with only a pumping pulse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Line 39"/>
          <p:cNvSpPr>
            <a:spLocks noChangeShapeType="1"/>
          </p:cNvSpPr>
          <p:nvPr/>
        </p:nvSpPr>
        <p:spPr bwMode="auto">
          <a:xfrm flipV="1">
            <a:off x="5109559" y="2437931"/>
            <a:ext cx="2381621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1" name="Line 2"/>
          <p:cNvSpPr>
            <a:spLocks noChangeShapeType="1"/>
          </p:cNvSpPr>
          <p:nvPr/>
        </p:nvSpPr>
        <p:spPr bwMode="auto">
          <a:xfrm>
            <a:off x="7380296" y="2435886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5675186" y="2435886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4882327" y="1502051"/>
            <a:ext cx="432819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42" name="Line 3"/>
          <p:cNvSpPr>
            <a:spLocks noChangeShapeType="1"/>
          </p:cNvSpPr>
          <p:nvPr/>
        </p:nvSpPr>
        <p:spPr bwMode="auto">
          <a:xfrm>
            <a:off x="6527877" y="3070276"/>
            <a:ext cx="172795" cy="235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5" name="Line 10"/>
          <p:cNvSpPr>
            <a:spLocks noChangeShapeType="1"/>
          </p:cNvSpPr>
          <p:nvPr/>
        </p:nvSpPr>
        <p:spPr bwMode="auto">
          <a:xfrm flipH="1" flipV="1">
            <a:off x="5148064" y="1834635"/>
            <a:ext cx="0" cy="1368152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51" name="Rectangle 25"/>
          <p:cNvSpPr>
            <a:spLocks noChangeArrowheads="1"/>
          </p:cNvSpPr>
          <p:nvPr/>
        </p:nvSpPr>
        <p:spPr bwMode="auto">
          <a:xfrm>
            <a:off x="5459162" y="3160292"/>
            <a:ext cx="57507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=-1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52" name="Rectangle 24"/>
          <p:cNvSpPr>
            <a:spLocks noChangeArrowheads="1"/>
          </p:cNvSpPr>
          <p:nvPr/>
        </p:nvSpPr>
        <p:spPr bwMode="auto">
          <a:xfrm>
            <a:off x="6363040" y="3160292"/>
            <a:ext cx="520577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4716000" y="2266684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4820543" y="291524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Line 39"/>
          <p:cNvSpPr>
            <a:spLocks noChangeShapeType="1"/>
          </p:cNvSpPr>
          <p:nvPr/>
        </p:nvSpPr>
        <p:spPr bwMode="auto">
          <a:xfrm flipV="1">
            <a:off x="5101783" y="3069134"/>
            <a:ext cx="1611044" cy="7304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66" name="Rectangle 25"/>
          <p:cNvSpPr>
            <a:spLocks noChangeArrowheads="1"/>
          </p:cNvSpPr>
          <p:nvPr/>
        </p:nvSpPr>
        <p:spPr bwMode="auto">
          <a:xfrm>
            <a:off x="7187354" y="3160292"/>
            <a:ext cx="616757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=+1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73" name="Freeform 88"/>
          <p:cNvSpPr>
            <a:spLocks/>
          </p:cNvSpPr>
          <p:nvPr/>
        </p:nvSpPr>
        <p:spPr bwMode="auto">
          <a:xfrm rot="2533154" flipH="1">
            <a:off x="5824785" y="2530907"/>
            <a:ext cx="960577" cy="24406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B05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ZoneTexte 35"/>
          <p:cNvSpPr txBox="1">
            <a:spLocks noChangeArrowheads="1"/>
          </p:cNvSpPr>
          <p:nvPr/>
        </p:nvSpPr>
        <p:spPr bwMode="auto">
          <a:xfrm>
            <a:off x="5076056" y="3678123"/>
            <a:ext cx="31123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During the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drak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time,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state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-1 is repopulated from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 and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+1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Line 39"/>
          <p:cNvSpPr>
            <a:spLocks noChangeShapeType="1"/>
          </p:cNvSpPr>
          <p:nvPr/>
        </p:nvSpPr>
        <p:spPr bwMode="auto">
          <a:xfrm flipV="1">
            <a:off x="1005559" y="2437931"/>
            <a:ext cx="2381621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3" name="Line 2"/>
          <p:cNvSpPr>
            <a:spLocks noChangeShapeType="1"/>
          </p:cNvSpPr>
          <p:nvPr/>
        </p:nvSpPr>
        <p:spPr bwMode="auto">
          <a:xfrm>
            <a:off x="3276296" y="2435886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4" name="Line 4"/>
          <p:cNvSpPr>
            <a:spLocks noChangeShapeType="1"/>
          </p:cNvSpPr>
          <p:nvPr/>
        </p:nvSpPr>
        <p:spPr bwMode="auto">
          <a:xfrm>
            <a:off x="1571186" y="2435886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778327" y="1502051"/>
            <a:ext cx="432819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96" name="Line 3"/>
          <p:cNvSpPr>
            <a:spLocks noChangeShapeType="1"/>
          </p:cNvSpPr>
          <p:nvPr/>
        </p:nvSpPr>
        <p:spPr bwMode="auto">
          <a:xfrm>
            <a:off x="2423877" y="3070276"/>
            <a:ext cx="172795" cy="235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7" name="Line 10"/>
          <p:cNvSpPr>
            <a:spLocks noChangeShapeType="1"/>
          </p:cNvSpPr>
          <p:nvPr/>
        </p:nvSpPr>
        <p:spPr bwMode="auto">
          <a:xfrm flipH="1" flipV="1">
            <a:off x="1079019" y="1834635"/>
            <a:ext cx="0" cy="1368152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8" name="Rectangle 25"/>
          <p:cNvSpPr>
            <a:spLocks noChangeArrowheads="1"/>
          </p:cNvSpPr>
          <p:nvPr/>
        </p:nvSpPr>
        <p:spPr bwMode="auto">
          <a:xfrm>
            <a:off x="1355162" y="3160292"/>
            <a:ext cx="575079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=-1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99" name="Rectangle 24"/>
          <p:cNvSpPr>
            <a:spLocks noChangeArrowheads="1"/>
          </p:cNvSpPr>
          <p:nvPr/>
        </p:nvSpPr>
        <p:spPr bwMode="auto">
          <a:xfrm>
            <a:off x="2259040" y="3160292"/>
            <a:ext cx="520577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sp>
        <p:nvSpPr>
          <p:cNvPr id="100" name="ZoneTexte 99"/>
          <p:cNvSpPr txBox="1"/>
          <p:nvPr/>
        </p:nvSpPr>
        <p:spPr>
          <a:xfrm>
            <a:off x="612000" y="2266684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ZoneTexte 100"/>
          <p:cNvSpPr txBox="1"/>
          <p:nvPr/>
        </p:nvSpPr>
        <p:spPr>
          <a:xfrm>
            <a:off x="716543" y="291524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Line 39"/>
          <p:cNvSpPr>
            <a:spLocks noChangeShapeType="1"/>
          </p:cNvSpPr>
          <p:nvPr/>
        </p:nvSpPr>
        <p:spPr bwMode="auto">
          <a:xfrm flipV="1">
            <a:off x="997783" y="3069134"/>
            <a:ext cx="1611044" cy="7304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03" name="Rectangle 25"/>
          <p:cNvSpPr>
            <a:spLocks noChangeArrowheads="1"/>
          </p:cNvSpPr>
          <p:nvPr/>
        </p:nvSpPr>
        <p:spPr bwMode="auto">
          <a:xfrm>
            <a:off x="3083354" y="3160292"/>
            <a:ext cx="616757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 smtClean="0">
                <a:latin typeface="Times New Roman" pitchFamily="16" charset="0"/>
              </a:rPr>
              <a:t>S</a:t>
            </a:r>
            <a:r>
              <a:rPr lang="en-GB" sz="1400" baseline="-25000" dirty="0" err="1" smtClean="0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=+1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104" name="Freeform 88"/>
          <p:cNvSpPr>
            <a:spLocks/>
          </p:cNvSpPr>
          <p:nvPr/>
        </p:nvSpPr>
        <p:spPr bwMode="auto">
          <a:xfrm rot="2533154" flipH="1">
            <a:off x="1720785" y="2530907"/>
            <a:ext cx="960577" cy="244062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ZoneTexte 35"/>
          <p:cNvSpPr txBox="1">
            <a:spLocks noChangeArrowheads="1"/>
          </p:cNvSpPr>
          <p:nvPr/>
        </p:nvSpPr>
        <p:spPr bwMode="auto">
          <a:xfrm>
            <a:off x="884062" y="3678123"/>
            <a:ext cx="29682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pump pulse empty the states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-1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transfering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the population to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+1 and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5895403" y="2632871"/>
            <a:ext cx="5488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Cr,1</a:t>
            </a:r>
            <a:endParaRPr lang="en-US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ZoneTexte 35"/>
          <p:cNvSpPr txBox="1">
            <a:spLocks noChangeArrowheads="1"/>
          </p:cNvSpPr>
          <p:nvPr/>
        </p:nvSpPr>
        <p:spPr bwMode="auto">
          <a:xfrm>
            <a:off x="611560" y="4941168"/>
            <a:ext cx="7776864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+1 can transfer to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+1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via a 2 phonon mechanism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involving an excited state with a characteristic time </a:t>
            </a:r>
            <a:r>
              <a:rPr lang="fr-FR" dirty="0"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Cr,2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/>
            <a:endParaRPr lang="en-US" sz="1600" b="1" dirty="0" smtClean="0">
              <a:latin typeface="Webdings" pitchFamily="18" charset="2"/>
              <a:sym typeface="Symbol" pitchFamily="18" charset="2"/>
            </a:endParaRPr>
          </a:p>
          <a:p>
            <a:pPr eaLnBrk="1" hangingPunct="1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±1 can relax toward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via a 1 phonon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mechanism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with a characteristic time </a:t>
            </a:r>
            <a:r>
              <a:rPr lang="fr-FR" sz="1600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Cr,1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longer </a:t>
            </a:r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Cr,2</a:t>
            </a:r>
            <a:endParaRPr lang="en-US" sz="1600" dirty="0" smtClean="0">
              <a:solidFill>
                <a:schemeClr val="accent2">
                  <a:lumMod val="75000"/>
                </a:schemeClr>
              </a:solidFill>
              <a:latin typeface="Webdings" pitchFamily="18" charset="2"/>
              <a:sym typeface="Symbol" pitchFamily="18" charset="2"/>
            </a:endParaRPr>
          </a:p>
          <a:p>
            <a:pPr eaLnBrk="1" hangingPunct="1"/>
            <a:endParaRPr lang="en-US" sz="1600" dirty="0">
              <a:solidFill>
                <a:schemeClr val="accent2">
                  <a:lumMod val="75000"/>
                </a:schemeClr>
              </a:solidFill>
              <a:latin typeface="Webdings" pitchFamily="18" charset="2"/>
              <a:sym typeface="Symbol" pitchFamily="18" charset="2"/>
            </a:endParaRPr>
          </a:p>
          <a:p>
            <a:pPr eaLnBrk="1" hangingPunct="1"/>
            <a:r>
              <a:rPr lang="en-US" sz="1600" dirty="0" smtClean="0">
                <a:solidFill>
                  <a:schemeClr val="accent2">
                    <a:lumMod val="75000"/>
                  </a:schemeClr>
                </a:solidFill>
                <a:latin typeface="Webdings" pitchFamily="18" charset="2"/>
                <a:sym typeface="Symbol" pitchFamily="18" charset="2"/>
              </a:rPr>
              <a:t>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pumping transient after a heating pulse probe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transfer from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±1 to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= 0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AutoShape 12"/>
          <p:cNvSpPr>
            <a:spLocks/>
          </p:cNvSpPr>
          <p:nvPr/>
        </p:nvSpPr>
        <p:spPr bwMode="auto">
          <a:xfrm flipH="1">
            <a:off x="7668344" y="2052725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40" name="Freeform 88"/>
          <p:cNvSpPr>
            <a:spLocks/>
          </p:cNvSpPr>
          <p:nvPr/>
        </p:nvSpPr>
        <p:spPr bwMode="auto">
          <a:xfrm flipH="1">
            <a:off x="1755470" y="2366146"/>
            <a:ext cx="1520386" cy="54425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88"/>
          <p:cNvSpPr>
            <a:spLocks/>
          </p:cNvSpPr>
          <p:nvPr/>
        </p:nvSpPr>
        <p:spPr bwMode="auto">
          <a:xfrm rot="3191017" flipH="1">
            <a:off x="6795303" y="1873964"/>
            <a:ext cx="949314" cy="212197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"/>
          <p:cNvSpPr>
            <a:spLocks noChangeShapeType="1"/>
          </p:cNvSpPr>
          <p:nvPr/>
        </p:nvSpPr>
        <p:spPr bwMode="auto">
          <a:xfrm>
            <a:off x="6732240" y="1644845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6" name="AutoShape 12"/>
          <p:cNvSpPr>
            <a:spLocks/>
          </p:cNvSpPr>
          <p:nvPr/>
        </p:nvSpPr>
        <p:spPr bwMode="auto">
          <a:xfrm flipH="1">
            <a:off x="5455395" y="1952186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B05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6372200" y="1862091"/>
            <a:ext cx="5488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t</a:t>
            </a:r>
            <a:r>
              <a:rPr lang="fr-FR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Cr,2</a:t>
            </a:r>
            <a:endParaRPr lang="en-US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Freeform 88"/>
          <p:cNvSpPr>
            <a:spLocks/>
          </p:cNvSpPr>
          <p:nvPr/>
        </p:nvSpPr>
        <p:spPr bwMode="auto">
          <a:xfrm rot="19226690" flipH="1">
            <a:off x="5587777" y="1847071"/>
            <a:ext cx="1197766" cy="202320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9525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Rectangle 25"/>
          <p:cNvSpPr>
            <a:spLocks noChangeArrowheads="1"/>
          </p:cNvSpPr>
          <p:nvPr/>
        </p:nvSpPr>
        <p:spPr bwMode="auto">
          <a:xfrm>
            <a:off x="6979579" y="1430043"/>
            <a:ext cx="1096054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smtClean="0">
                <a:latin typeface="Times New Roman" pitchFamily="16" charset="0"/>
              </a:rPr>
              <a:t>Excited state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6876256" y="116632"/>
            <a:ext cx="2133600" cy="476250"/>
          </a:xfrm>
          <a:prstGeom prst="rect">
            <a:avLst/>
          </a:prstGeom>
        </p:spPr>
        <p:txBody>
          <a:bodyPr/>
          <a:lstStyle/>
          <a:p>
            <a:fld id="{00A1E3D8-1268-4984-845E-C355E0F1E934}" type="slidenum">
              <a:rPr lang="fr-FR" smtClean="0"/>
              <a:pPr/>
              <a:t>10</a:t>
            </a:fld>
            <a:r>
              <a:rPr lang="fr-FR" smtClean="0"/>
              <a:t>/54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88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873</Words>
  <Application>Microsoft Office PowerPoint</Application>
  <PresentationFormat>Affichage à l'écran (4:3)</PresentationFormat>
  <Paragraphs>210</Paragraphs>
  <Slides>10</Slides>
  <Notes>2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Thème Office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</cp:revision>
  <dcterms:created xsi:type="dcterms:W3CDTF">2018-01-12T17:35:13Z</dcterms:created>
  <dcterms:modified xsi:type="dcterms:W3CDTF">2018-01-12T17:36:38Z</dcterms:modified>
</cp:coreProperties>
</file>