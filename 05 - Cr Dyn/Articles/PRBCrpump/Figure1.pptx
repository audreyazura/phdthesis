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6858000" cy="9144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143" autoAdjust="0"/>
  </p:normalViewPr>
  <p:slideViewPr>
    <p:cSldViewPr>
      <p:cViewPr>
        <p:scale>
          <a:sx n="100" d="100"/>
          <a:sy n="100" d="100"/>
        </p:scale>
        <p:origin x="-2808" y="-2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6E01DE-34E9-49ED-964F-82AFB8FEED8D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003425" y="744538"/>
            <a:ext cx="27908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E696A-DA9E-4985-AB7B-8E4E527A918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7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E696A-DA9E-4985-AB7B-8E4E527A91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16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891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272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5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937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724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8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70" y="2046818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70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05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83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37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1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8" y="364068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1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88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233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708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4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4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02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FF63-9793-40E2-8DBC-13016F069603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113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46" b="1636"/>
          <a:stretch/>
        </p:blipFill>
        <p:spPr bwMode="auto">
          <a:xfrm>
            <a:off x="44624" y="116796"/>
            <a:ext cx="3384550" cy="3751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" name="ZoneTexte 64"/>
          <p:cNvSpPr txBox="1"/>
          <p:nvPr/>
        </p:nvSpPr>
        <p:spPr>
          <a:xfrm>
            <a:off x="3429000" y="3549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ZoneTexte 63"/>
          <p:cNvSpPr txBox="1"/>
          <p:nvPr/>
        </p:nvSpPr>
        <p:spPr>
          <a:xfrm>
            <a:off x="-27384" y="3549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Line 2"/>
          <p:cNvSpPr>
            <a:spLocks noChangeShapeType="1"/>
          </p:cNvSpPr>
          <p:nvPr/>
        </p:nvSpPr>
        <p:spPr bwMode="auto">
          <a:xfrm>
            <a:off x="5885163" y="4037593"/>
            <a:ext cx="159810" cy="1222"/>
          </a:xfrm>
          <a:prstGeom prst="line">
            <a:avLst/>
          </a:prstGeom>
          <a:noFill/>
          <a:ln w="2844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4841567" y="4037593"/>
            <a:ext cx="159810" cy="1222"/>
          </a:xfrm>
          <a:prstGeom prst="line">
            <a:avLst/>
          </a:prstGeom>
          <a:noFill/>
          <a:ln w="2844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219076" y="44788"/>
            <a:ext cx="432819" cy="332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5527" tIns="42764" rIns="85527" bIns="42764">
            <a:spAutoFit/>
          </a:bodyPr>
          <a:lstStyle/>
          <a:p>
            <a:pPr hangingPunct="1">
              <a:lnSpc>
                <a:spcPct val="100000"/>
              </a:lnSpc>
              <a:tabLst>
                <a:tab pos="426935" algn="l"/>
              </a:tabLst>
            </a:pPr>
            <a:r>
              <a:rPr lang="en-GB" sz="1600" dirty="0">
                <a:solidFill>
                  <a:srgbClr val="000000"/>
                </a:solidFill>
                <a:latin typeface="Times New Roman" pitchFamily="16" charset="0"/>
              </a:rPr>
              <a:t>E</a:t>
            </a: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 flipV="1">
            <a:off x="4212364" y="3188401"/>
            <a:ext cx="0" cy="2147292"/>
          </a:xfrm>
          <a:prstGeom prst="line">
            <a:avLst/>
          </a:prstGeom>
          <a:noFill/>
          <a:ln w="1260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155138" y="1879309"/>
            <a:ext cx="734598" cy="269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5527" tIns="42764" rIns="85527" bIns="42764">
            <a:spAutoFit/>
          </a:bodyPr>
          <a:lstStyle/>
          <a:p>
            <a:pPr algn="ctr" hangingPunct="1">
              <a:lnSpc>
                <a:spcPct val="100000"/>
              </a:lnSpc>
              <a:spcBef>
                <a:spcPts val="760"/>
              </a:spcBef>
              <a:tabLst>
                <a:tab pos="426935" algn="l"/>
                <a:tab pos="853868" algn="l"/>
              </a:tabLst>
            </a:pPr>
            <a:r>
              <a:rPr lang="en-GB" sz="1500" dirty="0">
                <a:solidFill>
                  <a:srgbClr val="FF0000"/>
                </a:solidFill>
                <a:latin typeface="Symbol" charset="2"/>
              </a:rPr>
              <a:t>  s-</a:t>
            </a:r>
          </a:p>
        </p:txBody>
      </p:sp>
      <p:sp>
        <p:nvSpPr>
          <p:cNvPr id="16" name="Line 34"/>
          <p:cNvSpPr>
            <a:spLocks noChangeShapeType="1"/>
          </p:cNvSpPr>
          <p:nvPr/>
        </p:nvSpPr>
        <p:spPr bwMode="auto">
          <a:xfrm flipV="1">
            <a:off x="4126874" y="1685825"/>
            <a:ext cx="186243" cy="2265"/>
          </a:xfrm>
          <a:prstGeom prst="line">
            <a:avLst/>
          </a:prstGeom>
          <a:noFill/>
          <a:ln w="2844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17" name="Line 35"/>
          <p:cNvSpPr>
            <a:spLocks noChangeShapeType="1"/>
          </p:cNvSpPr>
          <p:nvPr/>
        </p:nvSpPr>
        <p:spPr bwMode="auto">
          <a:xfrm flipV="1">
            <a:off x="4304356" y="962022"/>
            <a:ext cx="506572" cy="735542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20" name="Line 38"/>
          <p:cNvSpPr>
            <a:spLocks noChangeShapeType="1"/>
          </p:cNvSpPr>
          <p:nvPr/>
        </p:nvSpPr>
        <p:spPr bwMode="auto">
          <a:xfrm flipV="1">
            <a:off x="4313118" y="1302023"/>
            <a:ext cx="497810" cy="383802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21" name="Line 39"/>
          <p:cNvSpPr>
            <a:spLocks noChangeShapeType="1"/>
          </p:cNvSpPr>
          <p:nvPr/>
        </p:nvSpPr>
        <p:spPr bwMode="auto">
          <a:xfrm>
            <a:off x="4304353" y="1691320"/>
            <a:ext cx="1053860" cy="6244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22" name="Rectangle 40"/>
          <p:cNvSpPr>
            <a:spLocks noChangeArrowheads="1"/>
          </p:cNvSpPr>
          <p:nvPr/>
        </p:nvSpPr>
        <p:spPr bwMode="auto">
          <a:xfrm>
            <a:off x="3645851" y="1519269"/>
            <a:ext cx="533401" cy="332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pPr hangingPunct="1">
              <a:lnSpc>
                <a:spcPct val="100000"/>
              </a:lnSpc>
              <a:tabLst>
                <a:tab pos="426935" algn="l"/>
              </a:tabLst>
            </a:pPr>
            <a:r>
              <a:rPr lang="en-GB" sz="1600" dirty="0" smtClean="0">
                <a:solidFill>
                  <a:srgbClr val="000000"/>
                </a:solidFill>
              </a:rPr>
              <a:t>I±1&gt;</a:t>
            </a:r>
            <a:endParaRPr lang="en-GB" sz="1600" dirty="0">
              <a:solidFill>
                <a:srgbClr val="000000"/>
              </a:solidFill>
            </a:endParaRPr>
          </a:p>
        </p:txBody>
      </p:sp>
      <p:sp>
        <p:nvSpPr>
          <p:cNvPr id="23" name="Line 52"/>
          <p:cNvSpPr>
            <a:spLocks noChangeShapeType="1"/>
          </p:cNvSpPr>
          <p:nvPr/>
        </p:nvSpPr>
        <p:spPr bwMode="auto">
          <a:xfrm>
            <a:off x="5872894" y="968940"/>
            <a:ext cx="162882" cy="0"/>
          </a:xfrm>
          <a:prstGeom prst="line">
            <a:avLst/>
          </a:prstGeom>
          <a:noFill/>
          <a:ln w="25560" cap="flat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24" name="Line 53"/>
          <p:cNvSpPr>
            <a:spLocks noChangeShapeType="1"/>
          </p:cNvSpPr>
          <p:nvPr/>
        </p:nvSpPr>
        <p:spPr bwMode="auto">
          <a:xfrm>
            <a:off x="5371198" y="1746877"/>
            <a:ext cx="159810" cy="1222"/>
          </a:xfrm>
          <a:prstGeom prst="line">
            <a:avLst/>
          </a:prstGeom>
          <a:noFill/>
          <a:ln w="25560" cap="flat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25" name="Line 54"/>
          <p:cNvSpPr>
            <a:spLocks noChangeShapeType="1"/>
          </p:cNvSpPr>
          <p:nvPr/>
        </p:nvSpPr>
        <p:spPr bwMode="auto">
          <a:xfrm>
            <a:off x="4853366" y="1302023"/>
            <a:ext cx="159810" cy="1222"/>
          </a:xfrm>
          <a:prstGeom prst="line">
            <a:avLst/>
          </a:prstGeom>
          <a:noFill/>
          <a:ln w="25560" cap="flat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28" name="Line 58"/>
          <p:cNvSpPr>
            <a:spLocks noChangeShapeType="1"/>
          </p:cNvSpPr>
          <p:nvPr/>
        </p:nvSpPr>
        <p:spPr bwMode="auto">
          <a:xfrm>
            <a:off x="4854698" y="972371"/>
            <a:ext cx="158478" cy="0"/>
          </a:xfrm>
          <a:prstGeom prst="line">
            <a:avLst/>
          </a:prstGeom>
          <a:noFill/>
          <a:ln w="25560" cap="flat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29" name="Line 59"/>
          <p:cNvSpPr>
            <a:spLocks noChangeShapeType="1"/>
          </p:cNvSpPr>
          <p:nvPr/>
        </p:nvSpPr>
        <p:spPr bwMode="auto">
          <a:xfrm>
            <a:off x="5372530" y="1615789"/>
            <a:ext cx="158478" cy="0"/>
          </a:xfrm>
          <a:prstGeom prst="line">
            <a:avLst/>
          </a:prstGeom>
          <a:noFill/>
          <a:ln w="25560" cap="flat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30" name="Line 60"/>
          <p:cNvSpPr>
            <a:spLocks noChangeShapeType="1"/>
          </p:cNvSpPr>
          <p:nvPr/>
        </p:nvSpPr>
        <p:spPr bwMode="auto">
          <a:xfrm>
            <a:off x="5877298" y="1303245"/>
            <a:ext cx="158478" cy="0"/>
          </a:xfrm>
          <a:prstGeom prst="line">
            <a:avLst/>
          </a:prstGeom>
          <a:noFill/>
          <a:ln w="25560" cap="flat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32" name="Line 67"/>
          <p:cNvSpPr>
            <a:spLocks noChangeShapeType="1"/>
          </p:cNvSpPr>
          <p:nvPr/>
        </p:nvSpPr>
        <p:spPr bwMode="auto">
          <a:xfrm>
            <a:off x="5163997" y="977073"/>
            <a:ext cx="627035" cy="0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36" name="Rectangle 71"/>
          <p:cNvSpPr>
            <a:spLocks noChangeArrowheads="1"/>
          </p:cNvSpPr>
          <p:nvPr/>
        </p:nvSpPr>
        <p:spPr bwMode="auto">
          <a:xfrm>
            <a:off x="4677643" y="583165"/>
            <a:ext cx="493325" cy="332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pPr hangingPunct="1">
              <a:lnSpc>
                <a:spcPct val="100000"/>
              </a:lnSpc>
              <a:tabLst>
                <a:tab pos="426935" algn="l"/>
              </a:tabLst>
            </a:pPr>
            <a:r>
              <a:rPr lang="en-GB" sz="1600" dirty="0" smtClean="0">
                <a:solidFill>
                  <a:srgbClr val="FF0000"/>
                </a:solidFill>
                <a:latin typeface="Calibri" charset="0"/>
              </a:rPr>
              <a:t>I-1&gt;</a:t>
            </a:r>
            <a:endParaRPr lang="en-GB" sz="1600" dirty="0">
              <a:solidFill>
                <a:srgbClr val="FF0000"/>
              </a:solidFill>
              <a:latin typeface="Calibri" charset="0"/>
            </a:endParaRPr>
          </a:p>
        </p:txBody>
      </p:sp>
      <p:sp>
        <p:nvSpPr>
          <p:cNvPr id="37" name="Rectangle 72"/>
          <p:cNvSpPr>
            <a:spLocks noChangeArrowheads="1"/>
          </p:cNvSpPr>
          <p:nvPr/>
        </p:nvSpPr>
        <p:spPr bwMode="auto">
          <a:xfrm>
            <a:off x="5767540" y="583165"/>
            <a:ext cx="533401" cy="332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pPr hangingPunct="1">
              <a:lnSpc>
                <a:spcPct val="100000"/>
              </a:lnSpc>
              <a:tabLst>
                <a:tab pos="426935" algn="l"/>
              </a:tabLst>
            </a:pPr>
            <a:r>
              <a:rPr lang="en-GB" sz="1600" dirty="0">
                <a:solidFill>
                  <a:srgbClr val="0033CC"/>
                </a:solidFill>
                <a:latin typeface="Calibri" charset="0"/>
              </a:rPr>
              <a:t>I+1&gt;</a:t>
            </a:r>
          </a:p>
        </p:txBody>
      </p:sp>
      <p:sp>
        <p:nvSpPr>
          <p:cNvPr id="39" name="Line 3"/>
          <p:cNvSpPr>
            <a:spLocks noChangeShapeType="1"/>
          </p:cNvSpPr>
          <p:nvPr/>
        </p:nvSpPr>
        <p:spPr bwMode="auto">
          <a:xfrm>
            <a:off x="5358213" y="4573224"/>
            <a:ext cx="172795" cy="0"/>
          </a:xfrm>
          <a:prstGeom prst="line">
            <a:avLst/>
          </a:prstGeom>
          <a:noFill/>
          <a:ln w="2844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40" name="Forme libre 10"/>
          <p:cNvSpPr>
            <a:spLocks/>
          </p:cNvSpPr>
          <p:nvPr/>
        </p:nvSpPr>
        <p:spPr bwMode="auto">
          <a:xfrm>
            <a:off x="4095493" y="3041982"/>
            <a:ext cx="209731" cy="138578"/>
          </a:xfrm>
          <a:custGeom>
            <a:avLst/>
            <a:gdLst>
              <a:gd name="T0" fmla="*/ 0 w 283029"/>
              <a:gd name="T1" fmla="*/ 68942 h 174171"/>
              <a:gd name="T2" fmla="*/ 108857 w 283029"/>
              <a:gd name="T3" fmla="*/ 14514 h 174171"/>
              <a:gd name="T4" fmla="*/ 206829 w 283029"/>
              <a:gd name="T5" fmla="*/ 156028 h 174171"/>
              <a:gd name="T6" fmla="*/ 283029 w 283029"/>
              <a:gd name="T7" fmla="*/ 123371 h 17417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83029" h="174171">
                <a:moveTo>
                  <a:pt x="0" y="68942"/>
                </a:moveTo>
                <a:cubicBezTo>
                  <a:pt x="37193" y="34471"/>
                  <a:pt x="74386" y="0"/>
                  <a:pt x="108857" y="14514"/>
                </a:cubicBezTo>
                <a:cubicBezTo>
                  <a:pt x="143328" y="29028"/>
                  <a:pt x="177800" y="137885"/>
                  <a:pt x="206829" y="156028"/>
                </a:cubicBezTo>
                <a:cubicBezTo>
                  <a:pt x="235858" y="174171"/>
                  <a:pt x="259443" y="148771"/>
                  <a:pt x="283029" y="123371"/>
                </a:cubicBez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41" name="Forme libre 11"/>
          <p:cNvSpPr>
            <a:spLocks/>
          </p:cNvSpPr>
          <p:nvPr/>
        </p:nvSpPr>
        <p:spPr bwMode="auto">
          <a:xfrm>
            <a:off x="4089927" y="3113990"/>
            <a:ext cx="209731" cy="137319"/>
          </a:xfrm>
          <a:custGeom>
            <a:avLst/>
            <a:gdLst>
              <a:gd name="T0" fmla="*/ 0 w 283029"/>
              <a:gd name="T1" fmla="*/ 68942 h 174171"/>
              <a:gd name="T2" fmla="*/ 108857 w 283029"/>
              <a:gd name="T3" fmla="*/ 14514 h 174171"/>
              <a:gd name="T4" fmla="*/ 206829 w 283029"/>
              <a:gd name="T5" fmla="*/ 156028 h 174171"/>
              <a:gd name="T6" fmla="*/ 283029 w 283029"/>
              <a:gd name="T7" fmla="*/ 123371 h 17417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83029" h="174171">
                <a:moveTo>
                  <a:pt x="0" y="68942"/>
                </a:moveTo>
                <a:cubicBezTo>
                  <a:pt x="37193" y="34471"/>
                  <a:pt x="74386" y="0"/>
                  <a:pt x="108857" y="14514"/>
                </a:cubicBezTo>
                <a:cubicBezTo>
                  <a:pt x="143328" y="29028"/>
                  <a:pt x="177800" y="137885"/>
                  <a:pt x="206829" y="156028"/>
                </a:cubicBezTo>
                <a:cubicBezTo>
                  <a:pt x="235858" y="174171"/>
                  <a:pt x="259443" y="148771"/>
                  <a:pt x="283029" y="123371"/>
                </a:cubicBez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43" name="Rectangle 25"/>
          <p:cNvSpPr>
            <a:spLocks noChangeArrowheads="1"/>
          </p:cNvSpPr>
          <p:nvPr/>
        </p:nvSpPr>
        <p:spPr bwMode="auto">
          <a:xfrm>
            <a:off x="5791248" y="4850197"/>
            <a:ext cx="531848" cy="256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r>
              <a:rPr lang="en-GB" sz="1400" dirty="0" err="1">
                <a:latin typeface="Times New Roman" pitchFamily="16" charset="0"/>
              </a:rPr>
              <a:t>S</a:t>
            </a:r>
            <a:r>
              <a:rPr lang="en-GB" sz="1400" baseline="-25000" dirty="0" err="1">
                <a:latin typeface="Times New Roman" pitchFamily="16" charset="0"/>
              </a:rPr>
              <a:t>z</a:t>
            </a:r>
            <a:r>
              <a:rPr lang="en-GB" sz="1400" dirty="0" smtClean="0">
                <a:latin typeface="Times New Roman" pitchFamily="16" charset="0"/>
              </a:rPr>
              <a:t>=</a:t>
            </a:r>
            <a:r>
              <a:rPr lang="en-GB" sz="1400" i="1" dirty="0" smtClean="0">
                <a:latin typeface="Times New Roman" pitchFamily="16" charset="0"/>
              </a:rPr>
              <a:t>-</a:t>
            </a:r>
            <a:r>
              <a:rPr lang="en-GB" sz="1400" dirty="0" smtClean="0">
                <a:latin typeface="Times New Roman" pitchFamily="16" charset="0"/>
              </a:rPr>
              <a:t>1</a:t>
            </a:r>
            <a:endParaRPr lang="en-GB" sz="1400" dirty="0">
              <a:latin typeface="Times New Roman" pitchFamily="16" charset="0"/>
            </a:endParaRPr>
          </a:p>
        </p:txBody>
      </p:sp>
      <p:sp>
        <p:nvSpPr>
          <p:cNvPr id="45" name="Line 10"/>
          <p:cNvSpPr>
            <a:spLocks noChangeShapeType="1"/>
          </p:cNvSpPr>
          <p:nvPr/>
        </p:nvSpPr>
        <p:spPr bwMode="auto">
          <a:xfrm flipV="1">
            <a:off x="4200358" y="138715"/>
            <a:ext cx="7754" cy="2935346"/>
          </a:xfrm>
          <a:prstGeom prst="line">
            <a:avLst/>
          </a:prstGeom>
          <a:noFill/>
          <a:ln w="12600" cap="flat">
            <a:solidFill>
              <a:srgbClr val="000000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47" name="Rectangle 11"/>
          <p:cNvSpPr>
            <a:spLocks noChangeArrowheads="1"/>
          </p:cNvSpPr>
          <p:nvPr/>
        </p:nvSpPr>
        <p:spPr bwMode="auto">
          <a:xfrm>
            <a:off x="4869160" y="2183453"/>
            <a:ext cx="556320" cy="317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5527" tIns="42764" rIns="85527" bIns="42764">
            <a:spAutoFit/>
          </a:bodyPr>
          <a:lstStyle/>
          <a:p>
            <a:pPr algn="ctr" hangingPunct="1">
              <a:lnSpc>
                <a:spcPct val="100000"/>
              </a:lnSpc>
              <a:spcBef>
                <a:spcPts val="760"/>
              </a:spcBef>
              <a:tabLst>
                <a:tab pos="426935" algn="l"/>
                <a:tab pos="853868" algn="l"/>
              </a:tabLst>
            </a:pPr>
            <a:r>
              <a:rPr lang="en-GB" sz="1500" dirty="0">
                <a:solidFill>
                  <a:srgbClr val="FF0000"/>
                </a:solidFill>
                <a:latin typeface="Symbol" charset="2"/>
              </a:rPr>
              <a:t>  </a:t>
            </a:r>
            <a:r>
              <a:rPr lang="en-GB" sz="1500" dirty="0" smtClean="0">
                <a:solidFill>
                  <a:srgbClr val="0033CC"/>
                </a:solidFill>
                <a:latin typeface="Symbol" charset="2"/>
              </a:rPr>
              <a:t>s+</a:t>
            </a:r>
            <a:endParaRPr lang="en-GB" sz="1500" dirty="0">
              <a:solidFill>
                <a:srgbClr val="0033CC"/>
              </a:solidFill>
              <a:latin typeface="Symbol" charset="2"/>
            </a:endParaRPr>
          </a:p>
        </p:txBody>
      </p:sp>
      <p:sp>
        <p:nvSpPr>
          <p:cNvPr id="51" name="Rectangle 24"/>
          <p:cNvSpPr>
            <a:spLocks noChangeArrowheads="1"/>
          </p:cNvSpPr>
          <p:nvPr/>
        </p:nvSpPr>
        <p:spPr bwMode="auto">
          <a:xfrm>
            <a:off x="5241943" y="4850197"/>
            <a:ext cx="476995" cy="256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r>
              <a:rPr lang="en-GB" sz="1400" dirty="0" err="1">
                <a:latin typeface="Times New Roman" pitchFamily="16" charset="0"/>
              </a:rPr>
              <a:t>S</a:t>
            </a:r>
            <a:r>
              <a:rPr lang="en-GB" sz="1400" baseline="-25000" dirty="0" err="1">
                <a:latin typeface="Times New Roman" pitchFamily="16" charset="0"/>
              </a:rPr>
              <a:t>z</a:t>
            </a:r>
            <a:r>
              <a:rPr lang="en-GB" sz="1400" dirty="0">
                <a:latin typeface="Times New Roman" pitchFamily="16" charset="0"/>
              </a:rPr>
              <a:t>=0</a:t>
            </a:r>
          </a:p>
        </p:txBody>
      </p:sp>
      <p:sp>
        <p:nvSpPr>
          <p:cNvPr id="56" name="Rectangle 25"/>
          <p:cNvSpPr>
            <a:spLocks noChangeArrowheads="1"/>
          </p:cNvSpPr>
          <p:nvPr/>
        </p:nvSpPr>
        <p:spPr bwMode="auto">
          <a:xfrm>
            <a:off x="4594904" y="4850196"/>
            <a:ext cx="637595" cy="301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r>
              <a:rPr lang="en-GB" sz="1400" dirty="0" err="1" smtClean="0">
                <a:latin typeface="Times New Roman" pitchFamily="16" charset="0"/>
              </a:rPr>
              <a:t>S</a:t>
            </a:r>
            <a:r>
              <a:rPr lang="en-GB" sz="1400" baseline="-25000" dirty="0" err="1" smtClean="0">
                <a:latin typeface="Times New Roman" pitchFamily="16" charset="0"/>
              </a:rPr>
              <a:t>z</a:t>
            </a:r>
            <a:r>
              <a:rPr lang="en-GB" sz="1400" dirty="0" smtClean="0">
                <a:latin typeface="Times New Roman" pitchFamily="16" charset="0"/>
              </a:rPr>
              <a:t>=</a:t>
            </a:r>
            <a:r>
              <a:rPr lang="en-GB" sz="1400" dirty="0">
                <a:latin typeface="Times New Roman" pitchFamily="16" charset="0"/>
              </a:rPr>
              <a:t>+</a:t>
            </a:r>
            <a:r>
              <a:rPr lang="en-GB" sz="1400" dirty="0" smtClean="0">
                <a:latin typeface="Times New Roman" pitchFamily="16" charset="0"/>
              </a:rPr>
              <a:t>1</a:t>
            </a:r>
            <a:endParaRPr lang="en-GB" sz="1400" dirty="0">
              <a:latin typeface="Times New Roman" pitchFamily="16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3741093" y="3868391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fr-FR" sz="1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ZoneTexte 70"/>
          <p:cNvSpPr txBox="1"/>
          <p:nvPr/>
        </p:nvSpPr>
        <p:spPr>
          <a:xfrm>
            <a:off x="3845636" y="4415844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Rectangle 13"/>
          <p:cNvSpPr>
            <a:spLocks noChangeArrowheads="1"/>
          </p:cNvSpPr>
          <p:nvPr/>
        </p:nvSpPr>
        <p:spPr bwMode="auto">
          <a:xfrm rot="16200000">
            <a:off x="2944848" y="1237365"/>
            <a:ext cx="982080" cy="301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5527" tIns="42764" rIns="85527" bIns="42764">
            <a:spAutoFit/>
          </a:bodyPr>
          <a:lstStyle/>
          <a:p>
            <a:pPr algn="ctr" hangingPunct="1">
              <a:lnSpc>
                <a:spcPct val="100000"/>
              </a:lnSpc>
              <a:tabLst>
                <a:tab pos="426935" algn="l"/>
                <a:tab pos="853868" algn="l"/>
              </a:tabLst>
            </a:pPr>
            <a:r>
              <a:rPr lang="en-GB" sz="1400" dirty="0" smtClean="0">
                <a:solidFill>
                  <a:srgbClr val="000000"/>
                </a:solidFill>
                <a:latin typeface="Times New Roman" pitchFamily="16" charset="0"/>
              </a:rPr>
              <a:t>X-Cr</a:t>
            </a:r>
            <a:endParaRPr lang="en-GB" sz="1400" dirty="0">
              <a:solidFill>
                <a:srgbClr val="000000"/>
              </a:solidFill>
              <a:latin typeface="Times New Roman" pitchFamily="16" charset="0"/>
            </a:endParaRPr>
          </a:p>
        </p:txBody>
      </p:sp>
      <p:sp>
        <p:nvSpPr>
          <p:cNvPr id="85" name="Rectangle 73"/>
          <p:cNvSpPr>
            <a:spLocks noChangeArrowheads="1"/>
          </p:cNvSpPr>
          <p:nvPr/>
        </p:nvSpPr>
        <p:spPr bwMode="auto">
          <a:xfrm rot="16200000">
            <a:off x="3016856" y="4162551"/>
            <a:ext cx="982080" cy="301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5527" tIns="42764" rIns="85527" bIns="42764">
            <a:spAutoFit/>
          </a:bodyPr>
          <a:lstStyle/>
          <a:p>
            <a:pPr algn="ctr" hangingPunct="1">
              <a:lnSpc>
                <a:spcPct val="100000"/>
              </a:lnSpc>
              <a:tabLst>
                <a:tab pos="426935" algn="l"/>
                <a:tab pos="853868" algn="l"/>
              </a:tabLst>
            </a:pPr>
            <a:r>
              <a:rPr lang="en-GB" sz="1400" dirty="0">
                <a:solidFill>
                  <a:srgbClr val="000000"/>
                </a:solidFill>
                <a:latin typeface="Times New Roman" pitchFamily="16" charset="0"/>
              </a:rPr>
              <a:t>Cr</a:t>
            </a:r>
          </a:p>
        </p:txBody>
      </p:sp>
      <p:sp>
        <p:nvSpPr>
          <p:cNvPr id="72" name="Accolade ouvrante 71"/>
          <p:cNvSpPr/>
          <p:nvPr/>
        </p:nvSpPr>
        <p:spPr>
          <a:xfrm>
            <a:off x="3573016" y="915749"/>
            <a:ext cx="117984" cy="945118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Accolade ouvrante 86"/>
          <p:cNvSpPr/>
          <p:nvPr/>
        </p:nvSpPr>
        <p:spPr>
          <a:xfrm>
            <a:off x="3645024" y="3868391"/>
            <a:ext cx="117983" cy="83110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965068" y="2010858"/>
            <a:ext cx="220956" cy="130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Connecteur droit avec flèche 75"/>
          <p:cNvCxnSpPr/>
          <p:nvPr/>
        </p:nvCxnSpPr>
        <p:spPr>
          <a:xfrm flipV="1">
            <a:off x="4869160" y="1033758"/>
            <a:ext cx="0" cy="2933783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7" name="Connecteur droit avec flèche 76"/>
          <p:cNvCxnSpPr/>
          <p:nvPr/>
        </p:nvCxnSpPr>
        <p:spPr>
          <a:xfrm>
            <a:off x="5519226" y="1655871"/>
            <a:ext cx="0" cy="2815726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8" name="Connecteur droit avec flèche 77"/>
          <p:cNvCxnSpPr/>
          <p:nvPr/>
        </p:nvCxnSpPr>
        <p:spPr>
          <a:xfrm flipH="1">
            <a:off x="5399485" y="1780214"/>
            <a:ext cx="14967" cy="269138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avec flèche 85"/>
          <p:cNvCxnSpPr/>
          <p:nvPr/>
        </p:nvCxnSpPr>
        <p:spPr>
          <a:xfrm>
            <a:off x="5001377" y="1385506"/>
            <a:ext cx="0" cy="2582035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Line 39"/>
          <p:cNvSpPr>
            <a:spLocks noChangeShapeType="1"/>
          </p:cNvSpPr>
          <p:nvPr/>
        </p:nvSpPr>
        <p:spPr bwMode="auto">
          <a:xfrm flipV="1">
            <a:off x="4126875" y="4022279"/>
            <a:ext cx="684053" cy="11316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88" name="Line 39"/>
          <p:cNvSpPr>
            <a:spLocks noChangeShapeType="1"/>
          </p:cNvSpPr>
          <p:nvPr/>
        </p:nvSpPr>
        <p:spPr bwMode="auto">
          <a:xfrm flipV="1">
            <a:off x="4105213" y="4580528"/>
            <a:ext cx="1137763" cy="0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92" name="Rectangle 11"/>
          <p:cNvSpPr>
            <a:spLocks noChangeArrowheads="1"/>
          </p:cNvSpPr>
          <p:nvPr/>
        </p:nvSpPr>
        <p:spPr bwMode="auto">
          <a:xfrm>
            <a:off x="5337468" y="3130901"/>
            <a:ext cx="504056" cy="332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5527" tIns="42764" rIns="85527" bIns="42764">
            <a:spAutoFit/>
          </a:bodyPr>
          <a:lstStyle/>
          <a:p>
            <a:pPr algn="ctr" hangingPunct="1">
              <a:lnSpc>
                <a:spcPct val="100000"/>
              </a:lnSpc>
              <a:spcBef>
                <a:spcPts val="760"/>
              </a:spcBef>
              <a:tabLst>
                <a:tab pos="426935" algn="l"/>
                <a:tab pos="853868" algn="l"/>
              </a:tabLst>
            </a:pPr>
            <a:r>
              <a:rPr lang="en-GB" sz="1600" dirty="0">
                <a:solidFill>
                  <a:srgbClr val="00B050"/>
                </a:solidFill>
                <a:latin typeface="Symbol" charset="2"/>
              </a:rPr>
              <a:t>  </a:t>
            </a:r>
            <a:r>
              <a:rPr lang="en-GB" sz="1600" dirty="0" err="1" smtClean="0">
                <a:solidFill>
                  <a:srgbClr val="00B050"/>
                </a:solidFill>
                <a:latin typeface="Symbol" charset="2"/>
              </a:rPr>
              <a:t>p</a:t>
            </a:r>
            <a:r>
              <a:rPr lang="en-GB" sz="1600" baseline="-25000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GB" sz="1600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Rectangle 11"/>
          <p:cNvSpPr>
            <a:spLocks noChangeArrowheads="1"/>
          </p:cNvSpPr>
          <p:nvPr/>
        </p:nvSpPr>
        <p:spPr bwMode="auto">
          <a:xfrm>
            <a:off x="4952434" y="3130901"/>
            <a:ext cx="504056" cy="332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5527" tIns="42764" rIns="85527" bIns="42764">
            <a:spAutoFit/>
          </a:bodyPr>
          <a:lstStyle/>
          <a:p>
            <a:pPr algn="ctr" hangingPunct="1">
              <a:lnSpc>
                <a:spcPct val="100000"/>
              </a:lnSpc>
              <a:spcBef>
                <a:spcPts val="760"/>
              </a:spcBef>
              <a:tabLst>
                <a:tab pos="426935" algn="l"/>
                <a:tab pos="853868" algn="l"/>
              </a:tabLst>
            </a:pPr>
            <a:r>
              <a:rPr lang="en-GB" sz="1600" dirty="0">
                <a:solidFill>
                  <a:srgbClr val="00B050"/>
                </a:solidFill>
                <a:latin typeface="Symbol" charset="2"/>
              </a:rPr>
              <a:t>  </a:t>
            </a:r>
            <a:r>
              <a:rPr lang="en-GB" sz="1600" dirty="0" err="1" smtClean="0">
                <a:latin typeface="Symbol" charset="2"/>
              </a:rPr>
              <a:t>p</a:t>
            </a:r>
            <a:r>
              <a:rPr lang="en-GB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GB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089927" y="2076000"/>
            <a:ext cx="215297" cy="3073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utoShape 12"/>
          <p:cNvSpPr>
            <a:spLocks/>
          </p:cNvSpPr>
          <p:nvPr/>
        </p:nvSpPr>
        <p:spPr bwMode="auto">
          <a:xfrm>
            <a:off x="4163889" y="2172470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19050" cap="flat">
            <a:solidFill>
              <a:srgbClr val="FF0000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sp>
        <p:nvSpPr>
          <p:cNvPr id="60" name="Rectangle 59"/>
          <p:cNvSpPr/>
          <p:nvPr/>
        </p:nvSpPr>
        <p:spPr>
          <a:xfrm>
            <a:off x="5358213" y="2409930"/>
            <a:ext cx="215297" cy="3073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utoShape 12"/>
          <p:cNvSpPr>
            <a:spLocks/>
          </p:cNvSpPr>
          <p:nvPr/>
        </p:nvSpPr>
        <p:spPr bwMode="auto">
          <a:xfrm>
            <a:off x="5051167" y="2500649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19050" cap="flat">
            <a:solidFill>
              <a:srgbClr val="0066CC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sp>
        <p:nvSpPr>
          <p:cNvPr id="53" name="Freeform 88"/>
          <p:cNvSpPr>
            <a:spLocks/>
          </p:cNvSpPr>
          <p:nvPr/>
        </p:nvSpPr>
        <p:spPr bwMode="auto">
          <a:xfrm rot="5572355" flipH="1">
            <a:off x="4935385" y="1083841"/>
            <a:ext cx="319769" cy="111411"/>
          </a:xfrm>
          <a:custGeom>
            <a:avLst/>
            <a:gdLst>
              <a:gd name="T0" fmla="*/ 0 w 590"/>
              <a:gd name="T1" fmla="*/ 90 h 90"/>
              <a:gd name="T2" fmla="*/ 272 w 590"/>
              <a:gd name="T3" fmla="*/ 0 h 90"/>
              <a:gd name="T4" fmla="*/ 590 w 590"/>
              <a:gd name="T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90" h="90">
                <a:moveTo>
                  <a:pt x="0" y="90"/>
                </a:moveTo>
                <a:cubicBezTo>
                  <a:pt x="87" y="45"/>
                  <a:pt x="174" y="0"/>
                  <a:pt x="272" y="0"/>
                </a:cubicBezTo>
                <a:cubicBezTo>
                  <a:pt x="370" y="0"/>
                  <a:pt x="537" y="75"/>
                  <a:pt x="590" y="90"/>
                </a:cubicBezTo>
              </a:path>
            </a:pathLst>
          </a:custGeom>
          <a:noFill/>
          <a:ln w="19050">
            <a:solidFill>
              <a:srgbClr val="009900"/>
            </a:solidFill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2"/>
          <a:stretch/>
        </p:blipFill>
        <p:spPr bwMode="auto">
          <a:xfrm>
            <a:off x="65062" y="3861212"/>
            <a:ext cx="3291930" cy="1622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" name="ZoneTexte 78"/>
          <p:cNvSpPr txBox="1"/>
          <p:nvPr/>
        </p:nvSpPr>
        <p:spPr>
          <a:xfrm>
            <a:off x="-49306" y="371719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Line 67"/>
          <p:cNvSpPr>
            <a:spLocks noChangeShapeType="1"/>
          </p:cNvSpPr>
          <p:nvPr/>
        </p:nvSpPr>
        <p:spPr bwMode="auto">
          <a:xfrm>
            <a:off x="5163997" y="1317640"/>
            <a:ext cx="627035" cy="0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632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</TotalTime>
  <Words>37</Words>
  <Application>Microsoft Office PowerPoint</Application>
  <PresentationFormat>Affichage à l'écran (4:3)</PresentationFormat>
  <Paragraphs>19</Paragraphs>
  <Slides>1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lucien.besombes</cp:lastModifiedBy>
  <cp:revision>80</cp:revision>
  <cp:lastPrinted>2016-06-10T07:15:04Z</cp:lastPrinted>
  <dcterms:created xsi:type="dcterms:W3CDTF">2015-11-02T14:28:12Z</dcterms:created>
  <dcterms:modified xsi:type="dcterms:W3CDTF">2016-07-13T09:29:18Z</dcterms:modified>
</cp:coreProperties>
</file>