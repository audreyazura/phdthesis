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480175" cy="4679950"/>
  <p:notesSz cx="6858000" cy="9144000"/>
  <p:defaultTextStyle>
    <a:defPPr>
      <a:defRPr lang="fr-FR"/>
    </a:defPPr>
    <a:lvl1pPr marL="0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318851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637703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956554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275405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1594256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1913108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2231959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2550810" algn="l" defTabSz="637703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-1014" y="-78"/>
      </p:cViewPr>
      <p:guideLst>
        <p:guide orient="horz" pos="1474"/>
        <p:guide pos="20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86013" y="1453818"/>
            <a:ext cx="5508149" cy="100315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72027" y="2651972"/>
            <a:ext cx="4536123" cy="119598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188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377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565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754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942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9131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2319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550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7755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3803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1890" y="3007302"/>
            <a:ext cx="5508149" cy="929490"/>
          </a:xfrm>
        </p:spPr>
        <p:txBody>
          <a:bodyPr anchor="t"/>
          <a:lstStyle>
            <a:lvl1pPr algn="l">
              <a:defRPr sz="2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1890" y="1983563"/>
            <a:ext cx="5508149" cy="1023739"/>
          </a:xfrm>
        </p:spPr>
        <p:txBody>
          <a:bodyPr anchor="b"/>
          <a:lstStyle>
            <a:lvl1pPr marL="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318851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63770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3pPr>
            <a:lvl4pPr marL="956554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4pPr>
            <a:lvl5pPr marL="1275405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5pPr>
            <a:lvl6pPr marL="1594256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6pPr>
            <a:lvl7pPr marL="1913108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7pPr>
            <a:lvl8pPr marL="2231959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8pPr>
            <a:lvl9pPr marL="255081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2688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65381" y="1031323"/>
            <a:ext cx="1438913" cy="2918469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12297" y="1031323"/>
            <a:ext cx="1438915" cy="2918469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3510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010" y="187416"/>
            <a:ext cx="5832158" cy="779992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09" y="1047573"/>
            <a:ext cx="2863203" cy="436578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318851" indent="0">
              <a:buNone/>
              <a:defRPr sz="1400" b="1"/>
            </a:lvl2pPr>
            <a:lvl3pPr marL="637703" indent="0">
              <a:buNone/>
              <a:defRPr sz="1300" b="1"/>
            </a:lvl3pPr>
            <a:lvl4pPr marL="956554" indent="0">
              <a:buNone/>
              <a:defRPr sz="1100" b="1"/>
            </a:lvl4pPr>
            <a:lvl5pPr marL="1275405" indent="0">
              <a:buNone/>
              <a:defRPr sz="1100" b="1"/>
            </a:lvl5pPr>
            <a:lvl6pPr marL="1594256" indent="0">
              <a:buNone/>
              <a:defRPr sz="1100" b="1"/>
            </a:lvl6pPr>
            <a:lvl7pPr marL="1913108" indent="0">
              <a:buNone/>
              <a:defRPr sz="1100" b="1"/>
            </a:lvl7pPr>
            <a:lvl8pPr marL="2231959" indent="0">
              <a:buNone/>
              <a:defRPr sz="1100" b="1"/>
            </a:lvl8pPr>
            <a:lvl9pPr marL="2550810" indent="0">
              <a:buNone/>
              <a:defRPr sz="11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4009" y="1484152"/>
            <a:ext cx="2863203" cy="26963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291840" y="1047573"/>
            <a:ext cx="2864327" cy="436578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318851" indent="0">
              <a:buNone/>
              <a:defRPr sz="1400" b="1"/>
            </a:lvl2pPr>
            <a:lvl3pPr marL="637703" indent="0">
              <a:buNone/>
              <a:defRPr sz="1300" b="1"/>
            </a:lvl3pPr>
            <a:lvl4pPr marL="956554" indent="0">
              <a:buNone/>
              <a:defRPr sz="1100" b="1"/>
            </a:lvl4pPr>
            <a:lvl5pPr marL="1275405" indent="0">
              <a:buNone/>
              <a:defRPr sz="1100" b="1"/>
            </a:lvl5pPr>
            <a:lvl6pPr marL="1594256" indent="0">
              <a:buNone/>
              <a:defRPr sz="1100" b="1"/>
            </a:lvl6pPr>
            <a:lvl7pPr marL="1913108" indent="0">
              <a:buNone/>
              <a:defRPr sz="1100" b="1"/>
            </a:lvl7pPr>
            <a:lvl8pPr marL="2231959" indent="0">
              <a:buNone/>
              <a:defRPr sz="1100" b="1"/>
            </a:lvl8pPr>
            <a:lvl9pPr marL="2550810" indent="0">
              <a:buNone/>
              <a:defRPr sz="11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291840" y="1484152"/>
            <a:ext cx="2864327" cy="26963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557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2485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3325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010" y="186331"/>
            <a:ext cx="2131933" cy="792992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33568" y="186331"/>
            <a:ext cx="3622598" cy="3994208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24010" y="979323"/>
            <a:ext cx="2131933" cy="3201216"/>
          </a:xfrm>
        </p:spPr>
        <p:txBody>
          <a:bodyPr/>
          <a:lstStyle>
            <a:lvl1pPr marL="0" indent="0">
              <a:buNone/>
              <a:defRPr sz="1000"/>
            </a:lvl1pPr>
            <a:lvl2pPr marL="318851" indent="0">
              <a:buNone/>
              <a:defRPr sz="800"/>
            </a:lvl2pPr>
            <a:lvl3pPr marL="637703" indent="0">
              <a:buNone/>
              <a:defRPr sz="700"/>
            </a:lvl3pPr>
            <a:lvl4pPr marL="956554" indent="0">
              <a:buNone/>
              <a:defRPr sz="600"/>
            </a:lvl4pPr>
            <a:lvl5pPr marL="1275405" indent="0">
              <a:buNone/>
              <a:defRPr sz="600"/>
            </a:lvl5pPr>
            <a:lvl6pPr marL="1594256" indent="0">
              <a:buNone/>
              <a:defRPr sz="600"/>
            </a:lvl6pPr>
            <a:lvl7pPr marL="1913108" indent="0">
              <a:buNone/>
              <a:defRPr sz="600"/>
            </a:lvl7pPr>
            <a:lvl8pPr marL="2231959" indent="0">
              <a:buNone/>
              <a:defRPr sz="600"/>
            </a:lvl8pPr>
            <a:lvl9pPr marL="2550810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8944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0160" y="3275965"/>
            <a:ext cx="3888105" cy="386746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270160" y="418163"/>
            <a:ext cx="3888105" cy="2807970"/>
          </a:xfrm>
        </p:spPr>
        <p:txBody>
          <a:bodyPr/>
          <a:lstStyle>
            <a:lvl1pPr marL="0" indent="0">
              <a:buNone/>
              <a:defRPr sz="2200"/>
            </a:lvl1pPr>
            <a:lvl2pPr marL="318851" indent="0">
              <a:buNone/>
              <a:defRPr sz="2000"/>
            </a:lvl2pPr>
            <a:lvl3pPr marL="637703" indent="0">
              <a:buNone/>
              <a:defRPr sz="1700"/>
            </a:lvl3pPr>
            <a:lvl4pPr marL="956554" indent="0">
              <a:buNone/>
              <a:defRPr sz="1400"/>
            </a:lvl4pPr>
            <a:lvl5pPr marL="1275405" indent="0">
              <a:buNone/>
              <a:defRPr sz="1400"/>
            </a:lvl5pPr>
            <a:lvl6pPr marL="1594256" indent="0">
              <a:buNone/>
              <a:defRPr sz="1400"/>
            </a:lvl6pPr>
            <a:lvl7pPr marL="1913108" indent="0">
              <a:buNone/>
              <a:defRPr sz="1400"/>
            </a:lvl7pPr>
            <a:lvl8pPr marL="2231959" indent="0">
              <a:buNone/>
              <a:defRPr sz="1400"/>
            </a:lvl8pPr>
            <a:lvl9pPr marL="2550810" indent="0">
              <a:buNone/>
              <a:defRPr sz="14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270160" y="3662711"/>
            <a:ext cx="3888105" cy="549244"/>
          </a:xfrm>
        </p:spPr>
        <p:txBody>
          <a:bodyPr/>
          <a:lstStyle>
            <a:lvl1pPr marL="0" indent="0">
              <a:buNone/>
              <a:defRPr sz="1000"/>
            </a:lvl1pPr>
            <a:lvl2pPr marL="318851" indent="0">
              <a:buNone/>
              <a:defRPr sz="800"/>
            </a:lvl2pPr>
            <a:lvl3pPr marL="637703" indent="0">
              <a:buNone/>
              <a:defRPr sz="700"/>
            </a:lvl3pPr>
            <a:lvl4pPr marL="956554" indent="0">
              <a:buNone/>
              <a:defRPr sz="600"/>
            </a:lvl4pPr>
            <a:lvl5pPr marL="1275405" indent="0">
              <a:buNone/>
              <a:defRPr sz="600"/>
            </a:lvl5pPr>
            <a:lvl6pPr marL="1594256" indent="0">
              <a:buNone/>
              <a:defRPr sz="600"/>
            </a:lvl6pPr>
            <a:lvl7pPr marL="1913108" indent="0">
              <a:buNone/>
              <a:defRPr sz="600"/>
            </a:lvl7pPr>
            <a:lvl8pPr marL="2231959" indent="0">
              <a:buNone/>
              <a:defRPr sz="600"/>
            </a:lvl8pPr>
            <a:lvl9pPr marL="2550810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2620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632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405316" y="176582"/>
            <a:ext cx="745895" cy="377321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65380" y="176582"/>
            <a:ext cx="2131933" cy="377321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920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24010" y="187416"/>
            <a:ext cx="5832158" cy="779992"/>
          </a:xfrm>
          <a:prstGeom prst="rect">
            <a:avLst/>
          </a:prstGeom>
        </p:spPr>
        <p:txBody>
          <a:bodyPr vert="horz" lIns="63770" tIns="31885" rIns="63770" bIns="3188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10" y="1091988"/>
            <a:ext cx="5832158" cy="3088551"/>
          </a:xfrm>
          <a:prstGeom prst="rect">
            <a:avLst/>
          </a:prstGeom>
        </p:spPr>
        <p:txBody>
          <a:bodyPr vert="horz" lIns="63770" tIns="31885" rIns="63770" bIns="3188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24010" y="4337621"/>
            <a:ext cx="1512040" cy="249164"/>
          </a:xfrm>
          <a:prstGeom prst="rect">
            <a:avLst/>
          </a:prstGeom>
        </p:spPr>
        <p:txBody>
          <a:bodyPr vert="horz" lIns="63770" tIns="31885" rIns="63770" bIns="31885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6863B-ED44-4C33-9972-10BDD73B4050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214060" y="4337621"/>
            <a:ext cx="2052055" cy="249164"/>
          </a:xfrm>
          <a:prstGeom prst="rect">
            <a:avLst/>
          </a:prstGeom>
        </p:spPr>
        <p:txBody>
          <a:bodyPr vert="horz" lIns="63770" tIns="31885" rIns="63770" bIns="31885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644125" y="4337621"/>
            <a:ext cx="1512040" cy="249164"/>
          </a:xfrm>
          <a:prstGeom prst="rect">
            <a:avLst/>
          </a:prstGeom>
        </p:spPr>
        <p:txBody>
          <a:bodyPr vert="horz" lIns="63770" tIns="31885" rIns="63770" bIns="31885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2A0B7A-F103-40D9-A1DA-A2555FE9B19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0393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37703" rtl="0" eaLnBrk="1" latinLnBrk="0" hangingPunct="1">
        <a:spcBef>
          <a:spcPct val="0"/>
        </a:spcBef>
        <a:buNone/>
        <a:defRPr sz="3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138" indent="-239138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18133" indent="-199282" algn="l" defTabSz="637703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97128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115979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34831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53682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72533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91385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10236" indent="-159426" algn="l" defTabSz="637703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318851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637703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56554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275405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594256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913108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231959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550810" algn="l" defTabSz="637703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e 66"/>
          <p:cNvGrpSpPr>
            <a:grpSpLocks noChangeAspect="1"/>
          </p:cNvGrpSpPr>
          <p:nvPr/>
        </p:nvGrpSpPr>
        <p:grpSpPr>
          <a:xfrm>
            <a:off x="-72281" y="-36289"/>
            <a:ext cx="6505068" cy="4680000"/>
            <a:chOff x="34710" y="45329"/>
            <a:chExt cx="6192688" cy="4455262"/>
          </a:xfrm>
        </p:grpSpPr>
        <p:sp>
          <p:nvSpPr>
            <p:cNvPr id="68" name="Line 4"/>
            <p:cNvSpPr>
              <a:spLocks noChangeShapeType="1"/>
            </p:cNvSpPr>
            <p:nvPr/>
          </p:nvSpPr>
          <p:spPr bwMode="auto">
            <a:xfrm>
              <a:off x="2387372" y="3520848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69" name="Rectangle 6"/>
            <p:cNvSpPr>
              <a:spLocks noChangeArrowheads="1"/>
            </p:cNvSpPr>
            <p:nvPr/>
          </p:nvSpPr>
          <p:spPr bwMode="auto">
            <a:xfrm>
              <a:off x="1122506" y="45329"/>
              <a:ext cx="432819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70" name="Line 10"/>
            <p:cNvSpPr>
              <a:spLocks noChangeShapeType="1"/>
            </p:cNvSpPr>
            <p:nvPr/>
          </p:nvSpPr>
          <p:spPr bwMode="auto">
            <a:xfrm flipV="1">
              <a:off x="1470618" y="2157777"/>
              <a:ext cx="666" cy="1772297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1" name="Rectangle 11"/>
            <p:cNvSpPr>
              <a:spLocks noChangeArrowheads="1"/>
            </p:cNvSpPr>
            <p:nvPr/>
          </p:nvSpPr>
          <p:spPr bwMode="auto">
            <a:xfrm>
              <a:off x="5492800" y="1992270"/>
              <a:ext cx="734598" cy="2692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500" dirty="0">
                  <a:solidFill>
                    <a:srgbClr val="FF0000"/>
                  </a:solidFill>
                  <a:latin typeface="Symbol" charset="2"/>
                </a:rPr>
                <a:t>  s-</a:t>
              </a:r>
            </a:p>
          </p:txBody>
        </p:sp>
        <p:sp>
          <p:nvSpPr>
            <p:cNvPr id="72" name="AutoShape 12"/>
            <p:cNvSpPr>
              <a:spLocks/>
            </p:cNvSpPr>
            <p:nvPr/>
          </p:nvSpPr>
          <p:spPr bwMode="auto">
            <a:xfrm>
              <a:off x="5574295" y="2305976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FF00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73" name="Line 34"/>
            <p:cNvSpPr>
              <a:spLocks noChangeShapeType="1"/>
            </p:cNvSpPr>
            <p:nvPr/>
          </p:nvSpPr>
          <p:spPr bwMode="auto">
            <a:xfrm flipV="1">
              <a:off x="1390047" y="1472019"/>
              <a:ext cx="161142" cy="2265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4" name="Line 35"/>
            <p:cNvSpPr>
              <a:spLocks noChangeShapeType="1"/>
            </p:cNvSpPr>
            <p:nvPr/>
          </p:nvSpPr>
          <p:spPr bwMode="auto">
            <a:xfrm flipV="1">
              <a:off x="1567528" y="1089439"/>
              <a:ext cx="506572" cy="394319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5" name="Line 38"/>
            <p:cNvSpPr>
              <a:spLocks noChangeShapeType="1"/>
            </p:cNvSpPr>
            <p:nvPr/>
          </p:nvSpPr>
          <p:spPr bwMode="auto">
            <a:xfrm flipV="1">
              <a:off x="1576290" y="1331948"/>
              <a:ext cx="497809" cy="140071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6" name="Line 39"/>
            <p:cNvSpPr>
              <a:spLocks noChangeShapeType="1"/>
            </p:cNvSpPr>
            <p:nvPr/>
          </p:nvSpPr>
          <p:spPr bwMode="auto">
            <a:xfrm>
              <a:off x="1567525" y="1477514"/>
              <a:ext cx="506574" cy="1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7" name="Rectangle 40"/>
            <p:cNvSpPr>
              <a:spLocks noChangeArrowheads="1"/>
            </p:cNvSpPr>
            <p:nvPr/>
          </p:nvSpPr>
          <p:spPr bwMode="auto">
            <a:xfrm>
              <a:off x="909023" y="1303670"/>
              <a:ext cx="533401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 smtClean="0">
                  <a:solidFill>
                    <a:srgbClr val="000000"/>
                  </a:solidFill>
                </a:rPr>
                <a:t>I±1&gt;</a:t>
              </a:r>
              <a:endParaRPr lang="en-GB" sz="1600" dirty="0">
                <a:solidFill>
                  <a:srgbClr val="000000"/>
                </a:solidFill>
              </a:endParaRPr>
            </a:p>
          </p:txBody>
        </p:sp>
        <p:sp>
          <p:nvSpPr>
            <p:cNvPr id="78" name="Line 52"/>
            <p:cNvSpPr>
              <a:spLocks noChangeShapeType="1"/>
            </p:cNvSpPr>
            <p:nvPr/>
          </p:nvSpPr>
          <p:spPr bwMode="auto">
            <a:xfrm>
              <a:off x="3208726" y="1081306"/>
              <a:ext cx="162882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79" name="Line 53"/>
            <p:cNvSpPr>
              <a:spLocks noChangeShapeType="1"/>
            </p:cNvSpPr>
            <p:nvPr/>
          </p:nvSpPr>
          <p:spPr bwMode="auto">
            <a:xfrm>
              <a:off x="2759988" y="1480030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0" name="Line 54"/>
            <p:cNvSpPr>
              <a:spLocks noChangeShapeType="1"/>
            </p:cNvSpPr>
            <p:nvPr/>
          </p:nvSpPr>
          <p:spPr bwMode="auto">
            <a:xfrm>
              <a:off x="2426285" y="1331948"/>
              <a:ext cx="159809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1" name="Line 58"/>
            <p:cNvSpPr>
              <a:spLocks noChangeShapeType="1"/>
            </p:cNvSpPr>
            <p:nvPr/>
          </p:nvSpPr>
          <p:spPr bwMode="auto">
            <a:xfrm>
              <a:off x="2427616" y="1084737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2" name="Line 59"/>
            <p:cNvSpPr>
              <a:spLocks noChangeShapeType="1"/>
            </p:cNvSpPr>
            <p:nvPr/>
          </p:nvSpPr>
          <p:spPr bwMode="auto">
            <a:xfrm>
              <a:off x="2938848" y="1481253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3" name="Line 60"/>
            <p:cNvSpPr>
              <a:spLocks noChangeShapeType="1"/>
            </p:cNvSpPr>
            <p:nvPr/>
          </p:nvSpPr>
          <p:spPr bwMode="auto">
            <a:xfrm>
              <a:off x="3213130" y="1331948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4" name="Line 67"/>
            <p:cNvSpPr>
              <a:spLocks noChangeShapeType="1"/>
            </p:cNvSpPr>
            <p:nvPr/>
          </p:nvSpPr>
          <p:spPr bwMode="auto">
            <a:xfrm>
              <a:off x="2586095" y="1089439"/>
              <a:ext cx="627035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5" name="Rectangle 71"/>
            <p:cNvSpPr>
              <a:spLocks noChangeArrowheads="1"/>
            </p:cNvSpPr>
            <p:nvPr/>
          </p:nvSpPr>
          <p:spPr bwMode="auto">
            <a:xfrm>
              <a:off x="2013530" y="606498"/>
              <a:ext cx="493325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 smtClean="0">
                  <a:solidFill>
                    <a:srgbClr val="FF0000"/>
                  </a:solidFill>
                  <a:latin typeface="Calibri" charset="0"/>
                </a:rPr>
                <a:t>I-1&gt;</a:t>
              </a:r>
              <a:endParaRPr lang="en-GB" sz="1600" dirty="0">
                <a:solidFill>
                  <a:srgbClr val="FF0000"/>
                </a:solidFill>
                <a:latin typeface="Calibri" charset="0"/>
              </a:endParaRPr>
            </a:p>
          </p:txBody>
        </p:sp>
        <p:sp>
          <p:nvSpPr>
            <p:cNvPr id="86" name="Rectangle 72"/>
            <p:cNvSpPr>
              <a:spLocks noChangeArrowheads="1"/>
            </p:cNvSpPr>
            <p:nvPr/>
          </p:nvSpPr>
          <p:spPr bwMode="auto">
            <a:xfrm>
              <a:off x="2003175" y="1383528"/>
              <a:ext cx="533401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1600" dirty="0">
                  <a:solidFill>
                    <a:srgbClr val="0033CC"/>
                  </a:solidFill>
                  <a:latin typeface="Calibri" charset="0"/>
                </a:rPr>
                <a:t>I+1&gt;</a:t>
              </a:r>
            </a:p>
          </p:txBody>
        </p:sp>
        <p:sp>
          <p:nvSpPr>
            <p:cNvPr id="87" name="Line 3"/>
            <p:cNvSpPr>
              <a:spLocks noChangeShapeType="1"/>
            </p:cNvSpPr>
            <p:nvPr/>
          </p:nvSpPr>
          <p:spPr bwMode="auto">
            <a:xfrm>
              <a:off x="2816142" y="3777328"/>
              <a:ext cx="172795" cy="235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88" name="Forme libre 10"/>
            <p:cNvSpPr>
              <a:spLocks/>
            </p:cNvSpPr>
            <p:nvPr/>
          </p:nvSpPr>
          <p:spPr bwMode="auto">
            <a:xfrm>
              <a:off x="1358665" y="1994725"/>
              <a:ext cx="209731" cy="138578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89" name="Forme libre 11"/>
            <p:cNvSpPr>
              <a:spLocks/>
            </p:cNvSpPr>
            <p:nvPr/>
          </p:nvSpPr>
          <p:spPr bwMode="auto">
            <a:xfrm>
              <a:off x="1353099" y="2066733"/>
              <a:ext cx="209731" cy="137319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90" name="Line 10"/>
            <p:cNvSpPr>
              <a:spLocks noChangeShapeType="1"/>
            </p:cNvSpPr>
            <p:nvPr/>
          </p:nvSpPr>
          <p:spPr bwMode="auto">
            <a:xfrm flipH="1" flipV="1">
              <a:off x="1470618" y="208710"/>
              <a:ext cx="666" cy="1818092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91" name="Rectangle 11"/>
            <p:cNvSpPr>
              <a:spLocks noChangeArrowheads="1"/>
            </p:cNvSpPr>
            <p:nvPr/>
          </p:nvSpPr>
          <p:spPr bwMode="auto">
            <a:xfrm>
              <a:off x="2651305" y="1976794"/>
              <a:ext cx="764390" cy="3171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1500" dirty="0">
                  <a:solidFill>
                    <a:srgbClr val="FF0000"/>
                  </a:solidFill>
                  <a:latin typeface="Symbol" charset="2"/>
                </a:rPr>
                <a:t>  </a:t>
              </a:r>
              <a:r>
                <a:rPr lang="en-GB" sz="1500" dirty="0" smtClean="0">
                  <a:solidFill>
                    <a:srgbClr val="0033CC"/>
                  </a:solidFill>
                  <a:latin typeface="Symbol" charset="2"/>
                </a:rPr>
                <a:t>s+</a:t>
              </a:r>
              <a:endParaRPr lang="en-GB" sz="1500" dirty="0">
                <a:solidFill>
                  <a:srgbClr val="0033CC"/>
                </a:solidFill>
                <a:latin typeface="Symbol" charset="2"/>
              </a:endParaRPr>
            </a:p>
          </p:txBody>
        </p:sp>
        <p:sp>
          <p:nvSpPr>
            <p:cNvPr id="92" name="Rectangle 25"/>
            <p:cNvSpPr>
              <a:spLocks noChangeArrowheads="1"/>
            </p:cNvSpPr>
            <p:nvPr/>
          </p:nvSpPr>
          <p:spPr bwMode="auto">
            <a:xfrm>
              <a:off x="1978926" y="4198784"/>
              <a:ext cx="575079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=-1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93" name="Rectangle 24"/>
            <p:cNvSpPr>
              <a:spLocks noChangeArrowheads="1"/>
            </p:cNvSpPr>
            <p:nvPr/>
          </p:nvSpPr>
          <p:spPr bwMode="auto">
            <a:xfrm>
              <a:off x="2628779" y="4198784"/>
              <a:ext cx="52057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>
                  <a:latin typeface="Times New Roman" pitchFamily="16" charset="0"/>
                </a:rPr>
                <a:t>S</a:t>
              </a:r>
              <a:r>
                <a:rPr lang="en-GB" sz="1400" baseline="-25000" dirty="0" err="1">
                  <a:latin typeface="Times New Roman" pitchFamily="16" charset="0"/>
                </a:rPr>
                <a:t>z</a:t>
              </a:r>
              <a:r>
                <a:rPr lang="en-GB" sz="1400" dirty="0">
                  <a:latin typeface="Times New Roman" pitchFamily="16" charset="0"/>
                </a:rPr>
                <a:t>=0</a:t>
              </a:r>
            </a:p>
          </p:txBody>
        </p:sp>
        <p:sp>
          <p:nvSpPr>
            <p:cNvPr id="94" name="ZoneTexte 93"/>
            <p:cNvSpPr txBox="1"/>
            <p:nvPr/>
          </p:nvSpPr>
          <p:spPr>
            <a:xfrm>
              <a:off x="1004265" y="3351646"/>
              <a:ext cx="3738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5" name="ZoneTexte 94"/>
            <p:cNvSpPr txBox="1"/>
            <p:nvPr/>
          </p:nvSpPr>
          <p:spPr>
            <a:xfrm>
              <a:off x="1108808" y="3622298"/>
              <a:ext cx="2744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Rectangle 13"/>
            <p:cNvSpPr>
              <a:spLocks noChangeArrowheads="1"/>
            </p:cNvSpPr>
            <p:nvPr/>
          </p:nvSpPr>
          <p:spPr bwMode="auto">
            <a:xfrm>
              <a:off x="34710" y="856783"/>
              <a:ext cx="910511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1400" dirty="0" smtClean="0">
                  <a:solidFill>
                    <a:srgbClr val="000000"/>
                  </a:solidFill>
                  <a:latin typeface="Times New Roman" pitchFamily="16" charset="0"/>
                </a:rPr>
                <a:t>X-Cr</a:t>
              </a:r>
              <a:endParaRPr lang="en-GB" sz="1400" dirty="0">
                <a:solidFill>
                  <a:srgbClr val="000000"/>
                </a:solidFill>
                <a:latin typeface="Times New Roman" pitchFamily="16" charset="0"/>
              </a:endParaRPr>
            </a:p>
          </p:txBody>
        </p:sp>
        <p:pic>
          <p:nvPicPr>
            <p:cNvPr id="97" name="Picture 1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165" y="1158590"/>
              <a:ext cx="702720" cy="3197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pic>
          <p:nvPicPr>
            <p:cNvPr id="98" name="Picture 1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08" y="3445530"/>
              <a:ext cx="704160" cy="3211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99" name="Rectangle 73"/>
            <p:cNvSpPr>
              <a:spLocks noChangeArrowheads="1"/>
            </p:cNvSpPr>
            <p:nvPr/>
          </p:nvSpPr>
          <p:spPr bwMode="auto">
            <a:xfrm>
              <a:off x="244445" y="3045347"/>
              <a:ext cx="491040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1400" dirty="0">
                  <a:solidFill>
                    <a:srgbClr val="000000"/>
                  </a:solidFill>
                  <a:latin typeface="Times New Roman" pitchFamily="16" charset="0"/>
                </a:rPr>
                <a:t>Cr</a:t>
              </a:r>
            </a:p>
          </p:txBody>
        </p:sp>
        <p:sp>
          <p:nvSpPr>
            <p:cNvPr id="100" name="Accolade ouvrante 99"/>
            <p:cNvSpPr/>
            <p:nvPr/>
          </p:nvSpPr>
          <p:spPr>
            <a:xfrm>
              <a:off x="855413" y="736781"/>
              <a:ext cx="179617" cy="1071336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300900" y="1766234"/>
              <a:ext cx="220956" cy="130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2" name="Connecteur droit avec flèche 101"/>
            <p:cNvCxnSpPr/>
            <p:nvPr/>
          </p:nvCxnSpPr>
          <p:spPr>
            <a:xfrm flipH="1">
              <a:off x="3429403" y="1089059"/>
              <a:ext cx="19052" cy="2433834"/>
            </a:xfrm>
            <a:prstGeom prst="straightConnector1">
              <a:avLst/>
            </a:prstGeom>
            <a:ln w="19050">
              <a:solidFill>
                <a:srgbClr val="0033CC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ine 39"/>
            <p:cNvSpPr>
              <a:spLocks noChangeShapeType="1"/>
            </p:cNvSpPr>
            <p:nvPr/>
          </p:nvSpPr>
          <p:spPr bwMode="auto">
            <a:xfrm flipV="1">
              <a:off x="1397824" y="3522893"/>
              <a:ext cx="1191971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04" name="Line 39"/>
            <p:cNvSpPr>
              <a:spLocks noChangeShapeType="1"/>
            </p:cNvSpPr>
            <p:nvPr/>
          </p:nvSpPr>
          <p:spPr bwMode="auto">
            <a:xfrm flipV="1">
              <a:off x="1390048" y="3776186"/>
              <a:ext cx="1611044" cy="7304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05" name="Rectangle 25"/>
            <p:cNvSpPr>
              <a:spLocks noChangeArrowheads="1"/>
            </p:cNvSpPr>
            <p:nvPr/>
          </p:nvSpPr>
          <p:spPr bwMode="auto">
            <a:xfrm>
              <a:off x="3170925" y="4198784"/>
              <a:ext cx="616757" cy="301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1400" dirty="0" err="1" smtClean="0">
                  <a:latin typeface="Times New Roman" pitchFamily="16" charset="0"/>
                </a:rPr>
                <a:t>S</a:t>
              </a:r>
              <a:r>
                <a:rPr lang="en-GB" sz="1400" baseline="-25000" dirty="0" err="1" smtClean="0">
                  <a:latin typeface="Times New Roman" pitchFamily="16" charset="0"/>
                </a:rPr>
                <a:t>z</a:t>
              </a:r>
              <a:r>
                <a:rPr lang="en-GB" sz="1400" dirty="0" smtClean="0">
                  <a:latin typeface="Times New Roman" pitchFamily="16" charset="0"/>
                </a:rPr>
                <a:t>=+1</a:t>
              </a:r>
              <a:endParaRPr lang="en-GB" sz="1400" dirty="0">
                <a:latin typeface="Times New Roman" pitchFamily="16" charset="0"/>
              </a:endParaRPr>
            </a:p>
          </p:txBody>
        </p:sp>
        <p:sp>
          <p:nvSpPr>
            <p:cNvPr id="106" name="AutoShape 12"/>
            <p:cNvSpPr>
              <a:spLocks/>
            </p:cNvSpPr>
            <p:nvPr/>
          </p:nvSpPr>
          <p:spPr bwMode="auto">
            <a:xfrm>
              <a:off x="2749906" y="2361371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0066CC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107" name="Accolade ouvrante 106"/>
            <p:cNvSpPr/>
            <p:nvPr/>
          </p:nvSpPr>
          <p:spPr>
            <a:xfrm>
              <a:off x="817885" y="3041037"/>
              <a:ext cx="179617" cy="1071336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Line 39"/>
            <p:cNvSpPr>
              <a:spLocks noChangeShapeType="1"/>
            </p:cNvSpPr>
            <p:nvPr/>
          </p:nvSpPr>
          <p:spPr bwMode="auto">
            <a:xfrm flipV="1">
              <a:off x="3545077" y="3522892"/>
              <a:ext cx="1530193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09" name="Line 39"/>
            <p:cNvSpPr>
              <a:spLocks noChangeShapeType="1"/>
            </p:cNvSpPr>
            <p:nvPr/>
          </p:nvSpPr>
          <p:spPr bwMode="auto">
            <a:xfrm flipV="1">
              <a:off x="3549394" y="1065696"/>
              <a:ext cx="1533309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0" name="Line 39"/>
            <p:cNvSpPr>
              <a:spLocks noChangeShapeType="1"/>
            </p:cNvSpPr>
            <p:nvPr/>
          </p:nvSpPr>
          <p:spPr bwMode="auto">
            <a:xfrm flipV="1">
              <a:off x="3545076" y="1331947"/>
              <a:ext cx="1545060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1" name="Line 2"/>
            <p:cNvSpPr>
              <a:spLocks noChangeShapeType="1"/>
            </p:cNvSpPr>
            <p:nvPr/>
          </p:nvSpPr>
          <p:spPr bwMode="auto">
            <a:xfrm>
              <a:off x="5293858" y="3449071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2" name="Line 2"/>
            <p:cNvSpPr>
              <a:spLocks noChangeShapeType="1"/>
            </p:cNvSpPr>
            <p:nvPr/>
          </p:nvSpPr>
          <p:spPr bwMode="auto">
            <a:xfrm>
              <a:off x="5293858" y="3593087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3" name="Line 60"/>
            <p:cNvSpPr>
              <a:spLocks noChangeShapeType="1"/>
            </p:cNvSpPr>
            <p:nvPr/>
          </p:nvSpPr>
          <p:spPr bwMode="auto">
            <a:xfrm>
              <a:off x="5295190" y="1331948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cxnSp>
          <p:nvCxnSpPr>
            <p:cNvPr id="114" name="Connecteur droit avec flèche 113"/>
            <p:cNvCxnSpPr>
              <a:endCxn id="111" idx="0"/>
            </p:cNvCxnSpPr>
            <p:nvPr/>
          </p:nvCxnSpPr>
          <p:spPr>
            <a:xfrm flipH="1">
              <a:off x="5293858" y="1387069"/>
              <a:ext cx="14866" cy="2062002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5" name="Connecteur droit avec flèche 114"/>
            <p:cNvCxnSpPr/>
            <p:nvPr/>
          </p:nvCxnSpPr>
          <p:spPr>
            <a:xfrm>
              <a:off x="5438856" y="1383528"/>
              <a:ext cx="1095" cy="218177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16" name="Line 2"/>
            <p:cNvSpPr>
              <a:spLocks noChangeShapeType="1"/>
            </p:cNvSpPr>
            <p:nvPr/>
          </p:nvSpPr>
          <p:spPr bwMode="auto">
            <a:xfrm>
              <a:off x="5293858" y="1000799"/>
              <a:ext cx="159810" cy="0"/>
            </a:xfrm>
            <a:prstGeom prst="line">
              <a:avLst/>
            </a:prstGeom>
            <a:noFill/>
            <a:ln w="2844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7" name="Line 2"/>
            <p:cNvSpPr>
              <a:spLocks noChangeShapeType="1"/>
            </p:cNvSpPr>
            <p:nvPr/>
          </p:nvSpPr>
          <p:spPr bwMode="auto">
            <a:xfrm>
              <a:off x="5293858" y="1144815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8" name="Line 2"/>
            <p:cNvSpPr>
              <a:spLocks noChangeShapeType="1"/>
            </p:cNvSpPr>
            <p:nvPr/>
          </p:nvSpPr>
          <p:spPr bwMode="auto">
            <a:xfrm>
              <a:off x="4211174" y="1064474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19" name="Line 2"/>
            <p:cNvSpPr>
              <a:spLocks noChangeShapeType="1"/>
            </p:cNvSpPr>
            <p:nvPr/>
          </p:nvSpPr>
          <p:spPr bwMode="auto">
            <a:xfrm>
              <a:off x="4709096" y="1071798"/>
              <a:ext cx="159810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0" name="Line 2"/>
            <p:cNvSpPr>
              <a:spLocks noChangeShapeType="1"/>
            </p:cNvSpPr>
            <p:nvPr/>
          </p:nvSpPr>
          <p:spPr bwMode="auto">
            <a:xfrm>
              <a:off x="4211174" y="3504312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1" name="Line 2"/>
            <p:cNvSpPr>
              <a:spLocks noChangeShapeType="1"/>
            </p:cNvSpPr>
            <p:nvPr/>
          </p:nvSpPr>
          <p:spPr bwMode="auto">
            <a:xfrm>
              <a:off x="4648241" y="3522893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122" name="Arc 121"/>
            <p:cNvSpPr/>
            <p:nvPr/>
          </p:nvSpPr>
          <p:spPr>
            <a:xfrm rot="10800000">
              <a:off x="4330038" y="868243"/>
              <a:ext cx="457200" cy="577850"/>
            </a:xfrm>
            <a:prstGeom prst="arc">
              <a:avLst>
                <a:gd name="adj1" fmla="val 11070839"/>
                <a:gd name="adj2" fmla="val 0"/>
              </a:avLst>
            </a:prstGeom>
            <a:ln w="19050">
              <a:solidFill>
                <a:srgbClr val="FF99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3" name="Arc 122"/>
            <p:cNvSpPr/>
            <p:nvPr/>
          </p:nvSpPr>
          <p:spPr>
            <a:xfrm>
              <a:off x="4283182" y="3187247"/>
              <a:ext cx="457200" cy="579437"/>
            </a:xfrm>
            <a:prstGeom prst="arc">
              <a:avLst>
                <a:gd name="adj1" fmla="val 11070839"/>
                <a:gd name="adj2" fmla="val 0"/>
              </a:avLst>
            </a:prstGeom>
            <a:ln w="19050">
              <a:solidFill>
                <a:srgbClr val="FF99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" name="Ellipse 123"/>
            <p:cNvSpPr>
              <a:spLocks noChangeArrowheads="1"/>
            </p:cNvSpPr>
            <p:nvPr/>
          </p:nvSpPr>
          <p:spPr bwMode="auto">
            <a:xfrm>
              <a:off x="4959478" y="1217769"/>
              <a:ext cx="828570" cy="2649573"/>
            </a:xfrm>
            <a:prstGeom prst="ellipse">
              <a:avLst/>
            </a:prstGeom>
            <a:solidFill>
              <a:srgbClr val="4774AB">
                <a:alpha val="10000"/>
              </a:srgbClr>
            </a:solidFill>
            <a:ln w="12700" algn="ctr">
              <a:solidFill>
                <a:srgbClr val="4774AB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>
                <a:solidFill>
                  <a:schemeClr val="lt1"/>
                </a:solidFill>
                <a:latin typeface="+mn-lt"/>
              </a:endParaRPr>
            </a:p>
          </p:txBody>
        </p:sp>
        <p:sp>
          <p:nvSpPr>
            <p:cNvPr id="125" name="ZoneTexte 54"/>
            <p:cNvSpPr txBox="1">
              <a:spLocks noChangeArrowheads="1"/>
            </p:cNvSpPr>
            <p:nvPr/>
          </p:nvSpPr>
          <p:spPr bwMode="auto">
            <a:xfrm>
              <a:off x="3472254" y="3714942"/>
              <a:ext cx="12239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/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fr-FR" altLang="en-US" sz="1400" dirty="0" err="1" smtClean="0">
                  <a:latin typeface="Times New Roman" pitchFamily="18" charset="0"/>
                  <a:cs typeface="Times New Roman" pitchFamily="18" charset="0"/>
                </a:rPr>
                <a:t>XCr</a:t>
              </a:r>
              <a:r>
                <a:rPr lang="fr-FR" altLang="en-US" sz="1400" dirty="0" smtClean="0">
                  <a:latin typeface="Times New Roman" pitchFamily="18" charset="0"/>
                  <a:cs typeface="Times New Roman" pitchFamily="18" charset="0"/>
                </a:rPr>
                <a:t>,</a:t>
              </a:r>
              <a:r>
                <a:rPr lang="fr-FR" altLang="en-US" sz="1400" dirty="0" smtClean="0">
                  <a:solidFill>
                    <a:srgbClr val="0099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fr-FR" altLang="en-US" sz="1400" dirty="0">
                  <a:solidFill>
                    <a:srgbClr val="0033CC"/>
                  </a:solidFill>
                  <a:latin typeface="Times New Roman" pitchFamily="18" charset="0"/>
                  <a:cs typeface="Times New Roman" pitchFamily="18" charset="0"/>
                </a:rPr>
                <a:t>n-1</a:t>
              </a:r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sp>
          <p:nvSpPr>
            <p:cNvPr id="126" name="ZoneTexte 54"/>
            <p:cNvSpPr txBox="1">
              <a:spLocks noChangeArrowheads="1"/>
            </p:cNvSpPr>
            <p:nvPr/>
          </p:nvSpPr>
          <p:spPr bwMode="auto">
            <a:xfrm>
              <a:off x="4211174" y="3724779"/>
              <a:ext cx="12239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/>
              <a:r>
                <a:rPr lang="fr-FR" altLang="en-US" sz="1400" dirty="0" smtClean="0">
                  <a:latin typeface="Times New Roman" pitchFamily="18" charset="0"/>
                  <a:cs typeface="Times New Roman" pitchFamily="18" charset="0"/>
                </a:rPr>
                <a:t>(Cr,</a:t>
              </a:r>
              <a:r>
                <a:rPr lang="fr-FR" altLang="en-US" sz="1400" dirty="0" smtClean="0">
                  <a:solidFill>
                    <a:srgbClr val="0099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fr-FR" altLang="en-US" sz="1400" dirty="0">
                  <a:solidFill>
                    <a:srgbClr val="0033CC"/>
                  </a:solidFill>
                  <a:latin typeface="Times New Roman" pitchFamily="18" charset="0"/>
                  <a:cs typeface="Times New Roman" pitchFamily="18" charset="0"/>
                </a:rPr>
                <a:t>n</a:t>
              </a:r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sp>
          <p:nvSpPr>
            <p:cNvPr id="127" name="ZoneTexte 54"/>
            <p:cNvSpPr txBox="1">
              <a:spLocks noChangeArrowheads="1"/>
            </p:cNvSpPr>
            <p:nvPr/>
          </p:nvSpPr>
          <p:spPr bwMode="auto">
            <a:xfrm>
              <a:off x="4283182" y="595391"/>
              <a:ext cx="12239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/>
              <a:r>
                <a:rPr lang="fr-FR" altLang="en-US" sz="1400" dirty="0" smtClean="0">
                  <a:latin typeface="Times New Roman" pitchFamily="18" charset="0"/>
                  <a:cs typeface="Times New Roman" pitchFamily="18" charset="0"/>
                </a:rPr>
                <a:t>(Cr,</a:t>
              </a:r>
              <a:r>
                <a:rPr lang="fr-FR" altLang="en-US" sz="1400" dirty="0" smtClean="0">
                  <a:solidFill>
                    <a:srgbClr val="0099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fr-FR" altLang="en-US" sz="1400" dirty="0">
                  <a:solidFill>
                    <a:srgbClr val="0033CC"/>
                  </a:solidFill>
                  <a:latin typeface="Times New Roman" pitchFamily="18" charset="0"/>
                  <a:cs typeface="Times New Roman" pitchFamily="18" charset="0"/>
                </a:rPr>
                <a:t>n+1</a:t>
              </a:r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sp>
          <p:nvSpPr>
            <p:cNvPr id="128" name="ZoneTexte 54"/>
            <p:cNvSpPr txBox="1">
              <a:spLocks noChangeArrowheads="1"/>
            </p:cNvSpPr>
            <p:nvPr/>
          </p:nvSpPr>
          <p:spPr bwMode="auto">
            <a:xfrm>
              <a:off x="3563102" y="584381"/>
              <a:ext cx="1223962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/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fr-FR" altLang="en-US" sz="1400" dirty="0" err="1" smtClean="0">
                  <a:latin typeface="Times New Roman" pitchFamily="18" charset="0"/>
                  <a:cs typeface="Times New Roman" pitchFamily="18" charset="0"/>
                </a:rPr>
                <a:t>XCr</a:t>
              </a:r>
              <a:r>
                <a:rPr lang="fr-FR" altLang="en-US" sz="1400" dirty="0" smtClean="0">
                  <a:latin typeface="Times New Roman" pitchFamily="18" charset="0"/>
                  <a:cs typeface="Times New Roman" pitchFamily="18" charset="0"/>
                </a:rPr>
                <a:t>,</a:t>
              </a:r>
              <a:r>
                <a:rPr lang="fr-FR" altLang="en-US" sz="1400" dirty="0" smtClean="0">
                  <a:solidFill>
                    <a:srgbClr val="0099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fr-FR" altLang="en-US" sz="1400" dirty="0">
                  <a:solidFill>
                    <a:srgbClr val="0033CC"/>
                  </a:solidFill>
                  <a:latin typeface="Times New Roman" pitchFamily="18" charset="0"/>
                  <a:cs typeface="Times New Roman" pitchFamily="18" charset="0"/>
                </a:rPr>
                <a:t>n</a:t>
              </a:r>
              <a:r>
                <a:rPr lang="fr-FR" altLang="en-US" sz="1400" dirty="0"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sp>
          <p:nvSpPr>
            <p:cNvPr id="129" name="Line 2"/>
            <p:cNvSpPr>
              <a:spLocks noChangeShapeType="1"/>
            </p:cNvSpPr>
            <p:nvPr/>
          </p:nvSpPr>
          <p:spPr bwMode="auto">
            <a:xfrm>
              <a:off x="3220995" y="3520848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399053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43</Words>
  <Application>Microsoft Office PowerPoint</Application>
  <PresentationFormat>Personnalisé</PresentationFormat>
  <Paragraphs>17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</cp:revision>
  <dcterms:created xsi:type="dcterms:W3CDTF">2017-06-29T19:11:00Z</dcterms:created>
  <dcterms:modified xsi:type="dcterms:W3CDTF">2017-06-29T19:13:37Z</dcterms:modified>
</cp:coreProperties>
</file>