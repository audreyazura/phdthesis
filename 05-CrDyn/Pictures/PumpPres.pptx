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269663" cy="547211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60" y="-222"/>
      </p:cViewPr>
      <p:guideLst>
        <p:guide orient="horz" pos="1724"/>
        <p:guide pos="35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45225" y="1699903"/>
            <a:ext cx="9579214" cy="117295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90451" y="3100864"/>
            <a:ext cx="7888764" cy="13984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5690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74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90225" y="3516341"/>
            <a:ext cx="9579214" cy="10868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90225" y="2319316"/>
            <a:ext cx="9579214" cy="119702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11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10230" y="1005760"/>
            <a:ext cx="6296142" cy="2843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194200" y="1005760"/>
            <a:ext cx="6296142" cy="2843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4787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3484" y="219138"/>
            <a:ext cx="10142697" cy="91202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3488" y="1224892"/>
            <a:ext cx="4979391" cy="5104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3488" y="1735371"/>
            <a:ext cx="4979391" cy="315279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724838" y="1224892"/>
            <a:ext cx="4981348" cy="51047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724838" y="1735371"/>
            <a:ext cx="4981348" cy="315279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793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1364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2756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3491" y="217873"/>
            <a:ext cx="3707641" cy="92721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06126" y="217874"/>
            <a:ext cx="6300055" cy="46702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63491" y="1145092"/>
            <a:ext cx="3707641" cy="37430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1124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08938" y="3830484"/>
            <a:ext cx="6761798" cy="4522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08938" y="488945"/>
            <a:ext cx="6761798" cy="32832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08938" y="4282690"/>
            <a:ext cx="6761798" cy="6422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81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7994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0295314" y="172273"/>
            <a:ext cx="3195028" cy="367721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710225" y="172273"/>
            <a:ext cx="9397255" cy="367721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4373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63484" y="219138"/>
            <a:ext cx="10142697" cy="912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3484" y="1276829"/>
            <a:ext cx="10142697" cy="3611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63485" y="5071839"/>
            <a:ext cx="2629588" cy="291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33D82-7276-4450-98EC-21FE8DADF27B}" type="datetimeFigureOut">
              <a:rPr lang="fr-FR" smtClean="0"/>
              <a:t>21/06/2017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50470" y="5071839"/>
            <a:ext cx="3568726" cy="291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6592" y="5071839"/>
            <a:ext cx="2629588" cy="2913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90EAD-C74C-460A-9631-F64515551F6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477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131" y="-144264"/>
            <a:ext cx="11615738" cy="5678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e 3"/>
          <p:cNvGrpSpPr/>
          <p:nvPr/>
        </p:nvGrpSpPr>
        <p:grpSpPr>
          <a:xfrm>
            <a:off x="1960153" y="33643"/>
            <a:ext cx="3530662" cy="4358597"/>
            <a:chOff x="1861251" y="33643"/>
            <a:chExt cx="3530662" cy="4358597"/>
          </a:xfrm>
        </p:grpSpPr>
        <p:grpSp>
          <p:nvGrpSpPr>
            <p:cNvPr id="12" name="Groupe 11"/>
            <p:cNvGrpSpPr/>
            <p:nvPr/>
          </p:nvGrpSpPr>
          <p:grpSpPr>
            <a:xfrm>
              <a:off x="1890414" y="33643"/>
              <a:ext cx="3501499" cy="4358597"/>
              <a:chOff x="3416314" y="44788"/>
              <a:chExt cx="2884627" cy="5290905"/>
            </a:xfrm>
          </p:grpSpPr>
          <p:sp>
            <p:nvSpPr>
              <p:cNvPr id="13" name="Line 2"/>
              <p:cNvSpPr>
                <a:spLocks noChangeShapeType="1"/>
              </p:cNvSpPr>
              <p:nvPr/>
            </p:nvSpPr>
            <p:spPr bwMode="auto">
              <a:xfrm>
                <a:off x="5885163" y="4037593"/>
                <a:ext cx="159810" cy="1222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14" name="Line 4"/>
              <p:cNvSpPr>
                <a:spLocks noChangeShapeType="1"/>
              </p:cNvSpPr>
              <p:nvPr/>
            </p:nvSpPr>
            <p:spPr bwMode="auto">
              <a:xfrm>
                <a:off x="4841567" y="4037593"/>
                <a:ext cx="159810" cy="1222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4219076" y="44788"/>
                <a:ext cx="432819" cy="3325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1600" dirty="0">
                    <a:solidFill>
                      <a:srgbClr val="000000"/>
                    </a:solidFill>
                    <a:latin typeface="Times New Roman" pitchFamily="16" charset="0"/>
                  </a:rPr>
                  <a:t>E</a:t>
                </a:r>
              </a:p>
            </p:txBody>
          </p:sp>
          <p:sp>
            <p:nvSpPr>
              <p:cNvPr id="16" name="Line 10"/>
              <p:cNvSpPr>
                <a:spLocks noChangeShapeType="1"/>
              </p:cNvSpPr>
              <p:nvPr/>
            </p:nvSpPr>
            <p:spPr bwMode="auto">
              <a:xfrm flipV="1">
                <a:off x="4212364" y="3188401"/>
                <a:ext cx="0" cy="2147292"/>
              </a:xfrm>
              <a:prstGeom prst="line">
                <a:avLst/>
              </a:prstGeom>
              <a:noFill/>
              <a:ln w="1260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17" name="Rectangle 11"/>
              <p:cNvSpPr>
                <a:spLocks noChangeArrowheads="1"/>
              </p:cNvSpPr>
              <p:nvPr/>
            </p:nvSpPr>
            <p:spPr bwMode="auto">
              <a:xfrm>
                <a:off x="4155138" y="1879309"/>
                <a:ext cx="734598" cy="2692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5527" tIns="42764" rIns="85527" bIns="42764">
                <a:spAutoFit/>
              </a:bodyPr>
              <a:lstStyle/>
              <a:p>
                <a:pPr algn="ctr" hangingPunct="1">
                  <a:lnSpc>
                    <a:spcPct val="100000"/>
                  </a:lnSpc>
                  <a:spcBef>
                    <a:spcPts val="760"/>
                  </a:spcBef>
                  <a:tabLst>
                    <a:tab pos="426935" algn="l"/>
                    <a:tab pos="853868" algn="l"/>
                  </a:tabLst>
                </a:pPr>
                <a:r>
                  <a:rPr lang="en-GB" sz="1500" dirty="0">
                    <a:solidFill>
                      <a:srgbClr val="FF0000"/>
                    </a:solidFill>
                    <a:latin typeface="Symbol" charset="2"/>
                  </a:rPr>
                  <a:t>  s-</a:t>
                </a:r>
              </a:p>
            </p:txBody>
          </p:sp>
          <p:sp>
            <p:nvSpPr>
              <p:cNvPr id="18" name="Line 34"/>
              <p:cNvSpPr>
                <a:spLocks noChangeShapeType="1"/>
              </p:cNvSpPr>
              <p:nvPr/>
            </p:nvSpPr>
            <p:spPr bwMode="auto">
              <a:xfrm flipV="1">
                <a:off x="4126874" y="1685825"/>
                <a:ext cx="186243" cy="2265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19" name="Line 35"/>
              <p:cNvSpPr>
                <a:spLocks noChangeShapeType="1"/>
              </p:cNvSpPr>
              <p:nvPr/>
            </p:nvSpPr>
            <p:spPr bwMode="auto">
              <a:xfrm flipV="1">
                <a:off x="4304356" y="962022"/>
                <a:ext cx="506572" cy="735542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0" name="Line 38"/>
              <p:cNvSpPr>
                <a:spLocks noChangeShapeType="1"/>
              </p:cNvSpPr>
              <p:nvPr/>
            </p:nvSpPr>
            <p:spPr bwMode="auto">
              <a:xfrm flipV="1">
                <a:off x="4313118" y="1302023"/>
                <a:ext cx="497810" cy="383802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1" name="Line 39"/>
              <p:cNvSpPr>
                <a:spLocks noChangeShapeType="1"/>
              </p:cNvSpPr>
              <p:nvPr/>
            </p:nvSpPr>
            <p:spPr bwMode="auto">
              <a:xfrm>
                <a:off x="4304353" y="1691320"/>
                <a:ext cx="1053860" cy="6244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2" name="Rectangle 40"/>
              <p:cNvSpPr>
                <a:spLocks noChangeArrowheads="1"/>
              </p:cNvSpPr>
              <p:nvPr/>
            </p:nvSpPr>
            <p:spPr bwMode="auto">
              <a:xfrm>
                <a:off x="3700873" y="1519270"/>
                <a:ext cx="533401" cy="3325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1600" dirty="0" smtClean="0">
                    <a:solidFill>
                      <a:srgbClr val="000000"/>
                    </a:solidFill>
                  </a:rPr>
                  <a:t>I±1&gt;</a:t>
                </a:r>
                <a:endParaRPr lang="en-GB" sz="1600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Line 52"/>
              <p:cNvSpPr>
                <a:spLocks noChangeShapeType="1"/>
              </p:cNvSpPr>
              <p:nvPr/>
            </p:nvSpPr>
            <p:spPr bwMode="auto">
              <a:xfrm>
                <a:off x="5872894" y="968940"/>
                <a:ext cx="162882" cy="0"/>
              </a:xfrm>
              <a:prstGeom prst="line">
                <a:avLst/>
              </a:prstGeom>
              <a:noFill/>
              <a:ln w="25560" cap="flat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4" name="Line 53"/>
              <p:cNvSpPr>
                <a:spLocks noChangeShapeType="1"/>
              </p:cNvSpPr>
              <p:nvPr/>
            </p:nvSpPr>
            <p:spPr bwMode="auto">
              <a:xfrm>
                <a:off x="5371198" y="1746877"/>
                <a:ext cx="159810" cy="1222"/>
              </a:xfrm>
              <a:prstGeom prst="line">
                <a:avLst/>
              </a:prstGeom>
              <a:noFill/>
              <a:ln w="25560" cap="flat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5" name="Line 54"/>
              <p:cNvSpPr>
                <a:spLocks noChangeShapeType="1"/>
              </p:cNvSpPr>
              <p:nvPr/>
            </p:nvSpPr>
            <p:spPr bwMode="auto">
              <a:xfrm>
                <a:off x="4853366" y="1302023"/>
                <a:ext cx="159810" cy="1222"/>
              </a:xfrm>
              <a:prstGeom prst="line">
                <a:avLst/>
              </a:prstGeom>
              <a:noFill/>
              <a:ln w="25560" cap="flat">
                <a:solidFill>
                  <a:srgbClr val="0033C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6" name="Line 58"/>
              <p:cNvSpPr>
                <a:spLocks noChangeShapeType="1"/>
              </p:cNvSpPr>
              <p:nvPr/>
            </p:nvSpPr>
            <p:spPr bwMode="auto">
              <a:xfrm>
                <a:off x="4854698" y="972371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7" name="Line 59"/>
              <p:cNvSpPr>
                <a:spLocks noChangeShapeType="1"/>
              </p:cNvSpPr>
              <p:nvPr/>
            </p:nvSpPr>
            <p:spPr bwMode="auto">
              <a:xfrm>
                <a:off x="5372530" y="1615789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00B05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8" name="Line 60"/>
              <p:cNvSpPr>
                <a:spLocks noChangeShapeType="1"/>
              </p:cNvSpPr>
              <p:nvPr/>
            </p:nvSpPr>
            <p:spPr bwMode="auto">
              <a:xfrm>
                <a:off x="5877298" y="1303245"/>
                <a:ext cx="158478" cy="0"/>
              </a:xfrm>
              <a:prstGeom prst="line">
                <a:avLst/>
              </a:prstGeom>
              <a:noFill/>
              <a:ln w="25560" cap="flat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29" name="Line 67"/>
              <p:cNvSpPr>
                <a:spLocks noChangeShapeType="1"/>
              </p:cNvSpPr>
              <p:nvPr/>
            </p:nvSpPr>
            <p:spPr bwMode="auto">
              <a:xfrm>
                <a:off x="5163997" y="977073"/>
                <a:ext cx="627035" cy="0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0" name="Rectangle 71"/>
              <p:cNvSpPr>
                <a:spLocks noChangeArrowheads="1"/>
              </p:cNvSpPr>
              <p:nvPr/>
            </p:nvSpPr>
            <p:spPr bwMode="auto">
              <a:xfrm>
                <a:off x="4677643" y="583165"/>
                <a:ext cx="493325" cy="3325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1600" dirty="0" smtClean="0">
                    <a:solidFill>
                      <a:srgbClr val="FF0000"/>
                    </a:solidFill>
                    <a:latin typeface="Calibri" charset="0"/>
                  </a:rPr>
                  <a:t>I-1&gt;</a:t>
                </a:r>
                <a:endParaRPr lang="en-GB" sz="1600" dirty="0">
                  <a:solidFill>
                    <a:srgbClr val="FF0000"/>
                  </a:solidFill>
                  <a:latin typeface="Calibri" charset="0"/>
                </a:endParaRPr>
              </a:p>
            </p:txBody>
          </p:sp>
          <p:sp>
            <p:nvSpPr>
              <p:cNvPr id="31" name="Rectangle 72"/>
              <p:cNvSpPr>
                <a:spLocks noChangeArrowheads="1"/>
              </p:cNvSpPr>
              <p:nvPr/>
            </p:nvSpPr>
            <p:spPr bwMode="auto">
              <a:xfrm>
                <a:off x="5767540" y="583165"/>
                <a:ext cx="533401" cy="3325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pPr hangingPunct="1">
                  <a:lnSpc>
                    <a:spcPct val="100000"/>
                  </a:lnSpc>
                  <a:tabLst>
                    <a:tab pos="426935" algn="l"/>
                  </a:tabLst>
                </a:pPr>
                <a:r>
                  <a:rPr lang="en-GB" sz="1600" dirty="0">
                    <a:solidFill>
                      <a:srgbClr val="0033CC"/>
                    </a:solidFill>
                    <a:latin typeface="Calibri" charset="0"/>
                  </a:rPr>
                  <a:t>I+1&gt;</a:t>
                </a:r>
              </a:p>
            </p:txBody>
          </p:sp>
          <p:sp>
            <p:nvSpPr>
              <p:cNvPr id="32" name="Line 3"/>
              <p:cNvSpPr>
                <a:spLocks noChangeShapeType="1"/>
              </p:cNvSpPr>
              <p:nvPr/>
            </p:nvSpPr>
            <p:spPr bwMode="auto">
              <a:xfrm>
                <a:off x="5358213" y="4573224"/>
                <a:ext cx="172795" cy="0"/>
              </a:xfrm>
              <a:prstGeom prst="line">
                <a:avLst/>
              </a:prstGeom>
              <a:noFill/>
              <a:ln w="28440" cap="flat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3" name="Forme libre 10"/>
              <p:cNvSpPr>
                <a:spLocks/>
              </p:cNvSpPr>
              <p:nvPr/>
            </p:nvSpPr>
            <p:spPr bwMode="auto">
              <a:xfrm>
                <a:off x="4095493" y="3041982"/>
                <a:ext cx="209731" cy="138578"/>
              </a:xfrm>
              <a:custGeom>
                <a:avLst/>
                <a:gdLst>
                  <a:gd name="T0" fmla="*/ 0 w 283029"/>
                  <a:gd name="T1" fmla="*/ 68942 h 174171"/>
                  <a:gd name="T2" fmla="*/ 108857 w 283029"/>
                  <a:gd name="T3" fmla="*/ 14514 h 174171"/>
                  <a:gd name="T4" fmla="*/ 206829 w 283029"/>
                  <a:gd name="T5" fmla="*/ 156028 h 174171"/>
                  <a:gd name="T6" fmla="*/ 283029 w 283029"/>
                  <a:gd name="T7" fmla="*/ 123371 h 17417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3029" h="174171">
                    <a:moveTo>
                      <a:pt x="0" y="68942"/>
                    </a:moveTo>
                    <a:cubicBezTo>
                      <a:pt x="37193" y="34471"/>
                      <a:pt x="74386" y="0"/>
                      <a:pt x="108857" y="14514"/>
                    </a:cubicBezTo>
                    <a:cubicBezTo>
                      <a:pt x="143328" y="29028"/>
                      <a:pt x="177800" y="137885"/>
                      <a:pt x="206829" y="156028"/>
                    </a:cubicBezTo>
                    <a:cubicBezTo>
                      <a:pt x="235858" y="174171"/>
                      <a:pt x="259443" y="148771"/>
                      <a:pt x="283029" y="123371"/>
                    </a:cubicBez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34" name="Forme libre 11"/>
              <p:cNvSpPr>
                <a:spLocks/>
              </p:cNvSpPr>
              <p:nvPr/>
            </p:nvSpPr>
            <p:spPr bwMode="auto">
              <a:xfrm>
                <a:off x="4089927" y="3113990"/>
                <a:ext cx="209731" cy="137319"/>
              </a:xfrm>
              <a:custGeom>
                <a:avLst/>
                <a:gdLst>
                  <a:gd name="T0" fmla="*/ 0 w 283029"/>
                  <a:gd name="T1" fmla="*/ 68942 h 174171"/>
                  <a:gd name="T2" fmla="*/ 108857 w 283029"/>
                  <a:gd name="T3" fmla="*/ 14514 h 174171"/>
                  <a:gd name="T4" fmla="*/ 206829 w 283029"/>
                  <a:gd name="T5" fmla="*/ 156028 h 174171"/>
                  <a:gd name="T6" fmla="*/ 283029 w 283029"/>
                  <a:gd name="T7" fmla="*/ 123371 h 17417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3029" h="174171">
                    <a:moveTo>
                      <a:pt x="0" y="68942"/>
                    </a:moveTo>
                    <a:cubicBezTo>
                      <a:pt x="37193" y="34471"/>
                      <a:pt x="74386" y="0"/>
                      <a:pt x="108857" y="14514"/>
                    </a:cubicBezTo>
                    <a:cubicBezTo>
                      <a:pt x="143328" y="29028"/>
                      <a:pt x="177800" y="137885"/>
                      <a:pt x="206829" y="156028"/>
                    </a:cubicBezTo>
                    <a:cubicBezTo>
                      <a:pt x="235858" y="174171"/>
                      <a:pt x="259443" y="148771"/>
                      <a:pt x="283029" y="123371"/>
                    </a:cubicBez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35" name="Rectangle 25"/>
              <p:cNvSpPr>
                <a:spLocks noChangeArrowheads="1"/>
              </p:cNvSpPr>
              <p:nvPr/>
            </p:nvSpPr>
            <p:spPr bwMode="auto">
              <a:xfrm>
                <a:off x="5731927" y="4850197"/>
                <a:ext cx="531848" cy="256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r>
                  <a:rPr lang="en-GB" sz="1400" dirty="0" err="1">
                    <a:latin typeface="Times New Roman" pitchFamily="16" charset="0"/>
                  </a:rPr>
                  <a:t>S</a:t>
                </a:r>
                <a:r>
                  <a:rPr lang="en-GB" sz="1400" baseline="-25000" dirty="0" err="1">
                    <a:latin typeface="Times New Roman" pitchFamily="16" charset="0"/>
                  </a:rPr>
                  <a:t>z</a:t>
                </a:r>
                <a:r>
                  <a:rPr lang="en-GB" sz="1400" dirty="0" smtClean="0">
                    <a:latin typeface="Times New Roman" pitchFamily="16" charset="0"/>
                  </a:rPr>
                  <a:t>=</a:t>
                </a:r>
                <a:r>
                  <a:rPr lang="en-GB" sz="1400" i="1" dirty="0" smtClean="0">
                    <a:latin typeface="Times New Roman" pitchFamily="16" charset="0"/>
                  </a:rPr>
                  <a:t>-</a:t>
                </a:r>
                <a:r>
                  <a:rPr lang="en-GB" sz="1400" dirty="0" smtClean="0">
                    <a:latin typeface="Times New Roman" pitchFamily="16" charset="0"/>
                  </a:rPr>
                  <a:t>1</a:t>
                </a:r>
                <a:endParaRPr lang="en-GB" sz="1400" dirty="0">
                  <a:latin typeface="Times New Roman" pitchFamily="16" charset="0"/>
                </a:endParaRPr>
              </a:p>
            </p:txBody>
          </p:sp>
          <p:sp>
            <p:nvSpPr>
              <p:cNvPr id="36" name="Line 10"/>
              <p:cNvSpPr>
                <a:spLocks noChangeShapeType="1"/>
              </p:cNvSpPr>
              <p:nvPr/>
            </p:nvSpPr>
            <p:spPr bwMode="auto">
              <a:xfrm flipV="1">
                <a:off x="4200358" y="138715"/>
                <a:ext cx="7754" cy="2935346"/>
              </a:xfrm>
              <a:prstGeom prst="line">
                <a:avLst/>
              </a:prstGeom>
              <a:noFill/>
              <a:ln w="12600" cap="flat">
                <a:solidFill>
                  <a:srgbClr val="000000"/>
                </a:solidFill>
                <a:round/>
                <a:headEnd type="none" w="med" len="med"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37" name="Rectangle 11"/>
              <p:cNvSpPr>
                <a:spLocks noChangeArrowheads="1"/>
              </p:cNvSpPr>
              <p:nvPr/>
            </p:nvSpPr>
            <p:spPr bwMode="auto">
              <a:xfrm>
                <a:off x="4911816" y="2164348"/>
                <a:ext cx="556320" cy="3171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5527" tIns="42764" rIns="85527" bIns="42764">
                <a:spAutoFit/>
              </a:bodyPr>
              <a:lstStyle/>
              <a:p>
                <a:pPr algn="ctr" hangingPunct="1">
                  <a:lnSpc>
                    <a:spcPct val="100000"/>
                  </a:lnSpc>
                  <a:spcBef>
                    <a:spcPts val="760"/>
                  </a:spcBef>
                  <a:tabLst>
                    <a:tab pos="426935" algn="l"/>
                    <a:tab pos="853868" algn="l"/>
                  </a:tabLst>
                </a:pPr>
                <a:r>
                  <a:rPr lang="en-GB" sz="1500" dirty="0">
                    <a:solidFill>
                      <a:srgbClr val="FF0000"/>
                    </a:solidFill>
                    <a:latin typeface="Symbol" charset="2"/>
                  </a:rPr>
                  <a:t>  </a:t>
                </a:r>
                <a:r>
                  <a:rPr lang="en-GB" sz="1500" dirty="0" smtClean="0">
                    <a:solidFill>
                      <a:srgbClr val="0033CC"/>
                    </a:solidFill>
                    <a:latin typeface="Symbol" charset="2"/>
                  </a:rPr>
                  <a:t>s+</a:t>
                </a:r>
                <a:endParaRPr lang="en-GB" sz="1500" dirty="0">
                  <a:solidFill>
                    <a:srgbClr val="0033CC"/>
                  </a:solidFill>
                  <a:latin typeface="Symbol" charset="2"/>
                </a:endParaRPr>
              </a:p>
            </p:txBody>
          </p:sp>
          <p:sp>
            <p:nvSpPr>
              <p:cNvPr id="38" name="Rectangle 24"/>
              <p:cNvSpPr>
                <a:spLocks noChangeArrowheads="1"/>
              </p:cNvSpPr>
              <p:nvPr/>
            </p:nvSpPr>
            <p:spPr bwMode="auto">
              <a:xfrm>
                <a:off x="5241943" y="4850197"/>
                <a:ext cx="476995" cy="2562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r>
                  <a:rPr lang="en-GB" sz="1400" dirty="0" err="1">
                    <a:latin typeface="Times New Roman" pitchFamily="16" charset="0"/>
                  </a:rPr>
                  <a:t>S</a:t>
                </a:r>
                <a:r>
                  <a:rPr lang="en-GB" sz="1400" baseline="-25000" dirty="0" err="1">
                    <a:latin typeface="Times New Roman" pitchFamily="16" charset="0"/>
                  </a:rPr>
                  <a:t>z</a:t>
                </a:r>
                <a:r>
                  <a:rPr lang="en-GB" sz="1400" dirty="0">
                    <a:latin typeface="Times New Roman" pitchFamily="16" charset="0"/>
                  </a:rPr>
                  <a:t>=0</a:t>
                </a:r>
              </a:p>
            </p:txBody>
          </p:sp>
          <p:sp>
            <p:nvSpPr>
              <p:cNvPr id="39" name="Rectangle 25"/>
              <p:cNvSpPr>
                <a:spLocks noChangeArrowheads="1"/>
              </p:cNvSpPr>
              <p:nvPr/>
            </p:nvSpPr>
            <p:spPr bwMode="auto">
              <a:xfrm>
                <a:off x="4677026" y="4850196"/>
                <a:ext cx="637595" cy="3018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5527" tIns="42764" rIns="85527" bIns="42764">
                <a:spAutoFit/>
              </a:bodyPr>
              <a:lstStyle/>
              <a:p>
                <a:r>
                  <a:rPr lang="en-GB" sz="1400" dirty="0" err="1" smtClean="0">
                    <a:latin typeface="Times New Roman" pitchFamily="16" charset="0"/>
                  </a:rPr>
                  <a:t>S</a:t>
                </a:r>
                <a:r>
                  <a:rPr lang="en-GB" sz="1400" baseline="-25000" dirty="0" err="1" smtClean="0">
                    <a:latin typeface="Times New Roman" pitchFamily="16" charset="0"/>
                  </a:rPr>
                  <a:t>z</a:t>
                </a:r>
                <a:r>
                  <a:rPr lang="en-GB" sz="1400" dirty="0" smtClean="0">
                    <a:latin typeface="Times New Roman" pitchFamily="16" charset="0"/>
                  </a:rPr>
                  <a:t>=</a:t>
                </a:r>
                <a:r>
                  <a:rPr lang="en-GB" sz="1400" dirty="0">
                    <a:latin typeface="Times New Roman" pitchFamily="16" charset="0"/>
                  </a:rPr>
                  <a:t>+</a:t>
                </a:r>
                <a:r>
                  <a:rPr lang="en-GB" sz="1400" dirty="0" smtClean="0">
                    <a:latin typeface="Times New Roman" pitchFamily="16" charset="0"/>
                  </a:rPr>
                  <a:t>1</a:t>
                </a:r>
                <a:endParaRPr lang="en-GB" sz="1400" dirty="0">
                  <a:latin typeface="Times New Roman" pitchFamily="16" charset="0"/>
                </a:endParaRPr>
              </a:p>
            </p:txBody>
          </p:sp>
          <p:sp>
            <p:nvSpPr>
              <p:cNvPr id="40" name="ZoneTexte 39"/>
              <p:cNvSpPr txBox="1"/>
              <p:nvPr/>
            </p:nvSpPr>
            <p:spPr>
              <a:xfrm>
                <a:off x="3741093" y="3868391"/>
                <a:ext cx="37382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fr-FR" sz="1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ZoneTexte 40"/>
              <p:cNvSpPr txBox="1"/>
              <p:nvPr/>
            </p:nvSpPr>
            <p:spPr>
              <a:xfrm>
                <a:off x="3845636" y="4415844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1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endParaRPr lang="en-US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ectangle 73"/>
              <p:cNvSpPr>
                <a:spLocks noChangeArrowheads="1"/>
              </p:cNvSpPr>
              <p:nvPr/>
            </p:nvSpPr>
            <p:spPr bwMode="auto">
              <a:xfrm rot="16200000">
                <a:off x="3062270" y="4176459"/>
                <a:ext cx="982080" cy="2739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5527" tIns="42764" rIns="85527" bIns="42764">
                <a:spAutoFit/>
              </a:bodyPr>
              <a:lstStyle/>
              <a:p>
                <a:pPr algn="ctr" hangingPunct="1">
                  <a:lnSpc>
                    <a:spcPct val="100000"/>
                  </a:lnSpc>
                  <a:tabLst>
                    <a:tab pos="426935" algn="l"/>
                    <a:tab pos="853868" algn="l"/>
                  </a:tabLst>
                </a:pPr>
                <a:r>
                  <a:rPr lang="en-GB" sz="1600" dirty="0">
                    <a:solidFill>
                      <a:srgbClr val="000000"/>
                    </a:solidFill>
                    <a:latin typeface="Times New Roman" pitchFamily="16" charset="0"/>
                  </a:rPr>
                  <a:t>Cr</a:t>
                </a:r>
              </a:p>
            </p:txBody>
          </p:sp>
          <p:sp>
            <p:nvSpPr>
              <p:cNvPr id="43" name="Accolade ouvrante 42"/>
              <p:cNvSpPr/>
              <p:nvPr/>
            </p:nvSpPr>
            <p:spPr>
              <a:xfrm>
                <a:off x="3643907" y="915749"/>
                <a:ext cx="117984" cy="945118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Accolade ouvrante 43"/>
              <p:cNvSpPr/>
              <p:nvPr/>
            </p:nvSpPr>
            <p:spPr>
              <a:xfrm>
                <a:off x="3645024" y="3868391"/>
                <a:ext cx="117983" cy="831106"/>
              </a:xfrm>
              <a:prstGeom prst="leftBrac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5965068" y="2010858"/>
                <a:ext cx="220956" cy="1302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" name="Connecteur droit avec flèche 45"/>
              <p:cNvCxnSpPr/>
              <p:nvPr/>
            </p:nvCxnSpPr>
            <p:spPr>
              <a:xfrm flipV="1">
                <a:off x="4869160" y="1033758"/>
                <a:ext cx="0" cy="2933783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7" name="Connecteur droit avec flèche 46"/>
              <p:cNvCxnSpPr/>
              <p:nvPr/>
            </p:nvCxnSpPr>
            <p:spPr>
              <a:xfrm>
                <a:off x="5519226" y="1655871"/>
                <a:ext cx="0" cy="2815726"/>
              </a:xfrm>
              <a:prstGeom prst="straightConnector1">
                <a:avLst/>
              </a:prstGeom>
              <a:ln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8" name="Connecteur droit avec flèche 47"/>
              <p:cNvCxnSpPr/>
              <p:nvPr/>
            </p:nvCxnSpPr>
            <p:spPr>
              <a:xfrm flipH="1">
                <a:off x="5399485" y="1780214"/>
                <a:ext cx="14967" cy="269138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eur droit avec flèche 48"/>
              <p:cNvCxnSpPr/>
              <p:nvPr/>
            </p:nvCxnSpPr>
            <p:spPr>
              <a:xfrm>
                <a:off x="5001377" y="1385506"/>
                <a:ext cx="0" cy="2582035"/>
              </a:xfrm>
              <a:prstGeom prst="straightConnector1">
                <a:avLst/>
              </a:prstGeom>
              <a:ln w="28575">
                <a:solidFill>
                  <a:schemeClr val="tx2">
                    <a:lumMod val="60000"/>
                    <a:lumOff val="4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Line 39"/>
              <p:cNvSpPr>
                <a:spLocks noChangeShapeType="1"/>
              </p:cNvSpPr>
              <p:nvPr/>
            </p:nvSpPr>
            <p:spPr bwMode="auto">
              <a:xfrm flipV="1">
                <a:off x="4126875" y="4022279"/>
                <a:ext cx="684053" cy="11316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51" name="Line 39"/>
              <p:cNvSpPr>
                <a:spLocks noChangeShapeType="1"/>
              </p:cNvSpPr>
              <p:nvPr/>
            </p:nvSpPr>
            <p:spPr bwMode="auto">
              <a:xfrm flipV="1">
                <a:off x="4105213" y="4580528"/>
                <a:ext cx="1137763" cy="0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  <p:sp>
            <p:nvSpPr>
              <p:cNvPr id="52" name="Rectangle 11"/>
              <p:cNvSpPr>
                <a:spLocks noChangeArrowheads="1"/>
              </p:cNvSpPr>
              <p:nvPr/>
            </p:nvSpPr>
            <p:spPr bwMode="auto">
              <a:xfrm>
                <a:off x="5337468" y="3130901"/>
                <a:ext cx="504056" cy="3325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5527" tIns="42764" rIns="85527" bIns="42764">
                <a:spAutoFit/>
              </a:bodyPr>
              <a:lstStyle/>
              <a:p>
                <a:pPr algn="ctr" hangingPunct="1">
                  <a:lnSpc>
                    <a:spcPct val="100000"/>
                  </a:lnSpc>
                  <a:spcBef>
                    <a:spcPts val="760"/>
                  </a:spcBef>
                  <a:tabLst>
                    <a:tab pos="426935" algn="l"/>
                    <a:tab pos="853868" algn="l"/>
                  </a:tabLst>
                </a:pPr>
                <a:r>
                  <a:rPr lang="en-GB" sz="1600" dirty="0">
                    <a:solidFill>
                      <a:srgbClr val="00B050"/>
                    </a:solidFill>
                    <a:latin typeface="Symbol" charset="2"/>
                  </a:rPr>
                  <a:t>  </a:t>
                </a:r>
                <a:r>
                  <a:rPr lang="en-GB" sz="1600" dirty="0" err="1" smtClean="0">
                    <a:solidFill>
                      <a:srgbClr val="00B050"/>
                    </a:solidFill>
                    <a:latin typeface="Symbol" charset="2"/>
                  </a:rPr>
                  <a:t>p</a:t>
                </a:r>
                <a:r>
                  <a:rPr lang="en-GB" sz="1600" baseline="-25000" dirty="0" err="1" smtClean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GB" sz="1600" baseline="-250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11"/>
              <p:cNvSpPr>
                <a:spLocks noChangeArrowheads="1"/>
              </p:cNvSpPr>
              <p:nvPr/>
            </p:nvSpPr>
            <p:spPr bwMode="auto">
              <a:xfrm>
                <a:off x="4952434" y="3130901"/>
                <a:ext cx="504056" cy="3325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ap="flat">
                    <a:solidFill>
                      <a:srgbClr val="3465A4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85527" tIns="42764" rIns="85527" bIns="42764">
                <a:spAutoFit/>
              </a:bodyPr>
              <a:lstStyle/>
              <a:p>
                <a:pPr algn="ctr" hangingPunct="1">
                  <a:lnSpc>
                    <a:spcPct val="100000"/>
                  </a:lnSpc>
                  <a:spcBef>
                    <a:spcPts val="760"/>
                  </a:spcBef>
                  <a:tabLst>
                    <a:tab pos="426935" algn="l"/>
                    <a:tab pos="853868" algn="l"/>
                  </a:tabLst>
                </a:pPr>
                <a:r>
                  <a:rPr lang="en-GB" sz="1600" dirty="0">
                    <a:solidFill>
                      <a:srgbClr val="00B050"/>
                    </a:solidFill>
                    <a:latin typeface="Symbol" charset="2"/>
                  </a:rPr>
                  <a:t>  </a:t>
                </a:r>
                <a:r>
                  <a:rPr lang="en-GB" sz="1600" dirty="0" err="1" smtClean="0">
                    <a:latin typeface="Symbol" charset="2"/>
                  </a:rPr>
                  <a:t>p</a:t>
                </a:r>
                <a:r>
                  <a:rPr lang="en-GB" sz="16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GB" sz="16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AutoShape 12"/>
              <p:cNvSpPr>
                <a:spLocks/>
              </p:cNvSpPr>
              <p:nvPr/>
            </p:nvSpPr>
            <p:spPr bwMode="auto">
              <a:xfrm>
                <a:off x="4295965" y="2172470"/>
                <a:ext cx="484757" cy="125929"/>
              </a:xfrm>
              <a:custGeom>
                <a:avLst/>
                <a:gdLst>
                  <a:gd name="G0" fmla="*/ 0 1604 1"/>
                  <a:gd name="G1" fmla="*/ G0 1 62639"/>
                  <a:gd name="G2" fmla="*/ 17013 454 1"/>
                  <a:gd name="G3" fmla="*/ G2 1 27677"/>
                  <a:gd name="G4" fmla="*/ 42863 1604 1"/>
                  <a:gd name="G5" fmla="*/ G4 1 62639"/>
                  <a:gd name="G6" fmla="*/ 11112 454 1"/>
                  <a:gd name="G7" fmla="*/ G6 1 27677"/>
                  <a:gd name="G8" fmla="*/ 48764 1604 1"/>
                  <a:gd name="G9" fmla="*/ G8 1 62639"/>
                  <a:gd name="G10" fmla="*/ 18152 454 1"/>
                  <a:gd name="G11" fmla="*/ G10 1 27677"/>
                  <a:gd name="G12" fmla="*/ 54666 1604 1"/>
                  <a:gd name="G13" fmla="*/ G12 1 62639"/>
                  <a:gd name="G14" fmla="*/ 20637 454 1"/>
                  <a:gd name="G15" fmla="*/ G14 1 27677"/>
                  <a:gd name="G16" fmla="*/ 60567 1604 1"/>
                  <a:gd name="G17" fmla="*/ G16 1 62639"/>
                  <a:gd name="G18" fmla="*/ 22915 454 1"/>
                  <a:gd name="G19" fmla="*/ G18 1 27677"/>
                  <a:gd name="G20" fmla="*/ 933 1604 1"/>
                  <a:gd name="G21" fmla="*/ G20 1 62639"/>
                  <a:gd name="G22" fmla="*/ 20637 454 1"/>
                  <a:gd name="G23" fmla="*/ G22 1 27677"/>
                  <a:gd name="G24" fmla="*/ 11597 1604 1"/>
                  <a:gd name="G25" fmla="*/ G24 1 62639"/>
                  <a:gd name="G26" fmla="*/ 27677 454 1"/>
                  <a:gd name="G27" fmla="*/ G26 1 27677"/>
                  <a:gd name="G28" fmla="*/ 17498 1604 1"/>
                  <a:gd name="G29" fmla="*/ G28 1 62639"/>
                  <a:gd name="G30" fmla="*/ 20637 454 1"/>
                  <a:gd name="G31" fmla="*/ G30 1 27677"/>
                  <a:gd name="G32" fmla="*/ 9112 1604 1"/>
                  <a:gd name="G33" fmla="*/ G32 1 62639"/>
                  <a:gd name="G34" fmla="*/ 21776 454 1"/>
                  <a:gd name="G35" fmla="*/ G34 1 27677"/>
                  <a:gd name="G36" fmla="*/ 42450 1604 1"/>
                  <a:gd name="G37" fmla="*/ G36 1 62639"/>
                  <a:gd name="G38" fmla="*/ 21776 454 1"/>
                  <a:gd name="G39" fmla="*/ G38 1 27677"/>
                  <a:gd name="G40" fmla="*/ 10251 1604 1"/>
                  <a:gd name="G41" fmla="*/ G40 1 62639"/>
                  <a:gd name="G42" fmla="*/ 21776 454 1"/>
                  <a:gd name="G43" fmla="*/ G42 1 27677"/>
                  <a:gd name="G44" fmla="*/ 62639 1604 1"/>
                  <a:gd name="G45" fmla="*/ G44 1 62639"/>
                  <a:gd name="G46" fmla="*/ 21776 454 1"/>
                  <a:gd name="G47" fmla="*/ G46 1 27677"/>
                  <a:gd name="G48" fmla="*/ 62639 1604 1"/>
                  <a:gd name="G49" fmla="*/ G48 1 62639"/>
                  <a:gd name="G50" fmla="*/ 21776 454 1"/>
                  <a:gd name="G51" fmla="*/ G50 1 27677"/>
                  <a:gd name="G52" fmla="*/ 62639 1604 1"/>
                  <a:gd name="G53" fmla="*/ G52 1 62639"/>
                  <a:gd name="G54" fmla="*/ 21776 454 1"/>
                  <a:gd name="G55" fmla="*/ G54 1 27677"/>
                  <a:gd name="G56" fmla="+- 1604 0 0"/>
                  <a:gd name="G57" fmla="+- 454 0 0"/>
                </a:gdLst>
                <a:ahLst/>
                <a:cxnLst>
                  <a:cxn ang="0">
                    <a:pos x="r" y="vc"/>
                  </a:cxn>
                  <a:cxn ang="5400000">
                    <a:pos x="hc" y="b"/>
                  </a:cxn>
                  <a:cxn ang="10800000">
                    <a:pos x="l" y="vc"/>
                  </a:cxn>
                  <a:cxn ang="16200000">
                    <a:pos x="hc" y="t"/>
                  </a:cxn>
                </a:cxnLst>
                <a:rect l="0" t="0" r="0" b="0"/>
                <a:pathLst>
                  <a:path>
                    <a:moveTo>
                      <a:pt x="0" y="82549"/>
                    </a:moveTo>
                    <a:cubicBezTo>
                      <a:pt x="11906" y="41274"/>
                      <a:pt x="23813" y="0"/>
                      <a:pt x="42863" y="11112"/>
                    </a:cubicBezTo>
                    <a:cubicBezTo>
                      <a:pt x="61913" y="22224"/>
                      <a:pt x="90487" y="147636"/>
                      <a:pt x="114300" y="149224"/>
                    </a:cubicBezTo>
                    <a:cubicBezTo>
                      <a:pt x="138113" y="150812"/>
                      <a:pt x="161926" y="19843"/>
                      <a:pt x="185738" y="20637"/>
                    </a:cubicBezTo>
                    <a:cubicBezTo>
                      <a:pt x="209550" y="21431"/>
                      <a:pt x="233363" y="153987"/>
                      <a:pt x="257175" y="153987"/>
                    </a:cubicBezTo>
                    <a:cubicBezTo>
                      <a:pt x="280987" y="153987"/>
                      <a:pt x="304007" y="19843"/>
                      <a:pt x="328613" y="20637"/>
                    </a:cubicBezTo>
                    <a:cubicBezTo>
                      <a:pt x="353219" y="21431"/>
                      <a:pt x="380207" y="158749"/>
                      <a:pt x="404813" y="158749"/>
                    </a:cubicBezTo>
                    <a:cubicBezTo>
                      <a:pt x="429419" y="158749"/>
                      <a:pt x="454819" y="32543"/>
                      <a:pt x="476250" y="20637"/>
                    </a:cubicBezTo>
                    <a:cubicBezTo>
                      <a:pt x="497681" y="8731"/>
                      <a:pt x="518319" y="76199"/>
                      <a:pt x="533400" y="87312"/>
                    </a:cubicBezTo>
                    <a:cubicBezTo>
                      <a:pt x="548481" y="98425"/>
                      <a:pt x="566738" y="87312"/>
                      <a:pt x="566738" y="87312"/>
                    </a:cubicBezTo>
                    <a:lnTo>
                      <a:pt x="600075" y="87312"/>
                    </a:lnTo>
                    <a:lnTo>
                      <a:pt x="652463" y="87312"/>
                    </a:lnTo>
                  </a:path>
                </a:pathLst>
              </a:custGeom>
              <a:noFill/>
              <a:ln w="19050" cap="flat">
                <a:solidFill>
                  <a:srgbClr val="FF0000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6895" tIns="43448" rIns="86895" bIns="43448" anchor="ctr"/>
              <a:lstStyle/>
              <a:p>
                <a:endParaRPr lang="fr-FR"/>
              </a:p>
            </p:txBody>
          </p:sp>
          <p:sp>
            <p:nvSpPr>
              <p:cNvPr id="56" name="Rectangle 55"/>
              <p:cNvSpPr/>
              <p:nvPr/>
            </p:nvSpPr>
            <p:spPr>
              <a:xfrm>
                <a:off x="5358213" y="2481542"/>
                <a:ext cx="215297" cy="2357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AutoShape 12"/>
              <p:cNvSpPr>
                <a:spLocks/>
              </p:cNvSpPr>
              <p:nvPr/>
            </p:nvSpPr>
            <p:spPr bwMode="auto">
              <a:xfrm>
                <a:off x="5095269" y="2500649"/>
                <a:ext cx="515962" cy="175875"/>
              </a:xfrm>
              <a:custGeom>
                <a:avLst/>
                <a:gdLst>
                  <a:gd name="G0" fmla="*/ 0 1604 1"/>
                  <a:gd name="G1" fmla="*/ G0 1 62639"/>
                  <a:gd name="G2" fmla="*/ 17013 454 1"/>
                  <a:gd name="G3" fmla="*/ G2 1 27677"/>
                  <a:gd name="G4" fmla="*/ 42863 1604 1"/>
                  <a:gd name="G5" fmla="*/ G4 1 62639"/>
                  <a:gd name="G6" fmla="*/ 11112 454 1"/>
                  <a:gd name="G7" fmla="*/ G6 1 27677"/>
                  <a:gd name="G8" fmla="*/ 48764 1604 1"/>
                  <a:gd name="G9" fmla="*/ G8 1 62639"/>
                  <a:gd name="G10" fmla="*/ 18152 454 1"/>
                  <a:gd name="G11" fmla="*/ G10 1 27677"/>
                  <a:gd name="G12" fmla="*/ 54666 1604 1"/>
                  <a:gd name="G13" fmla="*/ G12 1 62639"/>
                  <a:gd name="G14" fmla="*/ 20637 454 1"/>
                  <a:gd name="G15" fmla="*/ G14 1 27677"/>
                  <a:gd name="G16" fmla="*/ 60567 1604 1"/>
                  <a:gd name="G17" fmla="*/ G16 1 62639"/>
                  <a:gd name="G18" fmla="*/ 22915 454 1"/>
                  <a:gd name="G19" fmla="*/ G18 1 27677"/>
                  <a:gd name="G20" fmla="*/ 933 1604 1"/>
                  <a:gd name="G21" fmla="*/ G20 1 62639"/>
                  <a:gd name="G22" fmla="*/ 20637 454 1"/>
                  <a:gd name="G23" fmla="*/ G22 1 27677"/>
                  <a:gd name="G24" fmla="*/ 11597 1604 1"/>
                  <a:gd name="G25" fmla="*/ G24 1 62639"/>
                  <a:gd name="G26" fmla="*/ 27677 454 1"/>
                  <a:gd name="G27" fmla="*/ G26 1 27677"/>
                  <a:gd name="G28" fmla="*/ 17498 1604 1"/>
                  <a:gd name="G29" fmla="*/ G28 1 62639"/>
                  <a:gd name="G30" fmla="*/ 20637 454 1"/>
                  <a:gd name="G31" fmla="*/ G30 1 27677"/>
                  <a:gd name="G32" fmla="*/ 9112 1604 1"/>
                  <a:gd name="G33" fmla="*/ G32 1 62639"/>
                  <a:gd name="G34" fmla="*/ 21776 454 1"/>
                  <a:gd name="G35" fmla="*/ G34 1 27677"/>
                  <a:gd name="G36" fmla="*/ 42450 1604 1"/>
                  <a:gd name="G37" fmla="*/ G36 1 62639"/>
                  <a:gd name="G38" fmla="*/ 21776 454 1"/>
                  <a:gd name="G39" fmla="*/ G38 1 27677"/>
                  <a:gd name="G40" fmla="*/ 10251 1604 1"/>
                  <a:gd name="G41" fmla="*/ G40 1 62639"/>
                  <a:gd name="G42" fmla="*/ 21776 454 1"/>
                  <a:gd name="G43" fmla="*/ G42 1 27677"/>
                  <a:gd name="G44" fmla="*/ 62639 1604 1"/>
                  <a:gd name="G45" fmla="*/ G44 1 62639"/>
                  <a:gd name="G46" fmla="*/ 21776 454 1"/>
                  <a:gd name="G47" fmla="*/ G46 1 27677"/>
                  <a:gd name="G48" fmla="*/ 62639 1604 1"/>
                  <a:gd name="G49" fmla="*/ G48 1 62639"/>
                  <a:gd name="G50" fmla="*/ 21776 454 1"/>
                  <a:gd name="G51" fmla="*/ G50 1 27677"/>
                  <a:gd name="G52" fmla="*/ 62639 1604 1"/>
                  <a:gd name="G53" fmla="*/ G52 1 62639"/>
                  <a:gd name="G54" fmla="*/ 21776 454 1"/>
                  <a:gd name="G55" fmla="*/ G54 1 27677"/>
                  <a:gd name="G56" fmla="+- 1604 0 0"/>
                  <a:gd name="G57" fmla="+- 454 0 0"/>
                </a:gdLst>
                <a:ahLst/>
                <a:cxnLst>
                  <a:cxn ang="0">
                    <a:pos x="r" y="vc"/>
                  </a:cxn>
                  <a:cxn ang="5400000">
                    <a:pos x="hc" y="b"/>
                  </a:cxn>
                  <a:cxn ang="10800000">
                    <a:pos x="l" y="vc"/>
                  </a:cxn>
                  <a:cxn ang="16200000">
                    <a:pos x="hc" y="t"/>
                  </a:cxn>
                </a:cxnLst>
                <a:rect l="0" t="0" r="0" b="0"/>
                <a:pathLst>
                  <a:path>
                    <a:moveTo>
                      <a:pt x="0" y="82549"/>
                    </a:moveTo>
                    <a:cubicBezTo>
                      <a:pt x="11906" y="41274"/>
                      <a:pt x="23813" y="0"/>
                      <a:pt x="42863" y="11112"/>
                    </a:cubicBezTo>
                    <a:cubicBezTo>
                      <a:pt x="61913" y="22224"/>
                      <a:pt x="90487" y="147636"/>
                      <a:pt x="114300" y="149224"/>
                    </a:cubicBezTo>
                    <a:cubicBezTo>
                      <a:pt x="138113" y="150812"/>
                      <a:pt x="161926" y="19843"/>
                      <a:pt x="185738" y="20637"/>
                    </a:cubicBezTo>
                    <a:cubicBezTo>
                      <a:pt x="209550" y="21431"/>
                      <a:pt x="233363" y="153987"/>
                      <a:pt x="257175" y="153987"/>
                    </a:cubicBezTo>
                    <a:cubicBezTo>
                      <a:pt x="280987" y="153987"/>
                      <a:pt x="304007" y="19843"/>
                      <a:pt x="328613" y="20637"/>
                    </a:cubicBezTo>
                    <a:cubicBezTo>
                      <a:pt x="353219" y="21431"/>
                      <a:pt x="380207" y="158749"/>
                      <a:pt x="404813" y="158749"/>
                    </a:cubicBezTo>
                    <a:cubicBezTo>
                      <a:pt x="429419" y="158749"/>
                      <a:pt x="454819" y="32543"/>
                      <a:pt x="476250" y="20637"/>
                    </a:cubicBezTo>
                    <a:cubicBezTo>
                      <a:pt x="497681" y="8731"/>
                      <a:pt x="518319" y="76199"/>
                      <a:pt x="533400" y="87312"/>
                    </a:cubicBezTo>
                    <a:cubicBezTo>
                      <a:pt x="548481" y="98425"/>
                      <a:pt x="566738" y="87312"/>
                      <a:pt x="566738" y="87312"/>
                    </a:cubicBezTo>
                    <a:lnTo>
                      <a:pt x="600075" y="87312"/>
                    </a:lnTo>
                    <a:lnTo>
                      <a:pt x="652463" y="87312"/>
                    </a:lnTo>
                  </a:path>
                </a:pathLst>
              </a:custGeom>
              <a:noFill/>
              <a:ln w="19050" cap="flat">
                <a:solidFill>
                  <a:srgbClr val="0066CC"/>
                </a:solidFill>
                <a:round/>
                <a:headEnd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86895" tIns="43448" rIns="86895" bIns="43448" anchor="ctr"/>
              <a:lstStyle/>
              <a:p>
                <a:endParaRPr lang="fr-FR"/>
              </a:p>
            </p:txBody>
          </p:sp>
          <p:sp>
            <p:nvSpPr>
              <p:cNvPr id="58" name="Freeform 88"/>
              <p:cNvSpPr>
                <a:spLocks/>
              </p:cNvSpPr>
              <p:nvPr/>
            </p:nvSpPr>
            <p:spPr bwMode="auto">
              <a:xfrm rot="5572355" flipH="1">
                <a:off x="4935385" y="1083841"/>
                <a:ext cx="319769" cy="111411"/>
              </a:xfrm>
              <a:custGeom>
                <a:avLst/>
                <a:gdLst>
                  <a:gd name="T0" fmla="*/ 0 w 590"/>
                  <a:gd name="T1" fmla="*/ 90 h 90"/>
                  <a:gd name="T2" fmla="*/ 272 w 590"/>
                  <a:gd name="T3" fmla="*/ 0 h 90"/>
                  <a:gd name="T4" fmla="*/ 590 w 590"/>
                  <a:gd name="T5" fmla="*/ 90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90" h="90">
                    <a:moveTo>
                      <a:pt x="0" y="90"/>
                    </a:moveTo>
                    <a:cubicBezTo>
                      <a:pt x="87" y="45"/>
                      <a:pt x="174" y="0"/>
                      <a:pt x="272" y="0"/>
                    </a:cubicBezTo>
                    <a:cubicBezTo>
                      <a:pt x="370" y="0"/>
                      <a:pt x="537" y="75"/>
                      <a:pt x="590" y="90"/>
                    </a:cubicBezTo>
                  </a:path>
                </a:pathLst>
              </a:custGeom>
              <a:noFill/>
              <a:ln w="19050">
                <a:solidFill>
                  <a:srgbClr val="009900"/>
                </a:solidFill>
                <a:round/>
                <a:headEnd type="triangl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67"/>
              <p:cNvSpPr>
                <a:spLocks noChangeShapeType="1"/>
              </p:cNvSpPr>
              <p:nvPr/>
            </p:nvSpPr>
            <p:spPr bwMode="auto">
              <a:xfrm>
                <a:off x="5163997" y="1317640"/>
                <a:ext cx="627035" cy="0"/>
              </a:xfrm>
              <a:prstGeom prst="line">
                <a:avLst/>
              </a:prstGeom>
              <a:noFill/>
              <a:ln w="9360" cap="rnd">
                <a:solidFill>
                  <a:srgbClr val="000000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86895" tIns="43448" rIns="86895" bIns="43448"/>
              <a:lstStyle/>
              <a:p>
                <a:endParaRPr lang="fr-FR"/>
              </a:p>
            </p:txBody>
          </p:sp>
        </p:grpSp>
        <p:sp>
          <p:nvSpPr>
            <p:cNvPr id="60" name="Rectangle 73"/>
            <p:cNvSpPr>
              <a:spLocks noChangeArrowheads="1"/>
            </p:cNvSpPr>
            <p:nvPr/>
          </p:nvSpPr>
          <p:spPr bwMode="auto">
            <a:xfrm rot="16200000">
              <a:off x="1635023" y="946061"/>
              <a:ext cx="785040" cy="3325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flat">
                  <a:solidFill>
                    <a:srgbClr val="3465A4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85527" tIns="42764" rIns="85527" bIns="42764">
              <a:spAutoFit/>
            </a:bodyPr>
            <a:lstStyle/>
            <a:p>
              <a:pPr algn="ctr" hangingPunct="1">
                <a:lnSpc>
                  <a:spcPct val="100000"/>
                </a:lnSpc>
                <a:tabLst>
                  <a:tab pos="426935" algn="l"/>
                  <a:tab pos="853868" algn="l"/>
                </a:tabLst>
              </a:pPr>
              <a:r>
                <a:rPr lang="en-GB" sz="1600" dirty="0" smtClean="0">
                  <a:solidFill>
                    <a:srgbClr val="000000"/>
                  </a:solidFill>
                  <a:latin typeface="Times New Roman" pitchFamily="16" charset="0"/>
                </a:rPr>
                <a:t>X-Cr</a:t>
              </a:r>
              <a:endParaRPr lang="en-GB" sz="1600" dirty="0">
                <a:solidFill>
                  <a:srgbClr val="000000"/>
                </a:solidFill>
                <a:latin typeface="Times New Roman" pitchFamily="16" charset="0"/>
              </a:endParaRPr>
            </a:p>
          </p:txBody>
        </p:sp>
      </p:grpSp>
      <p:sp>
        <p:nvSpPr>
          <p:cNvPr id="54" name="Freeform 88"/>
          <p:cNvSpPr>
            <a:spLocks/>
          </p:cNvSpPr>
          <p:nvPr/>
        </p:nvSpPr>
        <p:spPr bwMode="auto">
          <a:xfrm rot="3103450" flipH="1">
            <a:off x="3879026" y="984548"/>
            <a:ext cx="786233" cy="155253"/>
          </a:xfrm>
          <a:custGeom>
            <a:avLst/>
            <a:gdLst>
              <a:gd name="T0" fmla="*/ 0 w 590"/>
              <a:gd name="T1" fmla="*/ 90 h 90"/>
              <a:gd name="T2" fmla="*/ 272 w 590"/>
              <a:gd name="T3" fmla="*/ 0 h 90"/>
              <a:gd name="T4" fmla="*/ 590 w 590"/>
              <a:gd name="T5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0" h="90">
                <a:moveTo>
                  <a:pt x="0" y="90"/>
                </a:moveTo>
                <a:cubicBezTo>
                  <a:pt x="87" y="45"/>
                  <a:pt x="174" y="0"/>
                  <a:pt x="272" y="0"/>
                </a:cubicBezTo>
                <a:cubicBezTo>
                  <a:pt x="370" y="0"/>
                  <a:pt x="537" y="75"/>
                  <a:pt x="590" y="90"/>
                </a:cubicBezTo>
              </a:path>
            </a:pathLst>
          </a:custGeom>
          <a:noFill/>
          <a:ln w="19050">
            <a:solidFill>
              <a:srgbClr val="009900"/>
            </a:solidFill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092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27</Words>
  <Application>Microsoft Office PowerPoint</Application>
  <PresentationFormat>Personnalisé</PresentationFormat>
  <Paragraphs>15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4</cp:revision>
  <dcterms:created xsi:type="dcterms:W3CDTF">2017-06-21T17:27:06Z</dcterms:created>
  <dcterms:modified xsi:type="dcterms:W3CDTF">2017-06-21T17:49:04Z</dcterms:modified>
</cp:coreProperties>
</file>