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189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9DC4D-DBF3-40DF-B47D-D5DA928D2C0A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C493-DEC3-4DC3-BFD8-C0DCE096A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410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9DC4D-DBF3-40DF-B47D-D5DA928D2C0A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C493-DEC3-4DC3-BFD8-C0DCE096A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9301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9DC4D-DBF3-40DF-B47D-D5DA928D2C0A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C493-DEC3-4DC3-BFD8-C0DCE096A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9390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9DC4D-DBF3-40DF-B47D-D5DA928D2C0A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C493-DEC3-4DC3-BFD8-C0DCE096A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0656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9DC4D-DBF3-40DF-B47D-D5DA928D2C0A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C493-DEC3-4DC3-BFD8-C0DCE096A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3928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9DC4D-DBF3-40DF-B47D-D5DA928D2C0A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C493-DEC3-4DC3-BFD8-C0DCE096A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6648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9DC4D-DBF3-40DF-B47D-D5DA928D2C0A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C493-DEC3-4DC3-BFD8-C0DCE096A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8733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9DC4D-DBF3-40DF-B47D-D5DA928D2C0A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C493-DEC3-4DC3-BFD8-C0DCE096A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2467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9DC4D-DBF3-40DF-B47D-D5DA928D2C0A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C493-DEC3-4DC3-BFD8-C0DCE096A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1240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9DC4D-DBF3-40DF-B47D-D5DA928D2C0A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C493-DEC3-4DC3-BFD8-C0DCE096A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3606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9DC4D-DBF3-40DF-B47D-D5DA928D2C0A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C493-DEC3-4DC3-BFD8-C0DCE096A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4565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9DC4D-DBF3-40DF-B47D-D5DA928D2C0A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8C493-DEC3-4DC3-BFD8-C0DCE096A4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683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e 68"/>
          <p:cNvGrpSpPr>
            <a:grpSpLocks noChangeAspect="1"/>
          </p:cNvGrpSpPr>
          <p:nvPr/>
        </p:nvGrpSpPr>
        <p:grpSpPr>
          <a:xfrm>
            <a:off x="908720" y="-36512"/>
            <a:ext cx="6345576" cy="6746631"/>
            <a:chOff x="908720" y="-36512"/>
            <a:chExt cx="4230384" cy="4497754"/>
          </a:xfrm>
        </p:grpSpPr>
        <p:sp>
          <p:nvSpPr>
            <p:cNvPr id="4" name="Line 1"/>
            <p:cNvSpPr>
              <a:spLocks noChangeShapeType="1"/>
            </p:cNvSpPr>
            <p:nvPr/>
          </p:nvSpPr>
          <p:spPr bwMode="auto">
            <a:xfrm>
              <a:off x="4499056" y="3036552"/>
              <a:ext cx="159810" cy="1222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5" name="Line 2"/>
            <p:cNvSpPr>
              <a:spLocks noChangeShapeType="1"/>
            </p:cNvSpPr>
            <p:nvPr/>
          </p:nvSpPr>
          <p:spPr bwMode="auto">
            <a:xfrm>
              <a:off x="4156796" y="3937883"/>
              <a:ext cx="159810" cy="1222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6" name="Line 4"/>
            <p:cNvSpPr>
              <a:spLocks noChangeShapeType="1"/>
            </p:cNvSpPr>
            <p:nvPr/>
          </p:nvSpPr>
          <p:spPr bwMode="auto">
            <a:xfrm>
              <a:off x="3323173" y="3937883"/>
              <a:ext cx="159810" cy="1222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3016817" y="3035330"/>
              <a:ext cx="170675" cy="0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2418049" y="-36512"/>
              <a:ext cx="432819" cy="2627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5527" tIns="42764" rIns="85527" bIns="42764">
              <a:spAutoFit/>
            </a:bodyPr>
            <a:lstStyle/>
            <a:p>
              <a:pPr hangingPunct="1">
                <a:lnSpc>
                  <a:spcPct val="100000"/>
                </a:lnSpc>
                <a:tabLst>
                  <a:tab pos="426935" algn="l"/>
                </a:tabLst>
              </a:pPr>
              <a:r>
                <a:rPr lang="en-GB" sz="2000" dirty="0">
                  <a:solidFill>
                    <a:srgbClr val="000000"/>
                  </a:solidFill>
                  <a:latin typeface="Times New Roman" pitchFamily="16" charset="0"/>
                </a:rPr>
                <a:t>E</a:t>
              </a:r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 flipH="1" flipV="1">
              <a:off x="2407085" y="2574813"/>
              <a:ext cx="10964" cy="1743476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0" name="Rectangle 11"/>
            <p:cNvSpPr>
              <a:spLocks noChangeArrowheads="1"/>
            </p:cNvSpPr>
            <p:nvPr/>
          </p:nvSpPr>
          <p:spPr bwMode="auto">
            <a:xfrm>
              <a:off x="4218582" y="2286494"/>
              <a:ext cx="734598" cy="2525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5527" tIns="42764" rIns="85527" bIns="42764">
              <a:spAutoFit/>
            </a:bodyPr>
            <a:lstStyle/>
            <a:p>
              <a:pPr algn="ctr" hangingPunct="1">
                <a:lnSpc>
                  <a:spcPct val="100000"/>
                </a:lnSpc>
                <a:spcBef>
                  <a:spcPts val="760"/>
                </a:spcBef>
                <a:tabLst>
                  <a:tab pos="426935" algn="l"/>
                  <a:tab pos="853868" algn="l"/>
                </a:tabLst>
              </a:pPr>
              <a:r>
                <a:rPr lang="en-GB" sz="1900" dirty="0">
                  <a:solidFill>
                    <a:srgbClr val="FF0000"/>
                  </a:solidFill>
                  <a:latin typeface="Symbol" charset="2"/>
                </a:rPr>
                <a:t>  s-</a:t>
              </a:r>
            </a:p>
          </p:txBody>
        </p:sp>
        <p:sp>
          <p:nvSpPr>
            <p:cNvPr id="11" name="AutoShape 12"/>
            <p:cNvSpPr>
              <a:spLocks/>
            </p:cNvSpPr>
            <p:nvPr/>
          </p:nvSpPr>
          <p:spPr bwMode="auto">
            <a:xfrm>
              <a:off x="4348716" y="2501855"/>
              <a:ext cx="484757" cy="125929"/>
            </a:xfrm>
            <a:custGeom>
              <a:avLst/>
              <a:gdLst>
                <a:gd name="G0" fmla="*/ 0 1604 1"/>
                <a:gd name="G1" fmla="*/ G0 1 62639"/>
                <a:gd name="G2" fmla="*/ 17013 454 1"/>
                <a:gd name="G3" fmla="*/ G2 1 27677"/>
                <a:gd name="G4" fmla="*/ 42863 1604 1"/>
                <a:gd name="G5" fmla="*/ G4 1 62639"/>
                <a:gd name="G6" fmla="*/ 11112 454 1"/>
                <a:gd name="G7" fmla="*/ G6 1 27677"/>
                <a:gd name="G8" fmla="*/ 48764 1604 1"/>
                <a:gd name="G9" fmla="*/ G8 1 62639"/>
                <a:gd name="G10" fmla="*/ 18152 454 1"/>
                <a:gd name="G11" fmla="*/ G10 1 27677"/>
                <a:gd name="G12" fmla="*/ 54666 1604 1"/>
                <a:gd name="G13" fmla="*/ G12 1 62639"/>
                <a:gd name="G14" fmla="*/ 20637 454 1"/>
                <a:gd name="G15" fmla="*/ G14 1 27677"/>
                <a:gd name="G16" fmla="*/ 60567 1604 1"/>
                <a:gd name="G17" fmla="*/ G16 1 62639"/>
                <a:gd name="G18" fmla="*/ 22915 454 1"/>
                <a:gd name="G19" fmla="*/ G18 1 27677"/>
                <a:gd name="G20" fmla="*/ 933 1604 1"/>
                <a:gd name="G21" fmla="*/ G20 1 62639"/>
                <a:gd name="G22" fmla="*/ 20637 454 1"/>
                <a:gd name="G23" fmla="*/ G22 1 27677"/>
                <a:gd name="G24" fmla="*/ 11597 1604 1"/>
                <a:gd name="G25" fmla="*/ G24 1 62639"/>
                <a:gd name="G26" fmla="*/ 27677 454 1"/>
                <a:gd name="G27" fmla="*/ G26 1 27677"/>
                <a:gd name="G28" fmla="*/ 17498 1604 1"/>
                <a:gd name="G29" fmla="*/ G28 1 62639"/>
                <a:gd name="G30" fmla="*/ 20637 454 1"/>
                <a:gd name="G31" fmla="*/ G30 1 27677"/>
                <a:gd name="G32" fmla="*/ 9112 1604 1"/>
                <a:gd name="G33" fmla="*/ G32 1 62639"/>
                <a:gd name="G34" fmla="*/ 21776 454 1"/>
                <a:gd name="G35" fmla="*/ G34 1 27677"/>
                <a:gd name="G36" fmla="*/ 42450 1604 1"/>
                <a:gd name="G37" fmla="*/ G36 1 62639"/>
                <a:gd name="G38" fmla="*/ 21776 454 1"/>
                <a:gd name="G39" fmla="*/ G38 1 27677"/>
                <a:gd name="G40" fmla="*/ 10251 1604 1"/>
                <a:gd name="G41" fmla="*/ G40 1 62639"/>
                <a:gd name="G42" fmla="*/ 21776 454 1"/>
                <a:gd name="G43" fmla="*/ G42 1 27677"/>
                <a:gd name="G44" fmla="*/ 62639 1604 1"/>
                <a:gd name="G45" fmla="*/ G44 1 62639"/>
                <a:gd name="G46" fmla="*/ 21776 454 1"/>
                <a:gd name="G47" fmla="*/ G46 1 27677"/>
                <a:gd name="G48" fmla="*/ 62639 1604 1"/>
                <a:gd name="G49" fmla="*/ G48 1 62639"/>
                <a:gd name="G50" fmla="*/ 21776 454 1"/>
                <a:gd name="G51" fmla="*/ G50 1 27677"/>
                <a:gd name="G52" fmla="*/ 62639 1604 1"/>
                <a:gd name="G53" fmla="*/ G52 1 62639"/>
                <a:gd name="G54" fmla="*/ 21776 454 1"/>
                <a:gd name="G55" fmla="*/ G54 1 27677"/>
                <a:gd name="G56" fmla="+- 1604 0 0"/>
                <a:gd name="G57" fmla="+- 454 0 0"/>
              </a:gdLst>
              <a:ahLst/>
              <a:cxnLst>
                <a:cxn ang="0">
                  <a:pos x="r" y="vc"/>
                </a:cxn>
                <a:cxn ang="5400000">
                  <a:pos x="hc" y="b"/>
                </a:cxn>
                <a:cxn ang="10800000">
                  <a:pos x="l" y="vc"/>
                </a:cxn>
                <a:cxn ang="16200000">
                  <a:pos x="hc" y="t"/>
                </a:cxn>
              </a:cxnLst>
              <a:rect l="0" t="0" r="0" b="0"/>
              <a:pathLst>
                <a:path>
                  <a:moveTo>
                    <a:pt x="0" y="82549"/>
                  </a:moveTo>
                  <a:cubicBezTo>
                    <a:pt x="11906" y="41274"/>
                    <a:pt x="23813" y="0"/>
                    <a:pt x="42863" y="11112"/>
                  </a:cubicBezTo>
                  <a:cubicBezTo>
                    <a:pt x="61913" y="22224"/>
                    <a:pt x="90487" y="147636"/>
                    <a:pt x="114300" y="149224"/>
                  </a:cubicBezTo>
                  <a:cubicBezTo>
                    <a:pt x="138113" y="150812"/>
                    <a:pt x="161926" y="19843"/>
                    <a:pt x="185738" y="20637"/>
                  </a:cubicBezTo>
                  <a:cubicBezTo>
                    <a:pt x="209550" y="21431"/>
                    <a:pt x="233363" y="153987"/>
                    <a:pt x="257175" y="153987"/>
                  </a:cubicBezTo>
                  <a:cubicBezTo>
                    <a:pt x="280987" y="153987"/>
                    <a:pt x="304007" y="19843"/>
                    <a:pt x="328613" y="20637"/>
                  </a:cubicBezTo>
                  <a:cubicBezTo>
                    <a:pt x="353219" y="21431"/>
                    <a:pt x="380207" y="158749"/>
                    <a:pt x="404813" y="158749"/>
                  </a:cubicBezTo>
                  <a:cubicBezTo>
                    <a:pt x="429419" y="158749"/>
                    <a:pt x="454819" y="32543"/>
                    <a:pt x="476250" y="20637"/>
                  </a:cubicBezTo>
                  <a:cubicBezTo>
                    <a:pt x="497681" y="8731"/>
                    <a:pt x="518319" y="76199"/>
                    <a:pt x="533400" y="87312"/>
                  </a:cubicBezTo>
                  <a:cubicBezTo>
                    <a:pt x="548481" y="98425"/>
                    <a:pt x="566738" y="87312"/>
                    <a:pt x="566738" y="87312"/>
                  </a:cubicBezTo>
                  <a:lnTo>
                    <a:pt x="600075" y="87312"/>
                  </a:lnTo>
                  <a:lnTo>
                    <a:pt x="652463" y="87312"/>
                  </a:lnTo>
                </a:path>
              </a:pathLst>
            </a:custGeom>
            <a:noFill/>
            <a:ln w="9360" cap="flat">
              <a:solidFill>
                <a:srgbClr val="FF0000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6895" tIns="43448" rIns="86895" bIns="43448" anchor="ctr"/>
            <a:lstStyle/>
            <a:p>
              <a:endParaRPr lang="fr-FR"/>
            </a:p>
          </p:txBody>
        </p:sp>
        <p:sp>
          <p:nvSpPr>
            <p:cNvPr id="12" name="Line 34"/>
            <p:cNvSpPr>
              <a:spLocks noChangeShapeType="1"/>
            </p:cNvSpPr>
            <p:nvPr/>
          </p:nvSpPr>
          <p:spPr bwMode="auto">
            <a:xfrm>
              <a:off x="2325848" y="1891319"/>
              <a:ext cx="161142" cy="3231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3" name="Line 35"/>
            <p:cNvSpPr>
              <a:spLocks noChangeShapeType="1"/>
            </p:cNvSpPr>
            <p:nvPr/>
          </p:nvSpPr>
          <p:spPr bwMode="auto">
            <a:xfrm flipV="1">
              <a:off x="2503329" y="1506474"/>
              <a:ext cx="506572" cy="394319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4" name="Line 36"/>
            <p:cNvSpPr>
              <a:spLocks noChangeShapeType="1"/>
            </p:cNvSpPr>
            <p:nvPr/>
          </p:nvSpPr>
          <p:spPr bwMode="auto">
            <a:xfrm flipV="1">
              <a:off x="2504198" y="390650"/>
              <a:ext cx="501852" cy="1496143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5" name="Line 37"/>
            <p:cNvSpPr>
              <a:spLocks noChangeShapeType="1"/>
            </p:cNvSpPr>
            <p:nvPr/>
          </p:nvSpPr>
          <p:spPr bwMode="auto">
            <a:xfrm flipV="1">
              <a:off x="2511760" y="906017"/>
              <a:ext cx="494290" cy="980778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6" name="Line 38"/>
            <p:cNvSpPr>
              <a:spLocks noChangeShapeType="1"/>
            </p:cNvSpPr>
            <p:nvPr/>
          </p:nvSpPr>
          <p:spPr bwMode="auto">
            <a:xfrm flipV="1">
              <a:off x="2512091" y="1748983"/>
              <a:ext cx="497809" cy="140071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7" name="Line 39"/>
            <p:cNvSpPr>
              <a:spLocks noChangeShapeType="1"/>
            </p:cNvSpPr>
            <p:nvPr/>
          </p:nvSpPr>
          <p:spPr bwMode="auto">
            <a:xfrm>
              <a:off x="2503326" y="1894549"/>
              <a:ext cx="506574" cy="1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8" name="Rectangle 40"/>
            <p:cNvSpPr>
              <a:spLocks noChangeArrowheads="1"/>
            </p:cNvSpPr>
            <p:nvPr/>
          </p:nvSpPr>
          <p:spPr bwMode="auto">
            <a:xfrm>
              <a:off x="1844824" y="1720705"/>
              <a:ext cx="415446" cy="2627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pPr hangingPunct="1">
                <a:lnSpc>
                  <a:spcPct val="100000"/>
                </a:lnSpc>
                <a:tabLst>
                  <a:tab pos="426935" algn="l"/>
                </a:tabLst>
              </a:pPr>
              <a:r>
                <a:rPr lang="en-GB" sz="2000" dirty="0" smtClean="0">
                  <a:solidFill>
                    <a:srgbClr val="000000"/>
                  </a:solidFill>
                </a:rPr>
                <a:t>I±1&gt;</a:t>
              </a:r>
              <a:endParaRPr lang="en-GB" sz="2000" dirty="0">
                <a:solidFill>
                  <a:srgbClr val="000000"/>
                </a:solidFill>
              </a:endParaRPr>
            </a:p>
          </p:txBody>
        </p:sp>
        <p:sp>
          <p:nvSpPr>
            <p:cNvPr id="19" name="Line 52"/>
            <p:cNvSpPr>
              <a:spLocks noChangeShapeType="1"/>
            </p:cNvSpPr>
            <p:nvPr/>
          </p:nvSpPr>
          <p:spPr bwMode="auto">
            <a:xfrm>
              <a:off x="4144527" y="1498341"/>
              <a:ext cx="162882" cy="0"/>
            </a:xfrm>
            <a:prstGeom prst="line">
              <a:avLst/>
            </a:prstGeom>
            <a:noFill/>
            <a:ln w="25560" cap="flat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20" name="Line 53"/>
            <p:cNvSpPr>
              <a:spLocks noChangeShapeType="1"/>
            </p:cNvSpPr>
            <p:nvPr/>
          </p:nvSpPr>
          <p:spPr bwMode="auto">
            <a:xfrm>
              <a:off x="3695789" y="1897065"/>
              <a:ext cx="159810" cy="1222"/>
            </a:xfrm>
            <a:prstGeom prst="line">
              <a:avLst/>
            </a:prstGeom>
            <a:noFill/>
            <a:ln w="25560" cap="flat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21" name="Line 54"/>
            <p:cNvSpPr>
              <a:spLocks noChangeShapeType="1"/>
            </p:cNvSpPr>
            <p:nvPr/>
          </p:nvSpPr>
          <p:spPr bwMode="auto">
            <a:xfrm>
              <a:off x="3362086" y="1748983"/>
              <a:ext cx="159810" cy="1222"/>
            </a:xfrm>
            <a:prstGeom prst="line">
              <a:avLst/>
            </a:prstGeom>
            <a:noFill/>
            <a:ln w="25560" cap="flat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22" name="Line 55"/>
            <p:cNvSpPr>
              <a:spLocks noChangeShapeType="1"/>
            </p:cNvSpPr>
            <p:nvPr/>
          </p:nvSpPr>
          <p:spPr bwMode="auto">
            <a:xfrm>
              <a:off x="3019693" y="906019"/>
              <a:ext cx="159810" cy="1222"/>
            </a:xfrm>
            <a:prstGeom prst="line">
              <a:avLst/>
            </a:prstGeom>
            <a:noFill/>
            <a:ln w="25560" cap="flat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23" name="Line 57"/>
            <p:cNvSpPr>
              <a:spLocks noChangeShapeType="1"/>
            </p:cNvSpPr>
            <p:nvPr/>
          </p:nvSpPr>
          <p:spPr bwMode="auto">
            <a:xfrm>
              <a:off x="3029015" y="394224"/>
              <a:ext cx="158478" cy="0"/>
            </a:xfrm>
            <a:prstGeom prst="line">
              <a:avLst/>
            </a:prstGeom>
            <a:noFill/>
            <a:ln w="25560" cap="flat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24" name="Line 58"/>
            <p:cNvSpPr>
              <a:spLocks noChangeShapeType="1"/>
            </p:cNvSpPr>
            <p:nvPr/>
          </p:nvSpPr>
          <p:spPr bwMode="auto">
            <a:xfrm>
              <a:off x="3363417" y="1501772"/>
              <a:ext cx="158478" cy="0"/>
            </a:xfrm>
            <a:prstGeom prst="line">
              <a:avLst/>
            </a:prstGeom>
            <a:noFill/>
            <a:ln w="25560" cap="flat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25" name="Line 59"/>
            <p:cNvSpPr>
              <a:spLocks noChangeShapeType="1"/>
            </p:cNvSpPr>
            <p:nvPr/>
          </p:nvSpPr>
          <p:spPr bwMode="auto">
            <a:xfrm>
              <a:off x="3874649" y="1898288"/>
              <a:ext cx="158478" cy="0"/>
            </a:xfrm>
            <a:prstGeom prst="line">
              <a:avLst/>
            </a:prstGeom>
            <a:noFill/>
            <a:ln w="25560" cap="flat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26" name="Line 60"/>
            <p:cNvSpPr>
              <a:spLocks noChangeShapeType="1"/>
            </p:cNvSpPr>
            <p:nvPr/>
          </p:nvSpPr>
          <p:spPr bwMode="auto">
            <a:xfrm>
              <a:off x="4148931" y="1748983"/>
              <a:ext cx="158478" cy="0"/>
            </a:xfrm>
            <a:prstGeom prst="line">
              <a:avLst/>
            </a:prstGeom>
            <a:noFill/>
            <a:ln w="25560" cap="flat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27" name="Line 61"/>
            <p:cNvSpPr>
              <a:spLocks noChangeShapeType="1"/>
            </p:cNvSpPr>
            <p:nvPr/>
          </p:nvSpPr>
          <p:spPr bwMode="auto">
            <a:xfrm>
              <a:off x="4501930" y="906019"/>
              <a:ext cx="158478" cy="0"/>
            </a:xfrm>
            <a:prstGeom prst="line">
              <a:avLst/>
            </a:prstGeom>
            <a:noFill/>
            <a:ln w="25560" cap="flat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28" name="Line 67"/>
            <p:cNvSpPr>
              <a:spLocks noChangeShapeType="1"/>
            </p:cNvSpPr>
            <p:nvPr/>
          </p:nvSpPr>
          <p:spPr bwMode="auto">
            <a:xfrm>
              <a:off x="3521896" y="1506474"/>
              <a:ext cx="627035" cy="0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29" name="Line 69"/>
            <p:cNvSpPr>
              <a:spLocks noChangeShapeType="1"/>
            </p:cNvSpPr>
            <p:nvPr/>
          </p:nvSpPr>
          <p:spPr bwMode="auto">
            <a:xfrm>
              <a:off x="3218843" y="394224"/>
              <a:ext cx="1287138" cy="2053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30" name="Line 70"/>
            <p:cNvSpPr>
              <a:spLocks noChangeShapeType="1"/>
            </p:cNvSpPr>
            <p:nvPr/>
          </p:nvSpPr>
          <p:spPr bwMode="auto">
            <a:xfrm flipV="1">
              <a:off x="3187493" y="906017"/>
              <a:ext cx="1318488" cy="2880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31" name="Rectangle 71"/>
            <p:cNvSpPr>
              <a:spLocks noChangeArrowheads="1"/>
            </p:cNvSpPr>
            <p:nvPr/>
          </p:nvSpPr>
          <p:spPr bwMode="auto">
            <a:xfrm>
              <a:off x="2420888" y="227932"/>
              <a:ext cx="382317" cy="2627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pPr hangingPunct="1">
                <a:lnSpc>
                  <a:spcPct val="100000"/>
                </a:lnSpc>
                <a:tabLst>
                  <a:tab pos="426935" algn="l"/>
                </a:tabLst>
              </a:pPr>
              <a:r>
                <a:rPr lang="en-GB" sz="2000" dirty="0" smtClean="0">
                  <a:solidFill>
                    <a:srgbClr val="FF0000"/>
                  </a:solidFill>
                  <a:latin typeface="Calibri" charset="0"/>
                </a:rPr>
                <a:t>I-1&gt;</a:t>
              </a:r>
              <a:endParaRPr lang="en-GB" sz="2000" dirty="0">
                <a:solidFill>
                  <a:srgbClr val="FF0000"/>
                </a:solidFill>
                <a:latin typeface="Calibri" charset="0"/>
              </a:endParaRPr>
            </a:p>
          </p:txBody>
        </p:sp>
        <p:sp>
          <p:nvSpPr>
            <p:cNvPr id="32" name="Rectangle 72"/>
            <p:cNvSpPr>
              <a:spLocks noChangeArrowheads="1"/>
            </p:cNvSpPr>
            <p:nvPr/>
          </p:nvSpPr>
          <p:spPr bwMode="auto">
            <a:xfrm>
              <a:off x="4723658" y="224359"/>
              <a:ext cx="415446" cy="2627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pPr hangingPunct="1">
                <a:lnSpc>
                  <a:spcPct val="100000"/>
                </a:lnSpc>
                <a:tabLst>
                  <a:tab pos="426935" algn="l"/>
                </a:tabLst>
              </a:pPr>
              <a:r>
                <a:rPr lang="en-GB" sz="2000" dirty="0">
                  <a:solidFill>
                    <a:srgbClr val="0033CC"/>
                  </a:solidFill>
                  <a:latin typeface="Calibri" charset="0"/>
                </a:rPr>
                <a:t>I+1&gt;</a:t>
              </a:r>
            </a:p>
          </p:txBody>
        </p:sp>
        <p:sp>
          <p:nvSpPr>
            <p:cNvPr id="33" name="Line 3"/>
            <p:cNvSpPr>
              <a:spLocks noChangeShapeType="1"/>
            </p:cNvSpPr>
            <p:nvPr/>
          </p:nvSpPr>
          <p:spPr bwMode="auto">
            <a:xfrm>
              <a:off x="3751943" y="4194363"/>
              <a:ext cx="172795" cy="2350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34" name="Forme libre 10"/>
            <p:cNvSpPr>
              <a:spLocks/>
            </p:cNvSpPr>
            <p:nvPr/>
          </p:nvSpPr>
          <p:spPr bwMode="auto">
            <a:xfrm>
              <a:off x="2294466" y="2411760"/>
              <a:ext cx="209731" cy="138578"/>
            </a:xfrm>
            <a:custGeom>
              <a:avLst/>
              <a:gdLst>
                <a:gd name="T0" fmla="*/ 0 w 283029"/>
                <a:gd name="T1" fmla="*/ 68942 h 174171"/>
                <a:gd name="T2" fmla="*/ 108857 w 283029"/>
                <a:gd name="T3" fmla="*/ 14514 h 174171"/>
                <a:gd name="T4" fmla="*/ 206829 w 283029"/>
                <a:gd name="T5" fmla="*/ 156028 h 174171"/>
                <a:gd name="T6" fmla="*/ 283029 w 283029"/>
                <a:gd name="T7" fmla="*/ 123371 h 17417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3029" h="174171">
                  <a:moveTo>
                    <a:pt x="0" y="68942"/>
                  </a:moveTo>
                  <a:cubicBezTo>
                    <a:pt x="37193" y="34471"/>
                    <a:pt x="74386" y="0"/>
                    <a:pt x="108857" y="14514"/>
                  </a:cubicBezTo>
                  <a:cubicBezTo>
                    <a:pt x="143328" y="29028"/>
                    <a:pt x="177800" y="137885"/>
                    <a:pt x="206829" y="156028"/>
                  </a:cubicBezTo>
                  <a:cubicBezTo>
                    <a:pt x="235858" y="174171"/>
                    <a:pt x="259443" y="148771"/>
                    <a:pt x="283029" y="123371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35" name="Forme libre 11"/>
            <p:cNvSpPr>
              <a:spLocks/>
            </p:cNvSpPr>
            <p:nvPr/>
          </p:nvSpPr>
          <p:spPr bwMode="auto">
            <a:xfrm>
              <a:off x="2288900" y="2483768"/>
              <a:ext cx="209731" cy="137319"/>
            </a:xfrm>
            <a:custGeom>
              <a:avLst/>
              <a:gdLst>
                <a:gd name="T0" fmla="*/ 0 w 283029"/>
                <a:gd name="T1" fmla="*/ 68942 h 174171"/>
                <a:gd name="T2" fmla="*/ 108857 w 283029"/>
                <a:gd name="T3" fmla="*/ 14514 h 174171"/>
                <a:gd name="T4" fmla="*/ 206829 w 283029"/>
                <a:gd name="T5" fmla="*/ 156028 h 174171"/>
                <a:gd name="T6" fmla="*/ 283029 w 283029"/>
                <a:gd name="T7" fmla="*/ 123371 h 17417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3029" h="174171">
                  <a:moveTo>
                    <a:pt x="0" y="68942"/>
                  </a:moveTo>
                  <a:cubicBezTo>
                    <a:pt x="37193" y="34471"/>
                    <a:pt x="74386" y="0"/>
                    <a:pt x="108857" y="14514"/>
                  </a:cubicBezTo>
                  <a:cubicBezTo>
                    <a:pt x="143328" y="29028"/>
                    <a:pt x="177800" y="137885"/>
                    <a:pt x="206829" y="156028"/>
                  </a:cubicBezTo>
                  <a:cubicBezTo>
                    <a:pt x="235858" y="174171"/>
                    <a:pt x="259443" y="148771"/>
                    <a:pt x="283029" y="123371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36" name="Rectangle 26"/>
            <p:cNvSpPr>
              <a:spLocks noChangeArrowheads="1"/>
            </p:cNvSpPr>
            <p:nvPr/>
          </p:nvSpPr>
          <p:spPr bwMode="auto">
            <a:xfrm>
              <a:off x="4285121" y="35496"/>
              <a:ext cx="461398" cy="242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r>
                <a:rPr lang="en-GB" dirty="0" err="1">
                  <a:latin typeface="Times New Roman" pitchFamily="16" charset="0"/>
                </a:rPr>
                <a:t>S</a:t>
              </a:r>
              <a:r>
                <a:rPr lang="en-GB" baseline="-25000" dirty="0" err="1">
                  <a:latin typeface="Times New Roman" pitchFamily="16" charset="0"/>
                </a:rPr>
                <a:t>z</a:t>
              </a:r>
              <a:r>
                <a:rPr lang="en-GB" dirty="0" smtClean="0">
                  <a:latin typeface="Times New Roman" pitchFamily="16" charset="0"/>
                </a:rPr>
                <a:t>=-2</a:t>
              </a:r>
              <a:endParaRPr lang="en-GB" dirty="0">
                <a:latin typeface="Times New Roman" pitchFamily="16" charset="0"/>
              </a:endParaRPr>
            </a:p>
          </p:txBody>
        </p:sp>
        <p:sp>
          <p:nvSpPr>
            <p:cNvPr id="37" name="Rectangle 25"/>
            <p:cNvSpPr>
              <a:spLocks noChangeArrowheads="1"/>
            </p:cNvSpPr>
            <p:nvPr/>
          </p:nvSpPr>
          <p:spPr bwMode="auto">
            <a:xfrm>
              <a:off x="3946657" y="1146874"/>
              <a:ext cx="461398" cy="242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r>
                <a:rPr lang="en-GB" dirty="0" err="1">
                  <a:latin typeface="Times New Roman" pitchFamily="16" charset="0"/>
                </a:rPr>
                <a:t>S</a:t>
              </a:r>
              <a:r>
                <a:rPr lang="en-GB" baseline="-25000" dirty="0" err="1">
                  <a:latin typeface="Times New Roman" pitchFamily="16" charset="0"/>
                </a:rPr>
                <a:t>z</a:t>
              </a:r>
              <a:r>
                <a:rPr lang="en-GB" dirty="0" smtClean="0">
                  <a:latin typeface="Times New Roman" pitchFamily="16" charset="0"/>
                </a:rPr>
                <a:t>=-1</a:t>
              </a:r>
              <a:endParaRPr lang="en-GB" dirty="0">
                <a:latin typeface="Times New Roman" pitchFamily="16" charset="0"/>
              </a:endParaRPr>
            </a:p>
          </p:txBody>
        </p:sp>
        <p:sp>
          <p:nvSpPr>
            <p:cNvPr id="38" name="Rectangle 24"/>
            <p:cNvSpPr>
              <a:spLocks noChangeArrowheads="1"/>
            </p:cNvSpPr>
            <p:nvPr/>
          </p:nvSpPr>
          <p:spPr bwMode="auto">
            <a:xfrm flipH="1">
              <a:off x="3670101" y="1563809"/>
              <a:ext cx="640912" cy="242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5527" tIns="42764" rIns="85527" bIns="42764">
              <a:spAutoFit/>
            </a:bodyPr>
            <a:lstStyle/>
            <a:p>
              <a:r>
                <a:rPr lang="en-GB" dirty="0" err="1" smtClean="0">
                  <a:latin typeface="Times New Roman" pitchFamily="16" charset="0"/>
                </a:rPr>
                <a:t>S</a:t>
              </a:r>
              <a:r>
                <a:rPr lang="en-GB" baseline="-25000" dirty="0" err="1" smtClean="0">
                  <a:latin typeface="Times New Roman" pitchFamily="16" charset="0"/>
                </a:rPr>
                <a:t>z</a:t>
              </a:r>
              <a:r>
                <a:rPr lang="en-GB" dirty="0" smtClean="0">
                  <a:latin typeface="Times New Roman" pitchFamily="16" charset="0"/>
                </a:rPr>
                <a:t>=0</a:t>
              </a:r>
              <a:endParaRPr lang="en-GB" dirty="0">
                <a:latin typeface="Times New Roman" pitchFamily="16" charset="0"/>
              </a:endParaRPr>
            </a:p>
          </p:txBody>
        </p:sp>
        <p:sp>
          <p:nvSpPr>
            <p:cNvPr id="39" name="Line 10"/>
            <p:cNvSpPr>
              <a:spLocks noChangeShapeType="1"/>
            </p:cNvSpPr>
            <p:nvPr/>
          </p:nvSpPr>
          <p:spPr bwMode="auto">
            <a:xfrm flipV="1">
              <a:off x="2407085" y="57415"/>
              <a:ext cx="0" cy="2386424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40" name="Rectangle 11"/>
            <p:cNvSpPr>
              <a:spLocks noChangeArrowheads="1"/>
            </p:cNvSpPr>
            <p:nvPr/>
          </p:nvSpPr>
          <p:spPr bwMode="auto">
            <a:xfrm>
              <a:off x="4190379" y="1906041"/>
              <a:ext cx="764390" cy="2525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5527" tIns="42764" rIns="85527" bIns="42764">
              <a:spAutoFit/>
            </a:bodyPr>
            <a:lstStyle/>
            <a:p>
              <a:pPr algn="ctr" hangingPunct="1">
                <a:lnSpc>
                  <a:spcPct val="100000"/>
                </a:lnSpc>
                <a:spcBef>
                  <a:spcPts val="760"/>
                </a:spcBef>
                <a:tabLst>
                  <a:tab pos="426935" algn="l"/>
                  <a:tab pos="853868" algn="l"/>
                </a:tabLst>
              </a:pPr>
              <a:r>
                <a:rPr lang="en-GB" sz="1900" dirty="0">
                  <a:solidFill>
                    <a:srgbClr val="FF0000"/>
                  </a:solidFill>
                  <a:latin typeface="Symbol" charset="2"/>
                </a:rPr>
                <a:t>  </a:t>
              </a:r>
              <a:r>
                <a:rPr lang="en-GB" sz="1900" dirty="0" smtClean="0">
                  <a:solidFill>
                    <a:srgbClr val="0033CC"/>
                  </a:solidFill>
                  <a:latin typeface="Symbol" charset="2"/>
                </a:rPr>
                <a:t>s+</a:t>
              </a:r>
              <a:endParaRPr lang="en-GB" sz="1900" dirty="0">
                <a:solidFill>
                  <a:srgbClr val="0033CC"/>
                </a:solidFill>
                <a:latin typeface="Symbol" charset="2"/>
              </a:endParaRPr>
            </a:p>
          </p:txBody>
        </p:sp>
        <p:sp>
          <p:nvSpPr>
            <p:cNvPr id="41" name="Rectangle 26"/>
            <p:cNvSpPr>
              <a:spLocks noChangeArrowheads="1"/>
            </p:cNvSpPr>
            <p:nvPr/>
          </p:nvSpPr>
          <p:spPr bwMode="auto">
            <a:xfrm>
              <a:off x="2630499" y="2695434"/>
              <a:ext cx="496665" cy="242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pPr hangingPunct="1">
                <a:lnSpc>
                  <a:spcPct val="100000"/>
                </a:lnSpc>
              </a:pPr>
              <a:r>
                <a:rPr lang="en-GB" dirty="0" err="1" smtClean="0">
                  <a:latin typeface="Times New Roman" pitchFamily="16" charset="0"/>
                </a:rPr>
                <a:t>S</a:t>
              </a:r>
              <a:r>
                <a:rPr lang="en-GB" baseline="-25000" dirty="0" err="1" smtClean="0">
                  <a:latin typeface="Times New Roman" pitchFamily="16" charset="0"/>
                </a:rPr>
                <a:t>z</a:t>
              </a:r>
              <a:r>
                <a:rPr lang="en-GB" dirty="0" smtClean="0">
                  <a:latin typeface="Times New Roman" pitchFamily="16" charset="0"/>
                </a:rPr>
                <a:t>=+2</a:t>
              </a:r>
              <a:endParaRPr lang="en-GB" dirty="0">
                <a:latin typeface="Times New Roman" pitchFamily="16" charset="0"/>
              </a:endParaRPr>
            </a:p>
          </p:txBody>
        </p:sp>
        <p:sp>
          <p:nvSpPr>
            <p:cNvPr id="42" name="Rectangle 25"/>
            <p:cNvSpPr>
              <a:spLocks noChangeArrowheads="1"/>
            </p:cNvSpPr>
            <p:nvPr/>
          </p:nvSpPr>
          <p:spPr bwMode="auto">
            <a:xfrm>
              <a:off x="2710225" y="3593369"/>
              <a:ext cx="496665" cy="242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r>
                <a:rPr lang="en-GB" dirty="0" err="1" smtClean="0">
                  <a:latin typeface="Times New Roman" pitchFamily="16" charset="0"/>
                </a:rPr>
                <a:t>S</a:t>
              </a:r>
              <a:r>
                <a:rPr lang="en-GB" baseline="-25000" dirty="0" err="1" smtClean="0">
                  <a:latin typeface="Times New Roman" pitchFamily="16" charset="0"/>
                </a:rPr>
                <a:t>z</a:t>
              </a:r>
              <a:r>
                <a:rPr lang="en-GB" dirty="0" smtClean="0">
                  <a:latin typeface="Times New Roman" pitchFamily="16" charset="0"/>
                </a:rPr>
                <a:t>=+1</a:t>
              </a:r>
              <a:endParaRPr lang="en-GB" dirty="0">
                <a:latin typeface="Times New Roman" pitchFamily="16" charset="0"/>
              </a:endParaRPr>
            </a:p>
          </p:txBody>
        </p:sp>
        <p:sp>
          <p:nvSpPr>
            <p:cNvPr id="43" name="Rectangle 24"/>
            <p:cNvSpPr>
              <a:spLocks noChangeArrowheads="1"/>
            </p:cNvSpPr>
            <p:nvPr/>
          </p:nvSpPr>
          <p:spPr bwMode="auto">
            <a:xfrm>
              <a:off x="3638939" y="4219001"/>
              <a:ext cx="410102" cy="242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r>
                <a:rPr lang="en-GB" dirty="0" err="1">
                  <a:latin typeface="Times New Roman" pitchFamily="16" charset="0"/>
                </a:rPr>
                <a:t>S</a:t>
              </a:r>
              <a:r>
                <a:rPr lang="en-GB" baseline="-25000" dirty="0" err="1">
                  <a:latin typeface="Times New Roman" pitchFamily="16" charset="0"/>
                </a:rPr>
                <a:t>z</a:t>
              </a:r>
              <a:r>
                <a:rPr lang="en-GB" dirty="0">
                  <a:latin typeface="Times New Roman" pitchFamily="16" charset="0"/>
                </a:rPr>
                <a:t>=0</a:t>
              </a:r>
            </a:p>
          </p:txBody>
        </p:sp>
        <p:cxnSp>
          <p:nvCxnSpPr>
            <p:cNvPr id="44" name="Connecteur droit avec flèche 43"/>
            <p:cNvCxnSpPr/>
            <p:nvPr/>
          </p:nvCxnSpPr>
          <p:spPr>
            <a:xfrm flipH="1">
              <a:off x="4173006" y="1542769"/>
              <a:ext cx="21437" cy="2380589"/>
            </a:xfrm>
            <a:prstGeom prst="straightConnector1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Line 55"/>
            <p:cNvSpPr>
              <a:spLocks noChangeShapeType="1"/>
            </p:cNvSpPr>
            <p:nvPr/>
          </p:nvSpPr>
          <p:spPr bwMode="auto">
            <a:xfrm>
              <a:off x="4501930" y="394224"/>
              <a:ext cx="156936" cy="0"/>
            </a:xfrm>
            <a:prstGeom prst="line">
              <a:avLst/>
            </a:prstGeom>
            <a:noFill/>
            <a:ln w="25560" cap="flat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cxnSp>
          <p:nvCxnSpPr>
            <p:cNvPr id="46" name="Connecteur droit avec flèche 45"/>
            <p:cNvCxnSpPr/>
            <p:nvPr/>
          </p:nvCxnSpPr>
          <p:spPr>
            <a:xfrm flipH="1">
              <a:off x="4267834" y="1773832"/>
              <a:ext cx="21437" cy="214998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7" name="Rectangle 25"/>
            <p:cNvSpPr>
              <a:spLocks noChangeArrowheads="1"/>
            </p:cNvSpPr>
            <p:nvPr/>
          </p:nvSpPr>
          <p:spPr bwMode="auto">
            <a:xfrm>
              <a:off x="3114405" y="1155987"/>
              <a:ext cx="496665" cy="242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r>
                <a:rPr lang="en-GB" dirty="0" err="1">
                  <a:latin typeface="Times New Roman" pitchFamily="16" charset="0"/>
                </a:rPr>
                <a:t>S</a:t>
              </a:r>
              <a:r>
                <a:rPr lang="en-GB" baseline="-25000" dirty="0" err="1">
                  <a:latin typeface="Times New Roman" pitchFamily="16" charset="0"/>
                </a:rPr>
                <a:t>z</a:t>
              </a:r>
              <a:r>
                <a:rPr lang="en-GB" dirty="0" smtClean="0">
                  <a:latin typeface="Times New Roman" pitchFamily="16" charset="0"/>
                </a:rPr>
                <a:t>=+1</a:t>
              </a:r>
              <a:endParaRPr lang="en-GB" dirty="0">
                <a:latin typeface="Times New Roman" pitchFamily="16" charset="0"/>
              </a:endParaRPr>
            </a:p>
          </p:txBody>
        </p:sp>
        <p:sp>
          <p:nvSpPr>
            <p:cNvPr id="48" name="Rectangle 26"/>
            <p:cNvSpPr>
              <a:spLocks noChangeArrowheads="1"/>
            </p:cNvSpPr>
            <p:nvPr/>
          </p:nvSpPr>
          <p:spPr bwMode="auto">
            <a:xfrm>
              <a:off x="2852936" y="35496"/>
              <a:ext cx="496665" cy="242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r>
                <a:rPr lang="en-GB" dirty="0" err="1">
                  <a:latin typeface="Times New Roman" pitchFamily="16" charset="0"/>
                </a:rPr>
                <a:t>S</a:t>
              </a:r>
              <a:r>
                <a:rPr lang="en-GB" baseline="-25000" dirty="0" err="1">
                  <a:latin typeface="Times New Roman" pitchFamily="16" charset="0"/>
                </a:rPr>
                <a:t>z</a:t>
              </a:r>
              <a:r>
                <a:rPr lang="en-GB" dirty="0">
                  <a:latin typeface="Times New Roman" pitchFamily="16" charset="0"/>
                </a:rPr>
                <a:t>=</a:t>
              </a:r>
              <a:r>
                <a:rPr lang="en-GB" dirty="0" smtClean="0">
                  <a:latin typeface="Times New Roman" pitchFamily="16" charset="0"/>
                </a:rPr>
                <a:t>+2</a:t>
              </a:r>
              <a:endParaRPr lang="en-GB" dirty="0">
                <a:latin typeface="Times New Roman" pitchFamily="16" charset="0"/>
              </a:endParaRPr>
            </a:p>
          </p:txBody>
        </p:sp>
        <p:sp>
          <p:nvSpPr>
            <p:cNvPr id="49" name="ZoneTexte 48"/>
            <p:cNvSpPr txBox="1"/>
            <p:nvPr/>
          </p:nvSpPr>
          <p:spPr>
            <a:xfrm>
              <a:off x="1940066" y="3768681"/>
              <a:ext cx="2855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fr-FR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ZoneTexte 49"/>
            <p:cNvSpPr txBox="1"/>
            <p:nvPr/>
          </p:nvSpPr>
          <p:spPr>
            <a:xfrm>
              <a:off x="1911419" y="2911268"/>
              <a:ext cx="36249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4D</a:t>
              </a:r>
              <a:r>
                <a:rPr lang="fr-FR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ZoneTexte 50"/>
            <p:cNvSpPr txBox="1"/>
            <p:nvPr/>
          </p:nvSpPr>
          <p:spPr>
            <a:xfrm>
              <a:off x="2044609" y="4039333"/>
              <a:ext cx="20005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Rectangle 13"/>
            <p:cNvSpPr>
              <a:spLocks noChangeArrowheads="1"/>
            </p:cNvSpPr>
            <p:nvPr/>
          </p:nvSpPr>
          <p:spPr bwMode="auto">
            <a:xfrm>
              <a:off x="934752" y="667259"/>
              <a:ext cx="982080" cy="242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5527" tIns="42764" rIns="85527" bIns="42764">
              <a:spAutoFit/>
            </a:bodyPr>
            <a:lstStyle/>
            <a:p>
              <a:pPr algn="ctr" hangingPunct="1">
                <a:lnSpc>
                  <a:spcPct val="100000"/>
                </a:lnSpc>
                <a:tabLst>
                  <a:tab pos="426935" algn="l"/>
                  <a:tab pos="853868" algn="l"/>
                </a:tabLst>
              </a:pPr>
              <a:r>
                <a:rPr lang="en-GB" dirty="0" smtClean="0">
                  <a:solidFill>
                    <a:srgbClr val="000000"/>
                  </a:solidFill>
                  <a:latin typeface="Times New Roman" pitchFamily="16" charset="0"/>
                </a:rPr>
                <a:t>X-Cr</a:t>
              </a:r>
              <a:endParaRPr lang="en-GB" dirty="0">
                <a:solidFill>
                  <a:srgbClr val="000000"/>
                </a:solidFill>
                <a:latin typeface="Times New Roman" pitchFamily="16" charset="0"/>
              </a:endParaRPr>
            </a:p>
          </p:txBody>
        </p:sp>
        <p:pic>
          <p:nvPicPr>
            <p:cNvPr id="53" name="Picture 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2736" y="897058"/>
              <a:ext cx="702720" cy="3197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54" name="Picture 1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2736" y="3345330"/>
              <a:ext cx="704160" cy="321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5" name="Rectangle 73"/>
            <p:cNvSpPr>
              <a:spLocks noChangeArrowheads="1"/>
            </p:cNvSpPr>
            <p:nvPr/>
          </p:nvSpPr>
          <p:spPr bwMode="auto">
            <a:xfrm>
              <a:off x="908720" y="3071265"/>
              <a:ext cx="982080" cy="242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5527" tIns="42764" rIns="85527" bIns="42764">
              <a:spAutoFit/>
            </a:bodyPr>
            <a:lstStyle/>
            <a:p>
              <a:pPr algn="ctr" hangingPunct="1">
                <a:lnSpc>
                  <a:spcPct val="100000"/>
                </a:lnSpc>
                <a:tabLst>
                  <a:tab pos="426935" algn="l"/>
                  <a:tab pos="853868" algn="l"/>
                </a:tabLst>
              </a:pPr>
              <a:r>
                <a:rPr lang="en-GB" dirty="0">
                  <a:solidFill>
                    <a:srgbClr val="000000"/>
                  </a:solidFill>
                  <a:latin typeface="Times New Roman" pitchFamily="16" charset="0"/>
                </a:rPr>
                <a:t>Cr</a:t>
              </a:r>
            </a:p>
          </p:txBody>
        </p:sp>
        <p:sp>
          <p:nvSpPr>
            <p:cNvPr id="56" name="Accolade ouvrante 55"/>
            <p:cNvSpPr/>
            <p:nvPr/>
          </p:nvSpPr>
          <p:spPr>
            <a:xfrm>
              <a:off x="1772816" y="235589"/>
              <a:ext cx="189992" cy="1797689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Accolade ouvrante 56"/>
            <p:cNvSpPr/>
            <p:nvPr/>
          </p:nvSpPr>
          <p:spPr>
            <a:xfrm>
              <a:off x="1772816" y="2903134"/>
              <a:ext cx="189992" cy="1419852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236701" y="2183269"/>
              <a:ext cx="220956" cy="1302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AutoShape 12"/>
            <p:cNvSpPr>
              <a:spLocks/>
            </p:cNvSpPr>
            <p:nvPr/>
          </p:nvSpPr>
          <p:spPr bwMode="auto">
            <a:xfrm>
              <a:off x="4215279" y="2183269"/>
              <a:ext cx="484757" cy="125929"/>
            </a:xfrm>
            <a:custGeom>
              <a:avLst/>
              <a:gdLst>
                <a:gd name="G0" fmla="*/ 0 1604 1"/>
                <a:gd name="G1" fmla="*/ G0 1 62639"/>
                <a:gd name="G2" fmla="*/ 17013 454 1"/>
                <a:gd name="G3" fmla="*/ G2 1 27677"/>
                <a:gd name="G4" fmla="*/ 42863 1604 1"/>
                <a:gd name="G5" fmla="*/ G4 1 62639"/>
                <a:gd name="G6" fmla="*/ 11112 454 1"/>
                <a:gd name="G7" fmla="*/ G6 1 27677"/>
                <a:gd name="G8" fmla="*/ 48764 1604 1"/>
                <a:gd name="G9" fmla="*/ G8 1 62639"/>
                <a:gd name="G10" fmla="*/ 18152 454 1"/>
                <a:gd name="G11" fmla="*/ G10 1 27677"/>
                <a:gd name="G12" fmla="*/ 54666 1604 1"/>
                <a:gd name="G13" fmla="*/ G12 1 62639"/>
                <a:gd name="G14" fmla="*/ 20637 454 1"/>
                <a:gd name="G15" fmla="*/ G14 1 27677"/>
                <a:gd name="G16" fmla="*/ 60567 1604 1"/>
                <a:gd name="G17" fmla="*/ G16 1 62639"/>
                <a:gd name="G18" fmla="*/ 22915 454 1"/>
                <a:gd name="G19" fmla="*/ G18 1 27677"/>
                <a:gd name="G20" fmla="*/ 933 1604 1"/>
                <a:gd name="G21" fmla="*/ G20 1 62639"/>
                <a:gd name="G22" fmla="*/ 20637 454 1"/>
                <a:gd name="G23" fmla="*/ G22 1 27677"/>
                <a:gd name="G24" fmla="*/ 11597 1604 1"/>
                <a:gd name="G25" fmla="*/ G24 1 62639"/>
                <a:gd name="G26" fmla="*/ 27677 454 1"/>
                <a:gd name="G27" fmla="*/ G26 1 27677"/>
                <a:gd name="G28" fmla="*/ 17498 1604 1"/>
                <a:gd name="G29" fmla="*/ G28 1 62639"/>
                <a:gd name="G30" fmla="*/ 20637 454 1"/>
                <a:gd name="G31" fmla="*/ G30 1 27677"/>
                <a:gd name="G32" fmla="*/ 9112 1604 1"/>
                <a:gd name="G33" fmla="*/ G32 1 62639"/>
                <a:gd name="G34" fmla="*/ 21776 454 1"/>
                <a:gd name="G35" fmla="*/ G34 1 27677"/>
                <a:gd name="G36" fmla="*/ 42450 1604 1"/>
                <a:gd name="G37" fmla="*/ G36 1 62639"/>
                <a:gd name="G38" fmla="*/ 21776 454 1"/>
                <a:gd name="G39" fmla="*/ G38 1 27677"/>
                <a:gd name="G40" fmla="*/ 10251 1604 1"/>
                <a:gd name="G41" fmla="*/ G40 1 62639"/>
                <a:gd name="G42" fmla="*/ 21776 454 1"/>
                <a:gd name="G43" fmla="*/ G42 1 27677"/>
                <a:gd name="G44" fmla="*/ 62639 1604 1"/>
                <a:gd name="G45" fmla="*/ G44 1 62639"/>
                <a:gd name="G46" fmla="*/ 21776 454 1"/>
                <a:gd name="G47" fmla="*/ G46 1 27677"/>
                <a:gd name="G48" fmla="*/ 62639 1604 1"/>
                <a:gd name="G49" fmla="*/ G48 1 62639"/>
                <a:gd name="G50" fmla="*/ 21776 454 1"/>
                <a:gd name="G51" fmla="*/ G50 1 27677"/>
                <a:gd name="G52" fmla="*/ 62639 1604 1"/>
                <a:gd name="G53" fmla="*/ G52 1 62639"/>
                <a:gd name="G54" fmla="*/ 21776 454 1"/>
                <a:gd name="G55" fmla="*/ G54 1 27677"/>
                <a:gd name="G56" fmla="+- 1604 0 0"/>
                <a:gd name="G57" fmla="+- 454 0 0"/>
              </a:gdLst>
              <a:ahLst/>
              <a:cxnLst>
                <a:cxn ang="0">
                  <a:pos x="r" y="vc"/>
                </a:cxn>
                <a:cxn ang="5400000">
                  <a:pos x="hc" y="b"/>
                </a:cxn>
                <a:cxn ang="10800000">
                  <a:pos x="l" y="vc"/>
                </a:cxn>
                <a:cxn ang="16200000">
                  <a:pos x="hc" y="t"/>
                </a:cxn>
              </a:cxnLst>
              <a:rect l="0" t="0" r="0" b="0"/>
              <a:pathLst>
                <a:path>
                  <a:moveTo>
                    <a:pt x="0" y="82549"/>
                  </a:moveTo>
                  <a:cubicBezTo>
                    <a:pt x="11906" y="41274"/>
                    <a:pt x="23813" y="0"/>
                    <a:pt x="42863" y="11112"/>
                  </a:cubicBezTo>
                  <a:cubicBezTo>
                    <a:pt x="61913" y="22224"/>
                    <a:pt x="90487" y="147636"/>
                    <a:pt x="114300" y="149224"/>
                  </a:cubicBezTo>
                  <a:cubicBezTo>
                    <a:pt x="138113" y="150812"/>
                    <a:pt x="161926" y="19843"/>
                    <a:pt x="185738" y="20637"/>
                  </a:cubicBezTo>
                  <a:cubicBezTo>
                    <a:pt x="209550" y="21431"/>
                    <a:pt x="233363" y="153987"/>
                    <a:pt x="257175" y="153987"/>
                  </a:cubicBezTo>
                  <a:cubicBezTo>
                    <a:pt x="280987" y="153987"/>
                    <a:pt x="304007" y="19843"/>
                    <a:pt x="328613" y="20637"/>
                  </a:cubicBezTo>
                  <a:cubicBezTo>
                    <a:pt x="353219" y="21431"/>
                    <a:pt x="380207" y="158749"/>
                    <a:pt x="404813" y="158749"/>
                  </a:cubicBezTo>
                  <a:cubicBezTo>
                    <a:pt x="429419" y="158749"/>
                    <a:pt x="454819" y="32543"/>
                    <a:pt x="476250" y="20637"/>
                  </a:cubicBezTo>
                  <a:cubicBezTo>
                    <a:pt x="497681" y="8731"/>
                    <a:pt x="518319" y="76199"/>
                    <a:pt x="533400" y="87312"/>
                  </a:cubicBezTo>
                  <a:cubicBezTo>
                    <a:pt x="548481" y="98425"/>
                    <a:pt x="566738" y="87312"/>
                    <a:pt x="566738" y="87312"/>
                  </a:cubicBezTo>
                  <a:lnTo>
                    <a:pt x="600075" y="87312"/>
                  </a:lnTo>
                  <a:lnTo>
                    <a:pt x="652463" y="87312"/>
                  </a:lnTo>
                </a:path>
              </a:pathLst>
            </a:custGeom>
            <a:noFill/>
            <a:ln w="9360" cap="flat">
              <a:solidFill>
                <a:srgbClr val="0066CC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6895" tIns="43448" rIns="86895" bIns="43448" anchor="ctr"/>
            <a:lstStyle/>
            <a:p>
              <a:endParaRPr lang="fr-FR"/>
            </a:p>
          </p:txBody>
        </p:sp>
        <p:cxnSp>
          <p:nvCxnSpPr>
            <p:cNvPr id="60" name="Connecteur droit avec flèche 59"/>
            <p:cNvCxnSpPr/>
            <p:nvPr/>
          </p:nvCxnSpPr>
          <p:spPr>
            <a:xfrm flipH="1">
              <a:off x="3369452" y="1525635"/>
              <a:ext cx="13534" cy="237961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1" name="Connecteur droit avec flèche 60"/>
            <p:cNvCxnSpPr/>
            <p:nvPr/>
          </p:nvCxnSpPr>
          <p:spPr>
            <a:xfrm flipH="1">
              <a:off x="3924738" y="1919288"/>
              <a:ext cx="6689" cy="225318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2" name="Connecteur droit avec flèche 61"/>
            <p:cNvCxnSpPr/>
            <p:nvPr/>
          </p:nvCxnSpPr>
          <p:spPr>
            <a:xfrm flipH="1">
              <a:off x="3769502" y="1905000"/>
              <a:ext cx="19051" cy="2266950"/>
            </a:xfrm>
            <a:prstGeom prst="straightConnector1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avec flèche 62"/>
            <p:cNvCxnSpPr/>
            <p:nvPr/>
          </p:nvCxnSpPr>
          <p:spPr>
            <a:xfrm flipH="1">
              <a:off x="3483752" y="1772872"/>
              <a:ext cx="7045" cy="2127616"/>
            </a:xfrm>
            <a:prstGeom prst="straightConnector1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Line 39"/>
            <p:cNvSpPr>
              <a:spLocks noChangeShapeType="1"/>
            </p:cNvSpPr>
            <p:nvPr/>
          </p:nvSpPr>
          <p:spPr bwMode="auto">
            <a:xfrm>
              <a:off x="2313886" y="3035330"/>
              <a:ext cx="932367" cy="2130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65" name="Line 39"/>
            <p:cNvSpPr>
              <a:spLocks noChangeShapeType="1"/>
            </p:cNvSpPr>
            <p:nvPr/>
          </p:nvSpPr>
          <p:spPr bwMode="auto">
            <a:xfrm flipV="1">
              <a:off x="2333625" y="3939928"/>
              <a:ext cx="1191971" cy="0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66" name="Line 39"/>
            <p:cNvSpPr>
              <a:spLocks noChangeShapeType="1"/>
            </p:cNvSpPr>
            <p:nvPr/>
          </p:nvSpPr>
          <p:spPr bwMode="auto">
            <a:xfrm flipV="1">
              <a:off x="2325849" y="4193221"/>
              <a:ext cx="1611044" cy="7304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67" name="Rectangle 26"/>
            <p:cNvSpPr>
              <a:spLocks noChangeArrowheads="1"/>
            </p:cNvSpPr>
            <p:nvPr/>
          </p:nvSpPr>
          <p:spPr bwMode="auto">
            <a:xfrm>
              <a:off x="4445748" y="2699792"/>
              <a:ext cx="461398" cy="242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pPr hangingPunct="1">
                <a:lnSpc>
                  <a:spcPct val="100000"/>
                </a:lnSpc>
              </a:pPr>
              <a:r>
                <a:rPr lang="en-GB" dirty="0" err="1" smtClean="0">
                  <a:latin typeface="Times New Roman" pitchFamily="16" charset="0"/>
                </a:rPr>
                <a:t>S</a:t>
              </a:r>
              <a:r>
                <a:rPr lang="en-GB" baseline="-25000" dirty="0" err="1" smtClean="0">
                  <a:latin typeface="Times New Roman" pitchFamily="16" charset="0"/>
                </a:rPr>
                <a:t>z</a:t>
              </a:r>
              <a:r>
                <a:rPr lang="en-GB" dirty="0" smtClean="0">
                  <a:latin typeface="Times New Roman" pitchFamily="16" charset="0"/>
                </a:rPr>
                <a:t>=-2</a:t>
              </a:r>
              <a:endParaRPr lang="en-GB" dirty="0">
                <a:latin typeface="Times New Roman" pitchFamily="16" charset="0"/>
              </a:endParaRPr>
            </a:p>
          </p:txBody>
        </p:sp>
        <p:sp>
          <p:nvSpPr>
            <p:cNvPr id="68" name="Rectangle 25"/>
            <p:cNvSpPr>
              <a:spLocks noChangeArrowheads="1"/>
            </p:cNvSpPr>
            <p:nvPr/>
          </p:nvSpPr>
          <p:spPr bwMode="auto">
            <a:xfrm>
              <a:off x="4375152" y="3635896"/>
              <a:ext cx="461398" cy="242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r>
                <a:rPr lang="en-GB" dirty="0" err="1" smtClean="0">
                  <a:latin typeface="Times New Roman" pitchFamily="16" charset="0"/>
                </a:rPr>
                <a:t>S</a:t>
              </a:r>
              <a:r>
                <a:rPr lang="en-GB" baseline="-25000" dirty="0" err="1" smtClean="0">
                  <a:latin typeface="Times New Roman" pitchFamily="16" charset="0"/>
                </a:rPr>
                <a:t>z</a:t>
              </a:r>
              <a:r>
                <a:rPr lang="en-GB" dirty="0" smtClean="0">
                  <a:latin typeface="Times New Roman" pitchFamily="16" charset="0"/>
                </a:rPr>
                <a:t>=-1</a:t>
              </a:r>
              <a:endParaRPr lang="en-GB" dirty="0">
                <a:latin typeface="Times New Roman" pitchFamily="1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40484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43</Words>
  <Application>Microsoft Office PowerPoint</Application>
  <PresentationFormat>Affichage à l'écran (4:3)</PresentationFormat>
  <Paragraphs>21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1</cp:revision>
  <dcterms:created xsi:type="dcterms:W3CDTF">2017-03-22T11:30:35Z</dcterms:created>
  <dcterms:modified xsi:type="dcterms:W3CDTF">2017-03-22T11:34:47Z</dcterms:modified>
</cp:coreProperties>
</file>